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Lst>
  <p:notesMasterIdLst>
    <p:notesMasterId r:id="rId45"/>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notesMaster" Target="notesMasters/notesMaster1.xml"/><Relationship Id="rId46" Type="http://schemas.openxmlformats.org/officeDocument/2006/relationships/presProps" Target="presProps.xml"/><Relationship Id="rId47" Type="http://schemas.openxmlformats.org/officeDocument/2006/relationships/viewProps" Target="viewProps.xml"/><Relationship Id="rId48" Type="http://schemas.openxmlformats.org/officeDocument/2006/relationships/theme" Target="theme/theme1.xml"/><Relationship Id="rId49"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EN: Welcome. Today we walk through SDX Inspect department by department. Each section is about 20 minutes: what the system does for you, a live demo, and you try it on your own phone.
ES: Bienvenidos. Hoy recorremos SDX Inspect departamento por departamento. Cada sección dura unos 20 minutos: qué hace el sistema por ti, una demostración en vivo, y lo pruebas en tu propio teléfono.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EN: Six sessions. Train each department with its own section; everyone gets the first three slides.
ES: Seis sesiones. Cada departamento con su sección; todos ven las tres primeras diapositivas.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EN: The inspector walks and flags problems with a photo. Each problem lands on the right crew board. The crew fixes it and adds an after photo. Stand teams scan their poster to log temperatures and report problems into the same loop. The inspector verifies with before and after on the record.
ES: El inspector recorre y marca problemas con foto. Cada problema llega al tablero de la cuadrilla correcta. La cuadrilla lo arregla y agrega la foto de después. Los puestos escanean su cartel para registrar temperaturas y reportar problemas en el mismo circuito. El inspector verifica con antes y después en el registro.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EN: Same app, same data on every device. Nothing to install: one link and your badge number. The language button is on every screen. When a new version is ready a bar appears at the bottom: finish and save, then reload.
ES: La misma aplicación y los mismos datos en cada dispositivo. No se instala nada: un enlace y tu número de gafete. El botón de idioma está en cada pantalla. Cuando hay versión nueva aparece una barra abajo: termina, guarda y recarga.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EN: These six rules apply to every role. Read them out loud and keep them on the wall.
ES: Estas seis reglas aplican a todos. Léelas en voz alta y déjalas en la pared.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EN: Section: Inspector. The inspector's walk
ES: Sección: Inspector. El recorrido del inspector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EN: Sign in with your badge number and tap on site to unlock the day. The bell at the top collects alerts: crews fixing things, supervisors logging temps.
ES: Entra con tu número de gafete y toca on site para abrir el día. La campana arriba junta las alertas: cuadrillas arreglando, supervisores registrando temperaturas.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EN: Scan the poster inside the stand door and the form fills itself: name, unit, license, type. Typing a name on purpose does not prefill, so bars and pantries that share a unit never get the wrong stand.
ES: Escanea el cartel dentro de la puerta y el formulario se llena solo: nombre, unidad, licencia, tipo. Escribir un nombre no rellena nada a propósito, así los bares y despensas que comparten unidad nunca reciben el puesto equivocado.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EN: Six steps, each item is yes or no. The Equipment step lists this stand's coolers and freezers, so you type each temperature. A red reading asks for a reason and an action, and becomes its own follow-up with the unit name on it.
ES: Seis pasos, cada punto es sí o no. El paso Equipment lista las neveras y congeladores de este puesto y escribes cada temperatura. Una lectura roja pide razón y acción, y se vuelve su propio seguimiento con el nombre del equipo.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EN: When an item fails: a BEFORE photo, where exactly, a few words, and the corrective action. All required. The AFTER photo is optional; the crew usually adds it. The save check blocks until every flagged item has its photo and action.
ES: Cuando un punto falla: foto de ANTES, dónde exactamente, unas palabras y la acción correctiva. Todo obligatorio. La foto de DESPUÉS es opcional; normalmente la pone la cuadrilla. Guardar se bloquea hasta que cada punto marcado tenga su foto y acción.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EN: Every sentence you type in the notes that describes a problem becomes an issue on its own, with a category and area. If it guessed wrong, tap Not an issue. The draft saves itself, so a dead battery does not cost you the report.
ES: Cada frase de tus notas que describe un problema se vuelve un asunto propio, con categoría y área. Si se equivocó, toca No es un problema. El borrador se guarda solo, así una batería muerta no te cuesta el reporte.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EN: Save from the header. The next time you open that stand its open problems are right there with the before and after photos: confirm fixed or keep open. Past Reports keeps everything, including the stand teams' own Supervisor Logs.
ES: Guarda desde el encabezado. La próxima vez que abras ese puesto sus problemas abiertos están ahí con las fotos de antes y después: confirma arreglado o déjalo abierto. Past Reports guarda todo, incluidos los Supervisor Logs de los puestos.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EN: This is one follow-up card. The top is the problem; the bottom bar is what you can do: add it to a reminder, comment, add a photo, or resolve it. Resolve gives you nine seconds to undo, and the Fixed panel has Put back after that.
ES: Esta es una tarjeta de seguimiento. Arriba el problema; la barra de abajo es lo que puedes hacer: agregarlo a un recordatorio, comentar, poner foto o cerrarlo. Cerrar te da nueve segundos para deshacer, y el panel Fixed tiene Put back después.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EN: Group the list the way you walk: by stand, by type, by floor or by date. Pick several cards and send one reminder. The Fixed panel shows what crews closed each day, and you can put any of them back. Select rows and export, including the Before and After Excel with the photos inside.
ES: Agrupa la lista como recorres: por puesto, tipo, piso o fecha. Elige varias tarjetas y manda un solo recordatorio. El panel Fixed muestra lo que cerraron las cuadrillas cada día, y puedes regresar cualquiera. Selecciona filas y exporta, incluido el Excel Before &amp; After con las fotos adentro.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EN: The tracker is one list. Every stand with a poster, the people at that stand, and whether they logged today. Text sends each person their own link, already connected to their stand. Text all missed walks you through everyone who has not logged.
ES: El tracker es una sola lista. Cada puesto con cartel, su gente, y si registraron hoy. Text le manda a cada persona su propio enlace, ya conectado a su puesto. Text all missed te lleva por todos los que no han registrado.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EN: The license sheet is the stand list. Print posters by floor and the stack comes out divided. Each card lists the people at the stand and lets you text them their link. The equipment tab is the verify walk: confirm each cooler, fix, remove or add, then mark the stand verified.
ES: La hoja de licencias es la lista de puestos. Imprime carteles por piso y la pila sale dividida. Cada tarjeta lista la gente del puesto y te deja mandarles su enlace. La pestaña de equipo es el recorrido de verificación: confirma cada nevera, corrige, quita o agrega, y marca el puesto verificado.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EN: Announcements reach every targeted stand the next time they scan the poster. Type the message and the targets pre-select from the words; tap to change. Quick Check sends a checklist and collects the answers.
ES: Los anuncios llegan a cada puesto la próxima vez que escanean el cartel. Escribe el mensaje y los destinos se marcan solos según las palabras; toca para cambiar. Quick Check manda una lista y recoge las respuestas.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EN: Section: Stand teams. Scan the poster, log temps, report
ES: Sección: Equipos de puesto. Escanea el cartel, registra temperaturas, reporta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EN: Your stand has one poster inside the door. Scan it with the camera; nothing to install and no password. Pick your language. Anything the inspector sent to your stand shows at the top.
ES: Tu puesto tiene un cartel dentro de la puerta. Escanéalo con la cámara; nada que instalar y sin contraseña. Elige tu idioma. Lo que el inspector mandó a tu puesto aparece arriba.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EN: Type your name and phone, confirm the stand. If the inspector texted you your link, you skip this step and land on the form already signed in. If you only need to report a problem, there is a button for that.
ES: Pon tu nombre y teléfono, confirma el puesto. Si el inspector te mandó tu enlace, saltas este paso y llegas al formulario ya conectado. Si solo necesitas reportar un problema, hay un botón para eso.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EN: Tap each food item to open its temperature box; your coolers and freezers are listed underneath, already named. Green is fine. Red asks why and what you did. When the inspector asked for every cooler, the card is highlighted: do them all.
ES: Toca cada comida para abrir su casilla; tus neveras y congeladores están debajo, ya con nombre. Verde está bien. Rojo pregunta por qué y qué hiciste. Cuando el inspector pidió todas las neveras, la tarjeta está resaltada: hazlas todas.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EN: Write the problem the way you would say it. The app reads it and picks the category, the unit and how urgent it is. Fix a wrong chip with one tap. A photo is required. You can add a second problem before sending. Submitted means the crew already has it.
ES: Escribe el problema como lo dirías. La aplicación lo lee y elige la categoría, el equipo y la urgencia. Corrige un chip con un toque. La foto es obligatoria. Puedes agregar un segundo problema antes de enviar. Enviado significa que la cuadrilla ya lo tiene.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EN: If a cooler moved or was replaced, fix the list yourself from the same screen; your name and the date stay on the change. Every log you send is a report of its own, so it reaches the inspector even on a day he did not inspect your stand.
ES: Si una nevera se movió o la cambiaron, corrige la lista tú mismo desde la misma pantalla; tu nombre y la fecha quedan en el cambio. Cada registro que envías es un reporte propio, así llega al inspector aunque ese día no haya inspeccionado tu puesto.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EN: Section: Maintenance. Your board: In process, After photo, Fixed
ES: Sección: Mantenimiento. Tu tablero: En proceso, foto Después, Arreglado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EN: The inspector sends you an invite link. Open it, pick a badge number you will remember and your name. From then on that badge is your sign-in. Pick your language; the report text translates as well.
ES: El inspector te manda un enlace. Ábrelo, elige un número de gafete que recuerdes y tu nombre. Desde entonces ese gafete es tu entrada. Elige tu idioma; el texto del reporte también se traduce.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EN: Every card tells you the stand and unit, the problem, when it was flagged and the before photo. Tap In process when you start; that starts the clock and the inspector sees it. Waiting on a part or a vendor? Say so on the card, nobody has to call you.
ES: Cada tarjeta te dice el puesto y la unidad, el problema, cuándo se marcó y la foto de antes. Toca En proceso cuando empieces; arranca el reloj y el inspector lo ve. ¿Esperas una pieza o un proveedor? Dilo en la tarjeta, nadie tiene que llamarte.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EN: When the work is done, take or upload the after photo, write one line and tap Fixed. The card leaves your list, the minutes on the job are recorded, and the inspector gets the alert with your photo next to the before photo.
ES: Cuando termines, toma o sube la foto de después, escribe una línea y toca Arreglado. La tarjeta sale de tu lista, quedan los minutos del trabajo, y el inspector recibe la alerta con tu foto junto a la de antes.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EN: If a card is really a cleaning or Ecolab job, move it with Not mine. It leaves your board and the inspector is told. The Reports tab shows the whole inspection behind any card.
ES: Si una tarjeta es de limpieza o de Ecolab, pásala con Not mine. Sale de tu tablero y se avisa al inspector. La pestaña Reports muestra la inspección completa detrás de cualquier tarjeta.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EN: Section: Cleaning. Same board, plus who pays
ES: Sección: Limpieza. Mismo tablero, más quién paga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EN: Your board works exactly like maintenance. When you mark Fixed you say whether you cleaned it or it was already clean. The job carries the stand type, so the inspector knows what to bill the subcontractor, with your before and after photos and the minutes.
ES: Tu tablero funciona igual que mantenimiento. Al marcar Arreglado dices si lo limpiaron o ya estaba limpio. El trabajo lleva el tipo de puesto, así el inspector sabe qué cobrarle al subcontratista, con tus fotos de antes y después y los minutos.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EN: Section: Ecolab. Same board, chemicals and sanitizer
ES: Sección: Ecolab. Mismo tablero, químicos y sanitizante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EN: Problems about chemicals, sanitizer and the dish machine route to your board, in English or Spanish. Keep readings inside the ranges of the sanitizer tab of the Food Safety reference; that is what the inspector and the stands see. Anything else, move it.
ES: Los problemas de químicos, sanitizante y máquina de platos llegan a tu tablero, en inglés o español. Mantén las lecturas dentro de los rangos de la pestaña de sanitizantes de la referencia; es lo que ven el inspector y los puestos. Cualquier otra cosa, pásala.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EN: Section: Admin. Users, links, licenses, dashboard
ES: Sección: Administrador. Usuarios, enlaces, licencias, tablero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EN: The dashboard is the manager view: how many inspections, the pass rate, what is open and what got fixed, by inspector and by stand. The schedule is a month calendar of planned inspections.
ES: El tablero es la vista del gerente: cuántas inspecciones, tasa de aprobación, qué está abierto y qué se arregló, por inspector y por puesto. El calendario mensual muestra las inspecciones planeadas.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EN: Approve users and set their role. Create one invite link per role and share it by text or print its QR. The license sheet is the stand list: change names and licenses here, never in reports.
ES: Aprueba usuarios y asigna su rol. Crea un enlace de invitación por rol y compártelo por texto o imprime su QR. La hoja de licencias es la lista de puestos: cambia nombres y licencias aquí, nunca en reportes.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EN: Be honest with the room: alerts arrive while the app is open. Notifications with the app fully closed need one setup step on the admin side that is still pending.
ES: Sé claro con el grupo: las alertas llegan con la aplicación abierta. Las notificaciones con la aplicación cerrada necesitan un paso de configuración del administrador que sigue pendiente.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EN: Section: Everyone. Quick-reference cards
ES: Sección: Todos. Tarjetas de referencia rápida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EN: Print this for the inspector.
ES: Imprime esto para el inspector.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EN: Print this for every stand door.
ES: Imprime esto para cada puerta de puesto.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EN: Print this for the three crews.
ES: Imprime esto para las tres cuadrillas.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EN: Print this for the office.
ES: Imprime esto para la oficina.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EN: Same shape for every department: ten minutes of live demo, eight minutes where they do it on their own phone with the demo stand, two minutes of check. Seed the demo data first: MAGIC CITY DOGS #114, two coolers, MARIA logged and LUIS missed, one open problem with a before photo, one fixed with before and after. Use fake 305 555 numbers.
ES: La misma forma para cada departamento: diez minutos de demostración, ocho minutos donde lo hacen en su propio teléfono con el puesto demo, dos minutos de comprobación. Prepara los datos demo antes: MAGIC CITY DOGS #114, dos neveras, MARIA registró y LUIS no, un problema abierto con foto de antes, uno arreglado con antes y después. Usa números 305 555 falsos.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EN: Questions. Then everyone scans the demo poster one more time before they leave.
ES: Preguntas. Luego todos escanean el cartel demo una vez más antes de irse.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slideLayout" Target="../slideLayouts/slideLayout1.xml"/><Relationship Id="rId5"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slideLayout" Target="../slideLayouts/slideLayout1.xml"/><Relationship Id="rId4"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slideLayout" Target="../slideLayouts/slideLayout1.xml"/><Relationship Id="rId4"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png"/><Relationship Id="rId3" Type="http://schemas.openxmlformats.org/officeDocument/2006/relationships/slideLayout" Target="../slideLayouts/slideLayout1.xml"/><Relationship Id="rId4"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1.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image" Target="../media/image-16-2.png"/><Relationship Id="rId3" Type="http://schemas.openxmlformats.org/officeDocument/2006/relationships/slideLayout" Target="../slideLayouts/slideLayout1.xml"/><Relationship Id="rId4"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1.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image" Target="../media/image-19-2.png"/><Relationship Id="rId3" Type="http://schemas.openxmlformats.org/officeDocument/2006/relationships/slideLayout" Target="../slideLayouts/slideLayout1.xml"/><Relationship Id="rId4"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image" Target="../media/image-20-2.png"/><Relationship Id="rId3" Type="http://schemas.openxmlformats.org/officeDocument/2006/relationships/slideLayout" Target="../slideLayouts/slideLayout1.xml"/><Relationship Id="rId4"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image" Target="../media/image-21-2.png"/><Relationship Id="rId3" Type="http://schemas.openxmlformats.org/officeDocument/2006/relationships/slideLayout" Target="../slideLayouts/slideLayout1.xml"/><Relationship Id="rId4"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image" Target="../media/image-22-2.png"/><Relationship Id="rId3" Type="http://schemas.openxmlformats.org/officeDocument/2006/relationships/slideLayout" Target="../slideLayouts/slideLayout1.xml"/><Relationship Id="rId4"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png"/><Relationship Id="rId2" Type="http://schemas.openxmlformats.org/officeDocument/2006/relationships/image" Target="../media/image-25-2.png"/><Relationship Id="rId3" Type="http://schemas.openxmlformats.org/officeDocument/2006/relationships/slideLayout" Target="../slideLayouts/slideLayout1.xml"/><Relationship Id="rId4"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png"/><Relationship Id="rId2" Type="http://schemas.openxmlformats.org/officeDocument/2006/relationships/image" Target="../media/image-26-2.png"/><Relationship Id="rId3" Type="http://schemas.openxmlformats.org/officeDocument/2006/relationships/slideLayout" Target="../slideLayouts/slideLayout1.xml"/><Relationship Id="rId4"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27-1.png"/><Relationship Id="rId2" Type="http://schemas.openxmlformats.org/officeDocument/2006/relationships/image" Target="../media/image-27-2.png"/><Relationship Id="rId3" Type="http://schemas.openxmlformats.org/officeDocument/2006/relationships/slideLayout" Target="../slideLayouts/slideLayout1.xml"/><Relationship Id="rId4"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image-28-1.png"/><Relationship Id="rId2" Type="http://schemas.openxmlformats.org/officeDocument/2006/relationships/image" Target="../media/image-28-2.png"/><Relationship Id="rId3" Type="http://schemas.openxmlformats.org/officeDocument/2006/relationships/slideLayout" Target="../slideLayouts/slideLayout1.xml"/><Relationship Id="rId4"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image" Target="../media/image-30-1.png"/><Relationship Id="rId2" Type="http://schemas.openxmlformats.org/officeDocument/2006/relationships/slideLayout" Target="../slideLayouts/slideLayout1.xml"/><Relationship Id="rId3"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image" Target="../media/image-32-1.png"/><Relationship Id="rId2" Type="http://schemas.openxmlformats.org/officeDocument/2006/relationships/slideLayout" Target="../slideLayouts/slideLayout1.xml"/><Relationship Id="rId3"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image" Target="../media/image-34-1.png"/><Relationship Id="rId2" Type="http://schemas.openxmlformats.org/officeDocument/2006/relationships/slideLayout" Target="../slideLayouts/slideLayout1.xml"/><Relationship Id="rId3"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image" Target="../media/image-35-1.png"/><Relationship Id="rId2" Type="http://schemas.openxmlformats.org/officeDocument/2006/relationships/slideLayout" Target="../slideLayouts/slideLayout1.xml"/><Relationship Id="rId3"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3.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F1F3D"/>
        </a:solidFill>
      </p:bgPr>
    </p:bg>
    <p:spTree>
      <p:nvGrpSpPr>
        <p:cNvPr id="1" name=""/>
        <p:cNvGrpSpPr/>
        <p:nvPr/>
      </p:nvGrpSpPr>
      <p:grpSpPr>
        <a:xfrm>
          <a:off x="0" y="0"/>
          <a:ext cx="0" cy="0"/>
          <a:chOff x="0" y="0"/>
          <a:chExt cx="0" cy="0"/>
        </a:xfrm>
      </p:grpSpPr>
      <p:sp>
        <p:nvSpPr>
          <p:cNvPr id="2" name="Text 0"/>
          <p:cNvSpPr/>
          <p:nvPr/>
        </p:nvSpPr>
        <p:spPr>
          <a:xfrm>
            <a:off x="640080" y="1005840"/>
            <a:ext cx="5486400" cy="822960"/>
          </a:xfrm>
          <a:prstGeom prst="rect">
            <a:avLst/>
          </a:prstGeom>
          <a:noFill/>
          <a:ln/>
        </p:spPr>
        <p:txBody>
          <a:bodyPr wrap="square" lIns="0" tIns="0" rIns="0" bIns="0" rtlCol="0" anchor="ctr"/>
          <a:lstStyle/>
          <a:p>
            <a:pPr indent="0" marL="0">
              <a:buNone/>
            </a:pPr>
            <a:r>
              <a:rPr lang="en-US" sz="4400" b="1" dirty="0">
                <a:solidFill>
                  <a:srgbClr val="FFFFFF"/>
                </a:solidFill>
                <a:latin typeface="Arial" pitchFamily="34" charset="0"/>
                <a:ea typeface="Arial" pitchFamily="34" charset="-122"/>
                <a:cs typeface="Arial" pitchFamily="34" charset="-120"/>
              </a:rPr>
              <a:t>SDX Inspect</a:t>
            </a:r>
            <a:endParaRPr lang="en-US" sz="4400" dirty="0"/>
          </a:p>
        </p:txBody>
      </p:sp>
      <p:sp>
        <p:nvSpPr>
          <p:cNvPr id="3" name="Text 1"/>
          <p:cNvSpPr/>
          <p:nvPr/>
        </p:nvSpPr>
        <p:spPr>
          <a:xfrm>
            <a:off x="640080" y="1783080"/>
            <a:ext cx="5486400" cy="548640"/>
          </a:xfrm>
          <a:prstGeom prst="rect">
            <a:avLst/>
          </a:prstGeom>
          <a:noFill/>
          <a:ln/>
        </p:spPr>
        <p:txBody>
          <a:bodyPr wrap="square" lIns="0" tIns="0" rIns="0" bIns="0" rtlCol="0" anchor="ctr"/>
          <a:lstStyle/>
          <a:p>
            <a:pPr indent="0" marL="0">
              <a:buNone/>
            </a:pPr>
            <a:r>
              <a:rPr lang="en-US" sz="2400" dirty="0">
                <a:solidFill>
                  <a:srgbClr val="9FC0FF"/>
                </a:solidFill>
                <a:latin typeface="Arial" pitchFamily="34" charset="0"/>
                <a:ea typeface="Arial" pitchFamily="34" charset="-122"/>
                <a:cs typeface="Arial" pitchFamily="34" charset="-120"/>
              </a:rPr>
              <a:t>Training by department</a:t>
            </a:r>
            <a:endParaRPr lang="en-US" sz="2400" dirty="0"/>
          </a:p>
        </p:txBody>
      </p:sp>
      <p:sp>
        <p:nvSpPr>
          <p:cNvPr id="4" name="Text 2"/>
          <p:cNvSpPr/>
          <p:nvPr/>
        </p:nvSpPr>
        <p:spPr>
          <a:xfrm>
            <a:off x="640080" y="2286000"/>
            <a:ext cx="5486400" cy="457200"/>
          </a:xfrm>
          <a:prstGeom prst="rect">
            <a:avLst/>
          </a:prstGeom>
          <a:noFill/>
          <a:ln/>
        </p:spPr>
        <p:txBody>
          <a:bodyPr wrap="square" lIns="0" tIns="0" rIns="0" bIns="0" rtlCol="0" anchor="ctr"/>
          <a:lstStyle/>
          <a:p>
            <a:pPr indent="0" marL="0">
              <a:buNone/>
            </a:pPr>
            <a:r>
              <a:rPr lang="en-US" sz="1800" dirty="0">
                <a:solidFill>
                  <a:srgbClr val="FFD166"/>
                </a:solidFill>
                <a:latin typeface="Calibri" pitchFamily="34" charset="0"/>
                <a:ea typeface="Calibri" pitchFamily="34" charset="-122"/>
                <a:cs typeface="Calibri" pitchFamily="34" charset="-120"/>
              </a:rPr>
              <a:t>Capacitación por departamento</a:t>
            </a:r>
            <a:endParaRPr lang="en-US" sz="1800" dirty="0"/>
          </a:p>
        </p:txBody>
      </p:sp>
      <p:sp>
        <p:nvSpPr>
          <p:cNvPr id="5" name="Text 3"/>
          <p:cNvSpPr/>
          <p:nvPr/>
        </p:nvSpPr>
        <p:spPr>
          <a:xfrm>
            <a:off x="640080" y="3931920"/>
            <a:ext cx="5943600" cy="36576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Inspector · Stand teams · Maintenance · Cleaning · Ecolab · Admin</a:t>
            </a:r>
            <a:endParaRPr lang="en-US" sz="1300" dirty="0"/>
          </a:p>
        </p:txBody>
      </p:sp>
      <p:sp>
        <p:nvSpPr>
          <p:cNvPr id="6" name="Shape 4"/>
          <p:cNvSpPr/>
          <p:nvPr/>
        </p:nvSpPr>
        <p:spPr>
          <a:xfrm>
            <a:off x="6848856" y="448056"/>
            <a:ext cx="2032243" cy="4270248"/>
          </a:xfrm>
          <a:prstGeom prst="roundRect">
            <a:avLst>
              <a:gd name="adj" fmla="val 9899"/>
            </a:avLst>
          </a:prstGeom>
          <a:solidFill>
            <a:srgbClr val="1F2937"/>
          </a:solidFill>
          <a:ln w="12700">
            <a:solidFill>
              <a:srgbClr val="1F2937"/>
            </a:solidFill>
            <a:prstDash val="solid"/>
          </a:ln>
        </p:spPr>
      </p:sp>
      <p:pic>
        <p:nvPicPr>
          <p:cNvPr id="7" name="Image 0" descr="/home/user/Claude/docs/training/screens/04-form-stand-filled.png">    </p:cNvPr>
          <p:cNvPicPr>
            <a:picLocks noChangeAspect="1"/>
          </p:cNvPicPr>
          <p:nvPr/>
        </p:nvPicPr>
        <p:blipFill>
          <a:blip r:embed="rId1"/>
          <a:stretch>
            <a:fillRect/>
          </a:stretch>
        </p:blipFill>
        <p:spPr>
          <a:xfrm>
            <a:off x="6903720" y="502920"/>
            <a:ext cx="1922515" cy="416052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20040"/>
            <a:ext cx="1737360" cy="310896"/>
          </a:xfrm>
          <a:prstGeom prst="roundRect">
            <a:avLst>
              <a:gd name="adj" fmla="val 50000"/>
            </a:avLst>
          </a:prstGeom>
          <a:solidFill>
            <a:srgbClr val="0F1F3D"/>
          </a:solidFill>
          <a:ln w="12700">
            <a:solidFill>
              <a:srgbClr val="0F1F3D"/>
            </a:solidFill>
            <a:prstDash val="solid"/>
          </a:ln>
        </p:spPr>
      </p:sp>
      <p:sp>
        <p:nvSpPr>
          <p:cNvPr id="3" name="Text 1"/>
          <p:cNvSpPr/>
          <p:nvPr/>
        </p:nvSpPr>
        <p:spPr>
          <a:xfrm>
            <a:off x="457200" y="320040"/>
            <a:ext cx="1737360" cy="310896"/>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Arial" pitchFamily="34" charset="0"/>
                <a:ea typeface="Arial" pitchFamily="34" charset="-122"/>
                <a:cs typeface="Arial" pitchFamily="34" charset="-120"/>
              </a:rPr>
              <a:t>EVERYONE</a:t>
            </a:r>
            <a:endParaRPr lang="en-US" sz="1000" dirty="0"/>
          </a:p>
        </p:txBody>
      </p:sp>
      <p:sp>
        <p:nvSpPr>
          <p:cNvPr id="4" name="Text 2"/>
          <p:cNvSpPr/>
          <p:nvPr/>
        </p:nvSpPr>
        <p:spPr>
          <a:xfrm>
            <a:off x="457200" y="713232"/>
            <a:ext cx="8229600" cy="640080"/>
          </a:xfrm>
          <a:prstGeom prst="rect">
            <a:avLst/>
          </a:prstGeom>
          <a:noFill/>
          <a:ln/>
        </p:spPr>
        <p:txBody>
          <a:bodyPr wrap="square" lIns="0" tIns="0" rIns="0" bIns="0" rtlCol="0" anchor="t">
            <a:normAutofit/>
          </a:bodyPr>
          <a:lstStyle/>
          <a:p>
            <a:pPr indent="0" marL="0">
              <a:buNone/>
            </a:pPr>
            <a:r>
              <a:rPr lang="en-US" sz="2600" b="1" dirty="0">
                <a:solidFill>
                  <a:srgbClr val="0F1F3D"/>
                </a:solidFill>
                <a:latin typeface="Arial" pitchFamily="34" charset="0"/>
                <a:ea typeface="Arial" pitchFamily="34" charset="-122"/>
                <a:cs typeface="Arial" pitchFamily="34" charset="-120"/>
              </a:rPr>
              <a:t>Agenda — six sessions, 20 minutes each</a:t>
            </a:r>
            <a:endParaRPr lang="en-US" sz="2600" dirty="0"/>
          </a:p>
        </p:txBody>
      </p:sp>
      <p:sp>
        <p:nvSpPr>
          <p:cNvPr id="5" name="Text 3"/>
          <p:cNvSpPr/>
          <p:nvPr/>
        </p:nvSpPr>
        <p:spPr>
          <a:xfrm>
            <a:off x="457200" y="4754880"/>
            <a:ext cx="5486400" cy="228600"/>
          </a:xfrm>
          <a:prstGeom prst="rect">
            <a:avLst/>
          </a:prstGeom>
          <a:noFill/>
          <a:ln/>
        </p:spPr>
        <p:txBody>
          <a:bodyPr wrap="square" lIns="0" tIns="0" rIns="0" bIns="0" rtlCol="0" anchor="ctr"/>
          <a:lstStyle/>
          <a:p>
            <a:pPr indent="0" marL="0">
              <a:buNone/>
            </a:pPr>
            <a:r>
              <a:rPr lang="en-US" sz="900" dirty="0">
                <a:solidFill>
                  <a:srgbClr val="6B7280"/>
                </a:solidFill>
                <a:latin typeface="Calibri" pitchFamily="34" charset="0"/>
                <a:ea typeface="Calibri" pitchFamily="34" charset="-122"/>
                <a:cs typeface="Calibri" pitchFamily="34" charset="-120"/>
              </a:rPr>
              <a:t>SDX Inspect · Everyone · 2</a:t>
            </a:r>
            <a:endParaRPr lang="en-US" sz="900" dirty="0"/>
          </a:p>
        </p:txBody>
      </p:sp>
      <p:sp>
        <p:nvSpPr>
          <p:cNvPr id="6" name="Shape 4"/>
          <p:cNvSpPr/>
          <p:nvPr/>
        </p:nvSpPr>
        <p:spPr>
          <a:xfrm>
            <a:off x="457200" y="1508760"/>
            <a:ext cx="1463040" cy="384048"/>
          </a:xfrm>
          <a:prstGeom prst="roundRect">
            <a:avLst>
              <a:gd name="adj" fmla="val 23810"/>
            </a:avLst>
          </a:prstGeom>
          <a:solidFill>
            <a:srgbClr val="0F1F3D"/>
          </a:solidFill>
          <a:ln w="12700">
            <a:solidFill>
              <a:srgbClr val="0F1F3D"/>
            </a:solidFill>
            <a:prstDash val="solid"/>
          </a:ln>
        </p:spPr>
      </p:sp>
      <p:sp>
        <p:nvSpPr>
          <p:cNvPr id="7" name="Text 5"/>
          <p:cNvSpPr/>
          <p:nvPr/>
        </p:nvSpPr>
        <p:spPr>
          <a:xfrm>
            <a:off x="457200" y="1508760"/>
            <a:ext cx="1463040"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Arial" pitchFamily="34" charset="0"/>
                <a:ea typeface="Arial" pitchFamily="34" charset="-122"/>
                <a:cs typeface="Arial" pitchFamily="34" charset="-120"/>
              </a:rPr>
              <a:t>Inspector</a:t>
            </a:r>
            <a:endParaRPr lang="en-US" sz="1100" dirty="0"/>
          </a:p>
        </p:txBody>
      </p:sp>
      <p:sp>
        <p:nvSpPr>
          <p:cNvPr id="8" name="Text 6"/>
          <p:cNvSpPr/>
          <p:nvPr/>
        </p:nvSpPr>
        <p:spPr>
          <a:xfrm>
            <a:off x="2103120" y="1508760"/>
            <a:ext cx="3566160" cy="384048"/>
          </a:xfrm>
          <a:prstGeom prst="rect">
            <a:avLst/>
          </a:prstGeom>
          <a:noFill/>
          <a:ln/>
        </p:spPr>
        <p:txBody>
          <a:bodyPr wrap="square" lIns="0" tIns="0" rIns="0" bIns="0" rtlCol="0" anchor="ctr"/>
          <a:lstStyle/>
          <a:p>
            <a:pPr indent="0" marL="0">
              <a:buNone/>
            </a:pPr>
            <a:r>
              <a:rPr lang="en-US" sz="1300" dirty="0">
                <a:solidFill>
                  <a:srgbClr val="1F2937"/>
                </a:solidFill>
                <a:latin typeface="Calibri" pitchFamily="34" charset="0"/>
                <a:ea typeface="Calibri" pitchFamily="34" charset="-122"/>
                <a:cs typeface="Calibri" pitchFamily="34" charset="-120"/>
              </a:rPr>
              <a:t>The walk, follow-ups, who logged today</a:t>
            </a:r>
            <a:endParaRPr lang="en-US" sz="1300" dirty="0"/>
          </a:p>
        </p:txBody>
      </p:sp>
      <p:sp>
        <p:nvSpPr>
          <p:cNvPr id="9" name="Text 7"/>
          <p:cNvSpPr/>
          <p:nvPr/>
        </p:nvSpPr>
        <p:spPr>
          <a:xfrm>
            <a:off x="5760720" y="1508760"/>
            <a:ext cx="3017520" cy="384048"/>
          </a:xfrm>
          <a:prstGeom prst="rect">
            <a:avLst/>
          </a:prstGeom>
          <a:noFill/>
          <a:ln/>
        </p:spPr>
        <p:txBody>
          <a:bodyPr wrap="square" lIns="0" tIns="0" rIns="0" bIns="0" rtlCol="0" anchor="ctr"/>
          <a:lstStyle/>
          <a:p>
            <a:pPr indent="0" marL="0">
              <a:buNone/>
            </a:pPr>
            <a:r>
              <a:rPr lang="en-US" sz="1200" i="1" dirty="0">
                <a:solidFill>
                  <a:srgbClr val="6B7280"/>
                </a:solidFill>
                <a:latin typeface="Calibri" pitchFamily="34" charset="0"/>
                <a:ea typeface="Calibri" pitchFamily="34" charset="-122"/>
                <a:cs typeface="Calibri" pitchFamily="34" charset="-120"/>
              </a:rPr>
              <a:t>Recorrido, seguimientos, quién registró hoy</a:t>
            </a:r>
            <a:endParaRPr lang="en-US" sz="1200" dirty="0"/>
          </a:p>
        </p:txBody>
      </p:sp>
      <p:sp>
        <p:nvSpPr>
          <p:cNvPr id="10" name="Shape 8"/>
          <p:cNvSpPr/>
          <p:nvPr/>
        </p:nvSpPr>
        <p:spPr>
          <a:xfrm>
            <a:off x="457200" y="2011680"/>
            <a:ext cx="1463040" cy="384048"/>
          </a:xfrm>
          <a:prstGeom prst="roundRect">
            <a:avLst>
              <a:gd name="adj" fmla="val 23810"/>
            </a:avLst>
          </a:prstGeom>
          <a:solidFill>
            <a:srgbClr val="FFD166"/>
          </a:solidFill>
          <a:ln w="12700">
            <a:solidFill>
              <a:srgbClr val="FFD166"/>
            </a:solidFill>
            <a:prstDash val="solid"/>
          </a:ln>
        </p:spPr>
      </p:sp>
      <p:sp>
        <p:nvSpPr>
          <p:cNvPr id="11" name="Text 9"/>
          <p:cNvSpPr/>
          <p:nvPr/>
        </p:nvSpPr>
        <p:spPr>
          <a:xfrm>
            <a:off x="457200" y="2011680"/>
            <a:ext cx="1463040" cy="384048"/>
          </a:xfrm>
          <a:prstGeom prst="rect">
            <a:avLst/>
          </a:prstGeom>
          <a:noFill/>
          <a:ln/>
        </p:spPr>
        <p:txBody>
          <a:bodyPr wrap="square" lIns="0" tIns="0" rIns="0" bIns="0" rtlCol="0" anchor="ctr"/>
          <a:lstStyle/>
          <a:p>
            <a:pPr algn="ctr" indent="0" marL="0">
              <a:buNone/>
            </a:pPr>
            <a:r>
              <a:rPr lang="en-US" sz="1100" b="1" dirty="0">
                <a:solidFill>
                  <a:srgbClr val="0F1F3D"/>
                </a:solidFill>
                <a:latin typeface="Arial" pitchFamily="34" charset="0"/>
                <a:ea typeface="Arial" pitchFamily="34" charset="-122"/>
                <a:cs typeface="Arial" pitchFamily="34" charset="-120"/>
              </a:rPr>
              <a:t>Stand teams</a:t>
            </a:r>
            <a:endParaRPr lang="en-US" sz="1100" dirty="0"/>
          </a:p>
        </p:txBody>
      </p:sp>
      <p:sp>
        <p:nvSpPr>
          <p:cNvPr id="12" name="Text 10"/>
          <p:cNvSpPr/>
          <p:nvPr/>
        </p:nvSpPr>
        <p:spPr>
          <a:xfrm>
            <a:off x="2103120" y="2011680"/>
            <a:ext cx="3566160" cy="384048"/>
          </a:xfrm>
          <a:prstGeom prst="rect">
            <a:avLst/>
          </a:prstGeom>
          <a:noFill/>
          <a:ln/>
        </p:spPr>
        <p:txBody>
          <a:bodyPr wrap="square" lIns="0" tIns="0" rIns="0" bIns="0" rtlCol="0" anchor="ctr"/>
          <a:lstStyle/>
          <a:p>
            <a:pPr indent="0" marL="0">
              <a:buNone/>
            </a:pPr>
            <a:r>
              <a:rPr lang="en-US" sz="1300" dirty="0">
                <a:solidFill>
                  <a:srgbClr val="1F2937"/>
                </a:solidFill>
                <a:latin typeface="Calibri" pitchFamily="34" charset="0"/>
                <a:ea typeface="Calibri" pitchFamily="34" charset="-122"/>
                <a:cs typeface="Calibri" pitchFamily="34" charset="-120"/>
              </a:rPr>
              <a:t>Scan the poster, temps, report a problem</a:t>
            </a:r>
            <a:endParaRPr lang="en-US" sz="1300" dirty="0"/>
          </a:p>
        </p:txBody>
      </p:sp>
      <p:sp>
        <p:nvSpPr>
          <p:cNvPr id="13" name="Text 11"/>
          <p:cNvSpPr/>
          <p:nvPr/>
        </p:nvSpPr>
        <p:spPr>
          <a:xfrm>
            <a:off x="5760720" y="2011680"/>
            <a:ext cx="3017520" cy="384048"/>
          </a:xfrm>
          <a:prstGeom prst="rect">
            <a:avLst/>
          </a:prstGeom>
          <a:noFill/>
          <a:ln/>
        </p:spPr>
        <p:txBody>
          <a:bodyPr wrap="square" lIns="0" tIns="0" rIns="0" bIns="0" rtlCol="0" anchor="ctr"/>
          <a:lstStyle/>
          <a:p>
            <a:pPr indent="0" marL="0">
              <a:buNone/>
            </a:pPr>
            <a:r>
              <a:rPr lang="en-US" sz="1200" i="1" dirty="0">
                <a:solidFill>
                  <a:srgbClr val="6B7280"/>
                </a:solidFill>
                <a:latin typeface="Calibri" pitchFamily="34" charset="0"/>
                <a:ea typeface="Calibri" pitchFamily="34" charset="-122"/>
                <a:cs typeface="Calibri" pitchFamily="34" charset="-120"/>
              </a:rPr>
              <a:t>Escanear el cartel, temperaturas, reportar</a:t>
            </a:r>
            <a:endParaRPr lang="en-US" sz="1200" dirty="0"/>
          </a:p>
        </p:txBody>
      </p:sp>
      <p:sp>
        <p:nvSpPr>
          <p:cNvPr id="14" name="Shape 12"/>
          <p:cNvSpPr/>
          <p:nvPr/>
        </p:nvSpPr>
        <p:spPr>
          <a:xfrm>
            <a:off x="457200" y="2514600"/>
            <a:ext cx="1463040" cy="384048"/>
          </a:xfrm>
          <a:prstGeom prst="roundRect">
            <a:avLst>
              <a:gd name="adj" fmla="val 23810"/>
            </a:avLst>
          </a:prstGeom>
          <a:solidFill>
            <a:srgbClr val="2563EB"/>
          </a:solidFill>
          <a:ln w="12700">
            <a:solidFill>
              <a:srgbClr val="2563EB"/>
            </a:solidFill>
            <a:prstDash val="solid"/>
          </a:ln>
        </p:spPr>
      </p:sp>
      <p:sp>
        <p:nvSpPr>
          <p:cNvPr id="15" name="Text 13"/>
          <p:cNvSpPr/>
          <p:nvPr/>
        </p:nvSpPr>
        <p:spPr>
          <a:xfrm>
            <a:off x="457200" y="2514600"/>
            <a:ext cx="1463040"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Arial" pitchFamily="34" charset="0"/>
                <a:ea typeface="Arial" pitchFamily="34" charset="-122"/>
                <a:cs typeface="Arial" pitchFamily="34" charset="-120"/>
              </a:rPr>
              <a:t>Maintenance</a:t>
            </a:r>
            <a:endParaRPr lang="en-US" sz="1100" dirty="0"/>
          </a:p>
        </p:txBody>
      </p:sp>
      <p:sp>
        <p:nvSpPr>
          <p:cNvPr id="16" name="Text 14"/>
          <p:cNvSpPr/>
          <p:nvPr/>
        </p:nvSpPr>
        <p:spPr>
          <a:xfrm>
            <a:off x="2103120" y="2514600"/>
            <a:ext cx="3566160" cy="384048"/>
          </a:xfrm>
          <a:prstGeom prst="rect">
            <a:avLst/>
          </a:prstGeom>
          <a:noFill/>
          <a:ln/>
        </p:spPr>
        <p:txBody>
          <a:bodyPr wrap="square" lIns="0" tIns="0" rIns="0" bIns="0" rtlCol="0" anchor="ctr"/>
          <a:lstStyle/>
          <a:p>
            <a:pPr indent="0" marL="0">
              <a:buNone/>
            </a:pPr>
            <a:r>
              <a:rPr lang="en-US" sz="1300" dirty="0">
                <a:solidFill>
                  <a:srgbClr val="1F2937"/>
                </a:solidFill>
                <a:latin typeface="Calibri" pitchFamily="34" charset="0"/>
                <a:ea typeface="Calibri" pitchFamily="34" charset="-122"/>
                <a:cs typeface="Calibri" pitchFamily="34" charset="-120"/>
              </a:rPr>
              <a:t>Your board, In process, After photo, Fixed</a:t>
            </a:r>
            <a:endParaRPr lang="en-US" sz="1300" dirty="0"/>
          </a:p>
        </p:txBody>
      </p:sp>
      <p:sp>
        <p:nvSpPr>
          <p:cNvPr id="17" name="Text 15"/>
          <p:cNvSpPr/>
          <p:nvPr/>
        </p:nvSpPr>
        <p:spPr>
          <a:xfrm>
            <a:off x="5760720" y="2514600"/>
            <a:ext cx="3017520" cy="384048"/>
          </a:xfrm>
          <a:prstGeom prst="rect">
            <a:avLst/>
          </a:prstGeom>
          <a:noFill/>
          <a:ln/>
        </p:spPr>
        <p:txBody>
          <a:bodyPr wrap="square" lIns="0" tIns="0" rIns="0" bIns="0" rtlCol="0" anchor="ctr"/>
          <a:lstStyle/>
          <a:p>
            <a:pPr indent="0" marL="0">
              <a:buNone/>
            </a:pPr>
            <a:r>
              <a:rPr lang="en-US" sz="1200" i="1" dirty="0">
                <a:solidFill>
                  <a:srgbClr val="6B7280"/>
                </a:solidFill>
                <a:latin typeface="Calibri" pitchFamily="34" charset="0"/>
                <a:ea typeface="Calibri" pitchFamily="34" charset="-122"/>
                <a:cs typeface="Calibri" pitchFamily="34" charset="-120"/>
              </a:rPr>
              <a:t>Tu tablero, En proceso, foto Después, Arreglado</a:t>
            </a:r>
            <a:endParaRPr lang="en-US" sz="1200" dirty="0"/>
          </a:p>
        </p:txBody>
      </p:sp>
      <p:sp>
        <p:nvSpPr>
          <p:cNvPr id="18" name="Shape 16"/>
          <p:cNvSpPr/>
          <p:nvPr/>
        </p:nvSpPr>
        <p:spPr>
          <a:xfrm>
            <a:off x="457200" y="3017520"/>
            <a:ext cx="1463040" cy="384048"/>
          </a:xfrm>
          <a:prstGeom prst="roundRect">
            <a:avLst>
              <a:gd name="adj" fmla="val 23810"/>
            </a:avLst>
          </a:prstGeom>
          <a:solidFill>
            <a:srgbClr val="15803D"/>
          </a:solidFill>
          <a:ln w="12700">
            <a:solidFill>
              <a:srgbClr val="15803D"/>
            </a:solidFill>
            <a:prstDash val="solid"/>
          </a:ln>
        </p:spPr>
      </p:sp>
      <p:sp>
        <p:nvSpPr>
          <p:cNvPr id="19" name="Text 17"/>
          <p:cNvSpPr/>
          <p:nvPr/>
        </p:nvSpPr>
        <p:spPr>
          <a:xfrm>
            <a:off x="457200" y="3017520"/>
            <a:ext cx="1463040"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Arial" pitchFamily="34" charset="0"/>
                <a:ea typeface="Arial" pitchFamily="34" charset="-122"/>
                <a:cs typeface="Arial" pitchFamily="34" charset="-120"/>
              </a:rPr>
              <a:t>Cleaning</a:t>
            </a:r>
            <a:endParaRPr lang="en-US" sz="1100" dirty="0"/>
          </a:p>
        </p:txBody>
      </p:sp>
      <p:sp>
        <p:nvSpPr>
          <p:cNvPr id="20" name="Text 18"/>
          <p:cNvSpPr/>
          <p:nvPr/>
        </p:nvSpPr>
        <p:spPr>
          <a:xfrm>
            <a:off x="2103120" y="3017520"/>
            <a:ext cx="3566160" cy="384048"/>
          </a:xfrm>
          <a:prstGeom prst="rect">
            <a:avLst/>
          </a:prstGeom>
          <a:noFill/>
          <a:ln/>
        </p:spPr>
        <p:txBody>
          <a:bodyPr wrap="square" lIns="0" tIns="0" rIns="0" bIns="0" rtlCol="0" anchor="ctr"/>
          <a:lstStyle/>
          <a:p>
            <a:pPr indent="0" marL="0">
              <a:buNone/>
            </a:pPr>
            <a:r>
              <a:rPr lang="en-US" sz="1300" dirty="0">
                <a:solidFill>
                  <a:srgbClr val="1F2937"/>
                </a:solidFill>
                <a:latin typeface="Calibri" pitchFamily="34" charset="0"/>
                <a:ea typeface="Calibri" pitchFamily="34" charset="-122"/>
                <a:cs typeface="Calibri" pitchFamily="34" charset="-120"/>
              </a:rPr>
              <a:t>Same board + we cleaned it / billing</a:t>
            </a:r>
            <a:endParaRPr lang="en-US" sz="1300" dirty="0"/>
          </a:p>
        </p:txBody>
      </p:sp>
      <p:sp>
        <p:nvSpPr>
          <p:cNvPr id="21" name="Text 19"/>
          <p:cNvSpPr/>
          <p:nvPr/>
        </p:nvSpPr>
        <p:spPr>
          <a:xfrm>
            <a:off x="5760720" y="3017520"/>
            <a:ext cx="3017520" cy="384048"/>
          </a:xfrm>
          <a:prstGeom prst="rect">
            <a:avLst/>
          </a:prstGeom>
          <a:noFill/>
          <a:ln/>
        </p:spPr>
        <p:txBody>
          <a:bodyPr wrap="square" lIns="0" tIns="0" rIns="0" bIns="0" rtlCol="0" anchor="ctr"/>
          <a:lstStyle/>
          <a:p>
            <a:pPr indent="0" marL="0">
              <a:buNone/>
            </a:pPr>
            <a:r>
              <a:rPr lang="en-US" sz="1200" i="1" dirty="0">
                <a:solidFill>
                  <a:srgbClr val="6B7280"/>
                </a:solidFill>
                <a:latin typeface="Calibri" pitchFamily="34" charset="0"/>
                <a:ea typeface="Calibri" pitchFamily="34" charset="-122"/>
                <a:cs typeface="Calibri" pitchFamily="34" charset="-120"/>
              </a:rPr>
              <a:t>Mismo tablero + lo limpiamos / facturación</a:t>
            </a:r>
            <a:endParaRPr lang="en-US" sz="1200" dirty="0"/>
          </a:p>
        </p:txBody>
      </p:sp>
      <p:sp>
        <p:nvSpPr>
          <p:cNvPr id="22" name="Shape 20"/>
          <p:cNvSpPr/>
          <p:nvPr/>
        </p:nvSpPr>
        <p:spPr>
          <a:xfrm>
            <a:off x="457200" y="3520440"/>
            <a:ext cx="1463040" cy="384048"/>
          </a:xfrm>
          <a:prstGeom prst="roundRect">
            <a:avLst>
              <a:gd name="adj" fmla="val 23810"/>
            </a:avLst>
          </a:prstGeom>
          <a:solidFill>
            <a:srgbClr val="0F766E"/>
          </a:solidFill>
          <a:ln w="12700">
            <a:solidFill>
              <a:srgbClr val="0F766E"/>
            </a:solidFill>
            <a:prstDash val="solid"/>
          </a:ln>
        </p:spPr>
      </p:sp>
      <p:sp>
        <p:nvSpPr>
          <p:cNvPr id="23" name="Text 21"/>
          <p:cNvSpPr/>
          <p:nvPr/>
        </p:nvSpPr>
        <p:spPr>
          <a:xfrm>
            <a:off x="457200" y="3520440"/>
            <a:ext cx="1463040"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Arial" pitchFamily="34" charset="0"/>
                <a:ea typeface="Arial" pitchFamily="34" charset="-122"/>
                <a:cs typeface="Arial" pitchFamily="34" charset="-120"/>
              </a:rPr>
              <a:t>Ecolab</a:t>
            </a:r>
            <a:endParaRPr lang="en-US" sz="1100" dirty="0"/>
          </a:p>
        </p:txBody>
      </p:sp>
      <p:sp>
        <p:nvSpPr>
          <p:cNvPr id="24" name="Text 22"/>
          <p:cNvSpPr/>
          <p:nvPr/>
        </p:nvSpPr>
        <p:spPr>
          <a:xfrm>
            <a:off x="2103120" y="3520440"/>
            <a:ext cx="3566160" cy="384048"/>
          </a:xfrm>
          <a:prstGeom prst="rect">
            <a:avLst/>
          </a:prstGeom>
          <a:noFill/>
          <a:ln/>
        </p:spPr>
        <p:txBody>
          <a:bodyPr wrap="square" lIns="0" tIns="0" rIns="0" bIns="0" rtlCol="0" anchor="ctr"/>
          <a:lstStyle/>
          <a:p>
            <a:pPr indent="0" marL="0">
              <a:buNone/>
            </a:pPr>
            <a:r>
              <a:rPr lang="en-US" sz="1300" dirty="0">
                <a:solidFill>
                  <a:srgbClr val="1F2937"/>
                </a:solidFill>
                <a:latin typeface="Calibri" pitchFamily="34" charset="0"/>
                <a:ea typeface="Calibri" pitchFamily="34" charset="-122"/>
                <a:cs typeface="Calibri" pitchFamily="34" charset="-120"/>
              </a:rPr>
              <a:t>Same board + sanitizer standard</a:t>
            </a:r>
            <a:endParaRPr lang="en-US" sz="1300" dirty="0"/>
          </a:p>
        </p:txBody>
      </p:sp>
      <p:sp>
        <p:nvSpPr>
          <p:cNvPr id="25" name="Text 23"/>
          <p:cNvSpPr/>
          <p:nvPr/>
        </p:nvSpPr>
        <p:spPr>
          <a:xfrm>
            <a:off x="5760720" y="3520440"/>
            <a:ext cx="3017520" cy="384048"/>
          </a:xfrm>
          <a:prstGeom prst="rect">
            <a:avLst/>
          </a:prstGeom>
          <a:noFill/>
          <a:ln/>
        </p:spPr>
        <p:txBody>
          <a:bodyPr wrap="square" lIns="0" tIns="0" rIns="0" bIns="0" rtlCol="0" anchor="ctr"/>
          <a:lstStyle/>
          <a:p>
            <a:pPr indent="0" marL="0">
              <a:buNone/>
            </a:pPr>
            <a:r>
              <a:rPr lang="en-US" sz="1200" i="1" dirty="0">
                <a:solidFill>
                  <a:srgbClr val="6B7280"/>
                </a:solidFill>
                <a:latin typeface="Calibri" pitchFamily="34" charset="0"/>
                <a:ea typeface="Calibri" pitchFamily="34" charset="-122"/>
                <a:cs typeface="Calibri" pitchFamily="34" charset="-120"/>
              </a:rPr>
              <a:t>Mismo tablero + estándar de sanitizante</a:t>
            </a:r>
            <a:endParaRPr lang="en-US" sz="1200" dirty="0"/>
          </a:p>
        </p:txBody>
      </p:sp>
      <p:sp>
        <p:nvSpPr>
          <p:cNvPr id="26" name="Shape 24"/>
          <p:cNvSpPr/>
          <p:nvPr/>
        </p:nvSpPr>
        <p:spPr>
          <a:xfrm>
            <a:off x="457200" y="4023360"/>
            <a:ext cx="1463040" cy="384048"/>
          </a:xfrm>
          <a:prstGeom prst="roundRect">
            <a:avLst>
              <a:gd name="adj" fmla="val 23810"/>
            </a:avLst>
          </a:prstGeom>
          <a:solidFill>
            <a:srgbClr val="4B5563"/>
          </a:solidFill>
          <a:ln w="12700">
            <a:solidFill>
              <a:srgbClr val="4B5563"/>
            </a:solidFill>
            <a:prstDash val="solid"/>
          </a:ln>
        </p:spPr>
      </p:sp>
      <p:sp>
        <p:nvSpPr>
          <p:cNvPr id="27" name="Text 25"/>
          <p:cNvSpPr/>
          <p:nvPr/>
        </p:nvSpPr>
        <p:spPr>
          <a:xfrm>
            <a:off x="457200" y="4023360"/>
            <a:ext cx="1463040"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Arial" pitchFamily="34" charset="0"/>
                <a:ea typeface="Arial" pitchFamily="34" charset="-122"/>
                <a:cs typeface="Arial" pitchFamily="34" charset="-120"/>
              </a:rPr>
              <a:t>Admin</a:t>
            </a:r>
            <a:endParaRPr lang="en-US" sz="1100" dirty="0"/>
          </a:p>
        </p:txBody>
      </p:sp>
      <p:sp>
        <p:nvSpPr>
          <p:cNvPr id="28" name="Text 26"/>
          <p:cNvSpPr/>
          <p:nvPr/>
        </p:nvSpPr>
        <p:spPr>
          <a:xfrm>
            <a:off x="2103120" y="4023360"/>
            <a:ext cx="3566160" cy="384048"/>
          </a:xfrm>
          <a:prstGeom prst="rect">
            <a:avLst/>
          </a:prstGeom>
          <a:noFill/>
          <a:ln/>
        </p:spPr>
        <p:txBody>
          <a:bodyPr wrap="square" lIns="0" tIns="0" rIns="0" bIns="0" rtlCol="0" anchor="ctr"/>
          <a:lstStyle/>
          <a:p>
            <a:pPr indent="0" marL="0">
              <a:buNone/>
            </a:pPr>
            <a:r>
              <a:rPr lang="en-US" sz="1300" dirty="0">
                <a:solidFill>
                  <a:srgbClr val="1F2937"/>
                </a:solidFill>
                <a:latin typeface="Calibri" pitchFamily="34" charset="0"/>
                <a:ea typeface="Calibri" pitchFamily="34" charset="-122"/>
                <a:cs typeface="Calibri" pitchFamily="34" charset="-120"/>
              </a:rPr>
              <a:t>Users, invite links, licenses, dashboard</a:t>
            </a:r>
            <a:endParaRPr lang="en-US" sz="1300" dirty="0"/>
          </a:p>
        </p:txBody>
      </p:sp>
      <p:sp>
        <p:nvSpPr>
          <p:cNvPr id="29" name="Text 27"/>
          <p:cNvSpPr/>
          <p:nvPr/>
        </p:nvSpPr>
        <p:spPr>
          <a:xfrm>
            <a:off x="5760720" y="4023360"/>
            <a:ext cx="3017520" cy="384048"/>
          </a:xfrm>
          <a:prstGeom prst="rect">
            <a:avLst/>
          </a:prstGeom>
          <a:noFill/>
          <a:ln/>
        </p:spPr>
        <p:txBody>
          <a:bodyPr wrap="square" lIns="0" tIns="0" rIns="0" bIns="0" rtlCol="0" anchor="ctr"/>
          <a:lstStyle/>
          <a:p>
            <a:pPr indent="0" marL="0">
              <a:buNone/>
            </a:pPr>
            <a:r>
              <a:rPr lang="en-US" sz="1200" i="1" dirty="0">
                <a:solidFill>
                  <a:srgbClr val="6B7280"/>
                </a:solidFill>
                <a:latin typeface="Calibri" pitchFamily="34" charset="0"/>
                <a:ea typeface="Calibri" pitchFamily="34" charset="-122"/>
                <a:cs typeface="Calibri" pitchFamily="34" charset="-120"/>
              </a:rPr>
              <a:t>Usuarios, enlaces, licencias, tablero</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20040"/>
            <a:ext cx="1737360" cy="310896"/>
          </a:xfrm>
          <a:prstGeom prst="roundRect">
            <a:avLst>
              <a:gd name="adj" fmla="val 50000"/>
            </a:avLst>
          </a:prstGeom>
          <a:solidFill>
            <a:srgbClr val="0F1F3D"/>
          </a:solidFill>
          <a:ln w="12700">
            <a:solidFill>
              <a:srgbClr val="0F1F3D"/>
            </a:solidFill>
            <a:prstDash val="solid"/>
          </a:ln>
        </p:spPr>
      </p:sp>
      <p:sp>
        <p:nvSpPr>
          <p:cNvPr id="3" name="Text 1"/>
          <p:cNvSpPr/>
          <p:nvPr/>
        </p:nvSpPr>
        <p:spPr>
          <a:xfrm>
            <a:off x="457200" y="320040"/>
            <a:ext cx="1737360" cy="310896"/>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Arial" pitchFamily="34" charset="0"/>
                <a:ea typeface="Arial" pitchFamily="34" charset="-122"/>
                <a:cs typeface="Arial" pitchFamily="34" charset="-120"/>
              </a:rPr>
              <a:t>EVERYONE</a:t>
            </a:r>
            <a:endParaRPr lang="en-US" sz="1000" dirty="0"/>
          </a:p>
        </p:txBody>
      </p:sp>
      <p:sp>
        <p:nvSpPr>
          <p:cNvPr id="4" name="Text 2"/>
          <p:cNvSpPr/>
          <p:nvPr/>
        </p:nvSpPr>
        <p:spPr>
          <a:xfrm>
            <a:off x="457200" y="713232"/>
            <a:ext cx="8229600" cy="640080"/>
          </a:xfrm>
          <a:prstGeom prst="rect">
            <a:avLst/>
          </a:prstGeom>
          <a:noFill/>
          <a:ln/>
        </p:spPr>
        <p:txBody>
          <a:bodyPr wrap="square" lIns="0" tIns="0" rIns="0" bIns="0" rtlCol="0" anchor="t">
            <a:normAutofit/>
          </a:bodyPr>
          <a:lstStyle/>
          <a:p>
            <a:pPr indent="0" marL="0">
              <a:buNone/>
            </a:pPr>
            <a:r>
              <a:rPr lang="en-US" sz="2600" b="1" dirty="0">
                <a:solidFill>
                  <a:srgbClr val="0F1F3D"/>
                </a:solidFill>
                <a:latin typeface="Arial" pitchFamily="34" charset="0"/>
                <a:ea typeface="Arial" pitchFamily="34" charset="-122"/>
                <a:cs typeface="Arial" pitchFamily="34" charset="-120"/>
              </a:rPr>
              <a:t>One system, three teams, one loop</a:t>
            </a:r>
            <a:endParaRPr lang="en-US" sz="2600" dirty="0"/>
          </a:p>
        </p:txBody>
      </p:sp>
      <p:sp>
        <p:nvSpPr>
          <p:cNvPr id="5" name="Text 3"/>
          <p:cNvSpPr/>
          <p:nvPr/>
        </p:nvSpPr>
        <p:spPr>
          <a:xfrm>
            <a:off x="457200" y="4754880"/>
            <a:ext cx="5486400" cy="228600"/>
          </a:xfrm>
          <a:prstGeom prst="rect">
            <a:avLst/>
          </a:prstGeom>
          <a:noFill/>
          <a:ln/>
        </p:spPr>
        <p:txBody>
          <a:bodyPr wrap="square" lIns="0" tIns="0" rIns="0" bIns="0" rtlCol="0" anchor="ctr"/>
          <a:lstStyle/>
          <a:p>
            <a:pPr indent="0" marL="0">
              <a:buNone/>
            </a:pPr>
            <a:r>
              <a:rPr lang="en-US" sz="900" dirty="0">
                <a:solidFill>
                  <a:srgbClr val="6B7280"/>
                </a:solidFill>
                <a:latin typeface="Calibri" pitchFamily="34" charset="0"/>
                <a:ea typeface="Calibri" pitchFamily="34" charset="-122"/>
                <a:cs typeface="Calibri" pitchFamily="34" charset="-120"/>
              </a:rPr>
              <a:t>SDX Inspect · Everyone · 3</a:t>
            </a:r>
            <a:endParaRPr lang="en-US" sz="900" dirty="0"/>
          </a:p>
        </p:txBody>
      </p:sp>
      <p:sp>
        <p:nvSpPr>
          <p:cNvPr id="6" name="Shape 4"/>
          <p:cNvSpPr/>
          <p:nvPr/>
        </p:nvSpPr>
        <p:spPr>
          <a:xfrm>
            <a:off x="457200" y="1645920"/>
            <a:ext cx="1874520" cy="1097280"/>
          </a:xfrm>
          <a:prstGeom prst="roundRect">
            <a:avLst>
              <a:gd name="adj" fmla="val 10000"/>
            </a:avLst>
          </a:prstGeom>
          <a:solidFill>
            <a:srgbClr val="F5F7FB"/>
          </a:solidFill>
          <a:ln w="12700">
            <a:solidFill>
              <a:srgbClr val="D6DAE3"/>
            </a:solidFill>
            <a:prstDash val="solid"/>
          </a:ln>
        </p:spPr>
      </p:sp>
      <p:sp>
        <p:nvSpPr>
          <p:cNvPr id="7" name="Text 5"/>
          <p:cNvSpPr/>
          <p:nvPr/>
        </p:nvSpPr>
        <p:spPr>
          <a:xfrm>
            <a:off x="594360" y="1737360"/>
            <a:ext cx="1645920" cy="365760"/>
          </a:xfrm>
          <a:prstGeom prst="rect">
            <a:avLst/>
          </a:prstGeom>
          <a:noFill/>
          <a:ln/>
        </p:spPr>
        <p:txBody>
          <a:bodyPr wrap="square" lIns="0" tIns="0" rIns="0" bIns="0" rtlCol="0" anchor="ctr"/>
          <a:lstStyle/>
          <a:p>
            <a:pPr indent="0" marL="0">
              <a:buNone/>
            </a:pPr>
            <a:r>
              <a:rPr lang="en-US" sz="1400" b="1" dirty="0">
                <a:solidFill>
                  <a:srgbClr val="0F1F3D"/>
                </a:solidFill>
                <a:latin typeface="Arial" pitchFamily="34" charset="0"/>
                <a:ea typeface="Arial" pitchFamily="34" charset="-122"/>
                <a:cs typeface="Arial" pitchFamily="34" charset="-120"/>
              </a:rPr>
              <a:t>1 Walk</a:t>
            </a:r>
            <a:endParaRPr lang="en-US" sz="1400" dirty="0"/>
          </a:p>
        </p:txBody>
      </p:sp>
      <p:sp>
        <p:nvSpPr>
          <p:cNvPr id="8" name="Text 6"/>
          <p:cNvSpPr/>
          <p:nvPr/>
        </p:nvSpPr>
        <p:spPr>
          <a:xfrm>
            <a:off x="594360" y="2103120"/>
            <a:ext cx="1645920" cy="594360"/>
          </a:xfrm>
          <a:prstGeom prst="rect">
            <a:avLst/>
          </a:prstGeom>
          <a:noFill/>
          <a:ln/>
        </p:spPr>
        <p:txBody>
          <a:bodyPr wrap="square" lIns="0" tIns="0" rIns="0" bIns="0" rtlCol="0" anchor="t"/>
          <a:lstStyle/>
          <a:p>
            <a:pPr indent="0" marL="0">
              <a:buNone/>
            </a:pPr>
            <a:r>
              <a:rPr lang="en-US" sz="1150" dirty="0">
                <a:solidFill>
                  <a:srgbClr val="1F2937"/>
                </a:solidFill>
                <a:latin typeface="Calibri" pitchFamily="34" charset="0"/>
                <a:ea typeface="Calibri" pitchFamily="34" charset="-122"/>
                <a:cs typeface="Calibri" pitchFamily="34" charset="-120"/>
              </a:rPr>
              <a:t>The inspector checks the stand</a:t>
            </a:r>
            <a:endParaRPr lang="en-US" sz="1150" dirty="0"/>
          </a:p>
        </p:txBody>
      </p:sp>
      <p:sp>
        <p:nvSpPr>
          <p:cNvPr id="9" name="Text 7"/>
          <p:cNvSpPr/>
          <p:nvPr/>
        </p:nvSpPr>
        <p:spPr>
          <a:xfrm>
            <a:off x="2331720" y="1920240"/>
            <a:ext cx="274320" cy="457200"/>
          </a:xfrm>
          <a:prstGeom prst="rect">
            <a:avLst/>
          </a:prstGeom>
          <a:noFill/>
          <a:ln/>
        </p:spPr>
        <p:txBody>
          <a:bodyPr wrap="square" lIns="0" tIns="0" rIns="0" bIns="0" rtlCol="0" anchor="ctr"/>
          <a:lstStyle/>
          <a:p>
            <a:pPr algn="ctr" indent="0" marL="0">
              <a:buNone/>
            </a:pPr>
            <a:r>
              <a:rPr lang="en-US" sz="1800" dirty="0">
                <a:solidFill>
                  <a:srgbClr val="6B7280"/>
                </a:solidFill>
              </a:rPr>
              <a:t>→</a:t>
            </a:r>
            <a:endParaRPr lang="en-US" sz="1800" dirty="0"/>
          </a:p>
        </p:txBody>
      </p:sp>
      <p:sp>
        <p:nvSpPr>
          <p:cNvPr id="10" name="Shape 8"/>
          <p:cNvSpPr/>
          <p:nvPr/>
        </p:nvSpPr>
        <p:spPr>
          <a:xfrm>
            <a:off x="2606040" y="1645920"/>
            <a:ext cx="1874520" cy="1097280"/>
          </a:xfrm>
          <a:prstGeom prst="roundRect">
            <a:avLst>
              <a:gd name="adj" fmla="val 10000"/>
            </a:avLst>
          </a:prstGeom>
          <a:solidFill>
            <a:srgbClr val="F5F7FB"/>
          </a:solidFill>
          <a:ln w="12700">
            <a:solidFill>
              <a:srgbClr val="D6DAE3"/>
            </a:solidFill>
            <a:prstDash val="solid"/>
          </a:ln>
        </p:spPr>
      </p:sp>
      <p:sp>
        <p:nvSpPr>
          <p:cNvPr id="11" name="Text 9"/>
          <p:cNvSpPr/>
          <p:nvPr/>
        </p:nvSpPr>
        <p:spPr>
          <a:xfrm>
            <a:off x="2743200" y="1737360"/>
            <a:ext cx="1645920" cy="365760"/>
          </a:xfrm>
          <a:prstGeom prst="rect">
            <a:avLst/>
          </a:prstGeom>
          <a:noFill/>
          <a:ln/>
        </p:spPr>
        <p:txBody>
          <a:bodyPr wrap="square" lIns="0" tIns="0" rIns="0" bIns="0" rtlCol="0" anchor="ctr"/>
          <a:lstStyle/>
          <a:p>
            <a:pPr indent="0" marL="0">
              <a:buNone/>
            </a:pPr>
            <a:r>
              <a:rPr lang="en-US" sz="1400" b="1" dirty="0">
                <a:solidFill>
                  <a:srgbClr val="0F1F3D"/>
                </a:solidFill>
                <a:latin typeface="Arial" pitchFamily="34" charset="0"/>
                <a:ea typeface="Arial" pitchFamily="34" charset="-122"/>
                <a:cs typeface="Arial" pitchFamily="34" charset="-120"/>
              </a:rPr>
              <a:t>2 Find</a:t>
            </a:r>
            <a:endParaRPr lang="en-US" sz="1400" dirty="0"/>
          </a:p>
        </p:txBody>
      </p:sp>
      <p:sp>
        <p:nvSpPr>
          <p:cNvPr id="12" name="Text 10"/>
          <p:cNvSpPr/>
          <p:nvPr/>
        </p:nvSpPr>
        <p:spPr>
          <a:xfrm>
            <a:off x="2743200" y="2103120"/>
            <a:ext cx="1645920" cy="594360"/>
          </a:xfrm>
          <a:prstGeom prst="rect">
            <a:avLst/>
          </a:prstGeom>
          <a:noFill/>
          <a:ln/>
        </p:spPr>
        <p:txBody>
          <a:bodyPr wrap="square" lIns="0" tIns="0" rIns="0" bIns="0" rtlCol="0" anchor="t"/>
          <a:lstStyle/>
          <a:p>
            <a:pPr indent="0" marL="0">
              <a:buNone/>
            </a:pPr>
            <a:r>
              <a:rPr lang="en-US" sz="1150" dirty="0">
                <a:solidFill>
                  <a:srgbClr val="1F2937"/>
                </a:solidFill>
                <a:latin typeface="Calibri" pitchFamily="34" charset="0"/>
                <a:ea typeface="Calibri" pitchFamily="34" charset="-122"/>
                <a:cs typeface="Calibri" pitchFamily="34" charset="-120"/>
              </a:rPr>
              <a:t>Problem + BEFORE photo</a:t>
            </a:r>
            <a:endParaRPr lang="en-US" sz="1150" dirty="0"/>
          </a:p>
        </p:txBody>
      </p:sp>
      <p:sp>
        <p:nvSpPr>
          <p:cNvPr id="13" name="Text 11"/>
          <p:cNvSpPr/>
          <p:nvPr/>
        </p:nvSpPr>
        <p:spPr>
          <a:xfrm>
            <a:off x="4480560" y="1920240"/>
            <a:ext cx="274320" cy="457200"/>
          </a:xfrm>
          <a:prstGeom prst="rect">
            <a:avLst/>
          </a:prstGeom>
          <a:noFill/>
          <a:ln/>
        </p:spPr>
        <p:txBody>
          <a:bodyPr wrap="square" lIns="0" tIns="0" rIns="0" bIns="0" rtlCol="0" anchor="ctr"/>
          <a:lstStyle/>
          <a:p>
            <a:pPr algn="ctr" indent="0" marL="0">
              <a:buNone/>
            </a:pPr>
            <a:r>
              <a:rPr lang="en-US" sz="1800" dirty="0">
                <a:solidFill>
                  <a:srgbClr val="6B7280"/>
                </a:solidFill>
              </a:rPr>
              <a:t>→</a:t>
            </a:r>
            <a:endParaRPr lang="en-US" sz="1800" dirty="0"/>
          </a:p>
        </p:txBody>
      </p:sp>
      <p:sp>
        <p:nvSpPr>
          <p:cNvPr id="14" name="Shape 12"/>
          <p:cNvSpPr/>
          <p:nvPr/>
        </p:nvSpPr>
        <p:spPr>
          <a:xfrm>
            <a:off x="4754880" y="1645920"/>
            <a:ext cx="1874520" cy="1097280"/>
          </a:xfrm>
          <a:prstGeom prst="roundRect">
            <a:avLst>
              <a:gd name="adj" fmla="val 10000"/>
            </a:avLst>
          </a:prstGeom>
          <a:solidFill>
            <a:srgbClr val="F5F7FB"/>
          </a:solidFill>
          <a:ln w="12700">
            <a:solidFill>
              <a:srgbClr val="D6DAE3"/>
            </a:solidFill>
            <a:prstDash val="solid"/>
          </a:ln>
        </p:spPr>
      </p:sp>
      <p:sp>
        <p:nvSpPr>
          <p:cNvPr id="15" name="Text 13"/>
          <p:cNvSpPr/>
          <p:nvPr/>
        </p:nvSpPr>
        <p:spPr>
          <a:xfrm>
            <a:off x="4892040" y="1737360"/>
            <a:ext cx="1645920" cy="365760"/>
          </a:xfrm>
          <a:prstGeom prst="rect">
            <a:avLst/>
          </a:prstGeom>
          <a:noFill/>
          <a:ln/>
        </p:spPr>
        <p:txBody>
          <a:bodyPr wrap="square" lIns="0" tIns="0" rIns="0" bIns="0" rtlCol="0" anchor="ctr"/>
          <a:lstStyle/>
          <a:p>
            <a:pPr indent="0" marL="0">
              <a:buNone/>
            </a:pPr>
            <a:r>
              <a:rPr lang="en-US" sz="1400" b="1" dirty="0">
                <a:solidFill>
                  <a:srgbClr val="0F1F3D"/>
                </a:solidFill>
                <a:latin typeface="Arial" pitchFamily="34" charset="0"/>
                <a:ea typeface="Arial" pitchFamily="34" charset="-122"/>
                <a:cs typeface="Arial" pitchFamily="34" charset="-120"/>
              </a:rPr>
              <a:t>3 Board</a:t>
            </a:r>
            <a:endParaRPr lang="en-US" sz="1400" dirty="0"/>
          </a:p>
        </p:txBody>
      </p:sp>
      <p:sp>
        <p:nvSpPr>
          <p:cNvPr id="16" name="Text 14"/>
          <p:cNvSpPr/>
          <p:nvPr/>
        </p:nvSpPr>
        <p:spPr>
          <a:xfrm>
            <a:off x="4892040" y="2103120"/>
            <a:ext cx="1645920" cy="594360"/>
          </a:xfrm>
          <a:prstGeom prst="rect">
            <a:avLst/>
          </a:prstGeom>
          <a:noFill/>
          <a:ln/>
        </p:spPr>
        <p:txBody>
          <a:bodyPr wrap="square" lIns="0" tIns="0" rIns="0" bIns="0" rtlCol="0" anchor="t"/>
          <a:lstStyle/>
          <a:p>
            <a:pPr indent="0" marL="0">
              <a:buNone/>
            </a:pPr>
            <a:r>
              <a:rPr lang="en-US" sz="1150" dirty="0">
                <a:solidFill>
                  <a:srgbClr val="1F2937"/>
                </a:solidFill>
                <a:latin typeface="Calibri" pitchFamily="34" charset="0"/>
                <a:ea typeface="Calibri" pitchFamily="34" charset="-122"/>
                <a:cs typeface="Calibri" pitchFamily="34" charset="-120"/>
              </a:rPr>
              <a:t>Lands with the right crew</a:t>
            </a:r>
            <a:endParaRPr lang="en-US" sz="1150" dirty="0"/>
          </a:p>
        </p:txBody>
      </p:sp>
      <p:sp>
        <p:nvSpPr>
          <p:cNvPr id="17" name="Text 15"/>
          <p:cNvSpPr/>
          <p:nvPr/>
        </p:nvSpPr>
        <p:spPr>
          <a:xfrm>
            <a:off x="6629400" y="1920240"/>
            <a:ext cx="274320" cy="457200"/>
          </a:xfrm>
          <a:prstGeom prst="rect">
            <a:avLst/>
          </a:prstGeom>
          <a:noFill/>
          <a:ln/>
        </p:spPr>
        <p:txBody>
          <a:bodyPr wrap="square" lIns="0" tIns="0" rIns="0" bIns="0" rtlCol="0" anchor="ctr"/>
          <a:lstStyle/>
          <a:p>
            <a:pPr algn="ctr" indent="0" marL="0">
              <a:buNone/>
            </a:pPr>
            <a:r>
              <a:rPr lang="en-US" sz="1800" dirty="0">
                <a:solidFill>
                  <a:srgbClr val="6B7280"/>
                </a:solidFill>
              </a:rPr>
              <a:t>→</a:t>
            </a:r>
            <a:endParaRPr lang="en-US" sz="1800" dirty="0"/>
          </a:p>
        </p:txBody>
      </p:sp>
      <p:sp>
        <p:nvSpPr>
          <p:cNvPr id="18" name="Shape 16"/>
          <p:cNvSpPr/>
          <p:nvPr/>
        </p:nvSpPr>
        <p:spPr>
          <a:xfrm>
            <a:off x="6903720" y="1645920"/>
            <a:ext cx="1874520" cy="1097280"/>
          </a:xfrm>
          <a:prstGeom prst="roundRect">
            <a:avLst>
              <a:gd name="adj" fmla="val 10000"/>
            </a:avLst>
          </a:prstGeom>
          <a:solidFill>
            <a:srgbClr val="F5F7FB"/>
          </a:solidFill>
          <a:ln w="12700">
            <a:solidFill>
              <a:srgbClr val="D6DAE3"/>
            </a:solidFill>
            <a:prstDash val="solid"/>
          </a:ln>
        </p:spPr>
      </p:sp>
      <p:sp>
        <p:nvSpPr>
          <p:cNvPr id="19" name="Text 17"/>
          <p:cNvSpPr/>
          <p:nvPr/>
        </p:nvSpPr>
        <p:spPr>
          <a:xfrm>
            <a:off x="7040880" y="1737360"/>
            <a:ext cx="1645920" cy="365760"/>
          </a:xfrm>
          <a:prstGeom prst="rect">
            <a:avLst/>
          </a:prstGeom>
          <a:noFill/>
          <a:ln/>
        </p:spPr>
        <p:txBody>
          <a:bodyPr wrap="square" lIns="0" tIns="0" rIns="0" bIns="0" rtlCol="0" anchor="ctr"/>
          <a:lstStyle/>
          <a:p>
            <a:pPr indent="0" marL="0">
              <a:buNone/>
            </a:pPr>
            <a:r>
              <a:rPr lang="en-US" sz="1400" b="1" dirty="0">
                <a:solidFill>
                  <a:srgbClr val="0F1F3D"/>
                </a:solidFill>
                <a:latin typeface="Arial" pitchFamily="34" charset="0"/>
                <a:ea typeface="Arial" pitchFamily="34" charset="-122"/>
                <a:cs typeface="Arial" pitchFamily="34" charset="-120"/>
              </a:rPr>
              <a:t>4 Fix</a:t>
            </a:r>
            <a:endParaRPr lang="en-US" sz="1400" dirty="0"/>
          </a:p>
        </p:txBody>
      </p:sp>
      <p:sp>
        <p:nvSpPr>
          <p:cNvPr id="20" name="Text 18"/>
          <p:cNvSpPr/>
          <p:nvPr/>
        </p:nvSpPr>
        <p:spPr>
          <a:xfrm>
            <a:off x="7040880" y="2103120"/>
            <a:ext cx="1645920" cy="594360"/>
          </a:xfrm>
          <a:prstGeom prst="rect">
            <a:avLst/>
          </a:prstGeom>
          <a:noFill/>
          <a:ln/>
        </p:spPr>
        <p:txBody>
          <a:bodyPr wrap="square" lIns="0" tIns="0" rIns="0" bIns="0" rtlCol="0" anchor="t"/>
          <a:lstStyle/>
          <a:p>
            <a:pPr indent="0" marL="0">
              <a:buNone/>
            </a:pPr>
            <a:r>
              <a:rPr lang="en-US" sz="1150" dirty="0">
                <a:solidFill>
                  <a:srgbClr val="1F2937"/>
                </a:solidFill>
                <a:latin typeface="Calibri" pitchFamily="34" charset="0"/>
                <a:ea typeface="Calibri" pitchFamily="34" charset="-122"/>
                <a:cs typeface="Calibri" pitchFamily="34" charset="-120"/>
              </a:rPr>
              <a:t>In process → AFTER photo → Fixed</a:t>
            </a:r>
            <a:endParaRPr lang="en-US" sz="1150" dirty="0"/>
          </a:p>
        </p:txBody>
      </p:sp>
      <p:sp>
        <p:nvSpPr>
          <p:cNvPr id="21" name="Shape 19"/>
          <p:cNvSpPr/>
          <p:nvPr/>
        </p:nvSpPr>
        <p:spPr>
          <a:xfrm>
            <a:off x="457200" y="3063240"/>
            <a:ext cx="1874520" cy="1097280"/>
          </a:xfrm>
          <a:prstGeom prst="roundRect">
            <a:avLst>
              <a:gd name="adj" fmla="val 10000"/>
            </a:avLst>
          </a:prstGeom>
          <a:solidFill>
            <a:srgbClr val="FFD166"/>
          </a:solidFill>
          <a:ln w="12700">
            <a:solidFill>
              <a:srgbClr val="FFD166"/>
            </a:solidFill>
            <a:prstDash val="solid"/>
          </a:ln>
        </p:spPr>
      </p:sp>
      <p:sp>
        <p:nvSpPr>
          <p:cNvPr id="22" name="Text 20"/>
          <p:cNvSpPr/>
          <p:nvPr/>
        </p:nvSpPr>
        <p:spPr>
          <a:xfrm>
            <a:off x="594360" y="3154680"/>
            <a:ext cx="1645920" cy="365760"/>
          </a:xfrm>
          <a:prstGeom prst="rect">
            <a:avLst/>
          </a:prstGeom>
          <a:noFill/>
          <a:ln/>
        </p:spPr>
        <p:txBody>
          <a:bodyPr wrap="square" lIns="0" tIns="0" rIns="0" bIns="0" rtlCol="0" anchor="ctr"/>
          <a:lstStyle/>
          <a:p>
            <a:pPr indent="0" marL="0">
              <a:buNone/>
            </a:pPr>
            <a:r>
              <a:rPr lang="en-US" sz="1400" b="1" dirty="0">
                <a:solidFill>
                  <a:srgbClr val="0F1F3D"/>
                </a:solidFill>
                <a:latin typeface="Arial" pitchFamily="34" charset="0"/>
                <a:ea typeface="Arial" pitchFamily="34" charset="-122"/>
                <a:cs typeface="Arial" pitchFamily="34" charset="-120"/>
              </a:rPr>
              <a:t>5 Stand</a:t>
            </a:r>
            <a:endParaRPr lang="en-US" sz="1400" dirty="0"/>
          </a:p>
        </p:txBody>
      </p:sp>
      <p:sp>
        <p:nvSpPr>
          <p:cNvPr id="23" name="Text 21"/>
          <p:cNvSpPr/>
          <p:nvPr/>
        </p:nvSpPr>
        <p:spPr>
          <a:xfrm>
            <a:off x="594360" y="3520440"/>
            <a:ext cx="1645920" cy="594360"/>
          </a:xfrm>
          <a:prstGeom prst="rect">
            <a:avLst/>
          </a:prstGeom>
          <a:noFill/>
          <a:ln/>
        </p:spPr>
        <p:txBody>
          <a:bodyPr wrap="square" lIns="0" tIns="0" rIns="0" bIns="0" rtlCol="0" anchor="t"/>
          <a:lstStyle/>
          <a:p>
            <a:pPr indent="0" marL="0">
              <a:buNone/>
            </a:pPr>
            <a:r>
              <a:rPr lang="en-US" sz="1150" dirty="0">
                <a:solidFill>
                  <a:srgbClr val="1F2937"/>
                </a:solidFill>
                <a:latin typeface="Calibri" pitchFamily="34" charset="0"/>
                <a:ea typeface="Calibri" pitchFamily="34" charset="-122"/>
                <a:cs typeface="Calibri" pitchFamily="34" charset="-120"/>
              </a:rPr>
              <a:t>Scans the poster: temps, problems</a:t>
            </a:r>
            <a:endParaRPr lang="en-US" sz="1150" dirty="0"/>
          </a:p>
        </p:txBody>
      </p:sp>
      <p:sp>
        <p:nvSpPr>
          <p:cNvPr id="24" name="Text 22"/>
          <p:cNvSpPr/>
          <p:nvPr/>
        </p:nvSpPr>
        <p:spPr>
          <a:xfrm>
            <a:off x="2331720" y="3337560"/>
            <a:ext cx="274320" cy="457200"/>
          </a:xfrm>
          <a:prstGeom prst="rect">
            <a:avLst/>
          </a:prstGeom>
          <a:noFill/>
          <a:ln/>
        </p:spPr>
        <p:txBody>
          <a:bodyPr wrap="square" lIns="0" tIns="0" rIns="0" bIns="0" rtlCol="0" anchor="ctr"/>
          <a:lstStyle/>
          <a:p>
            <a:pPr algn="ctr" indent="0" marL="0">
              <a:buNone/>
            </a:pPr>
            <a:r>
              <a:rPr lang="en-US" sz="1800" dirty="0">
                <a:solidFill>
                  <a:srgbClr val="6B7280"/>
                </a:solidFill>
              </a:rPr>
              <a:t>→</a:t>
            </a:r>
            <a:endParaRPr lang="en-US" sz="1800" dirty="0"/>
          </a:p>
        </p:txBody>
      </p:sp>
      <p:sp>
        <p:nvSpPr>
          <p:cNvPr id="25" name="Shape 23"/>
          <p:cNvSpPr/>
          <p:nvPr/>
        </p:nvSpPr>
        <p:spPr>
          <a:xfrm>
            <a:off x="2606040" y="3063240"/>
            <a:ext cx="1874520" cy="1097280"/>
          </a:xfrm>
          <a:prstGeom prst="roundRect">
            <a:avLst>
              <a:gd name="adj" fmla="val 10000"/>
            </a:avLst>
          </a:prstGeom>
          <a:solidFill>
            <a:srgbClr val="F5F7FB"/>
          </a:solidFill>
          <a:ln w="12700">
            <a:solidFill>
              <a:srgbClr val="D6DAE3"/>
            </a:solidFill>
            <a:prstDash val="solid"/>
          </a:ln>
        </p:spPr>
      </p:sp>
      <p:sp>
        <p:nvSpPr>
          <p:cNvPr id="26" name="Text 24"/>
          <p:cNvSpPr/>
          <p:nvPr/>
        </p:nvSpPr>
        <p:spPr>
          <a:xfrm>
            <a:off x="2743200" y="3154680"/>
            <a:ext cx="1645920" cy="365760"/>
          </a:xfrm>
          <a:prstGeom prst="rect">
            <a:avLst/>
          </a:prstGeom>
          <a:noFill/>
          <a:ln/>
        </p:spPr>
        <p:txBody>
          <a:bodyPr wrap="square" lIns="0" tIns="0" rIns="0" bIns="0" rtlCol="0" anchor="ctr"/>
          <a:lstStyle/>
          <a:p>
            <a:pPr indent="0" marL="0">
              <a:buNone/>
            </a:pPr>
            <a:r>
              <a:rPr lang="en-US" sz="1400" b="1" dirty="0">
                <a:solidFill>
                  <a:srgbClr val="0F1F3D"/>
                </a:solidFill>
                <a:latin typeface="Arial" pitchFamily="34" charset="0"/>
                <a:ea typeface="Arial" pitchFamily="34" charset="-122"/>
                <a:cs typeface="Arial" pitchFamily="34" charset="-120"/>
              </a:rPr>
              <a:t>6 Announce</a:t>
            </a:r>
            <a:endParaRPr lang="en-US" sz="1400" dirty="0"/>
          </a:p>
        </p:txBody>
      </p:sp>
      <p:sp>
        <p:nvSpPr>
          <p:cNvPr id="27" name="Text 25"/>
          <p:cNvSpPr/>
          <p:nvPr/>
        </p:nvSpPr>
        <p:spPr>
          <a:xfrm>
            <a:off x="2743200" y="3520440"/>
            <a:ext cx="1645920" cy="594360"/>
          </a:xfrm>
          <a:prstGeom prst="rect">
            <a:avLst/>
          </a:prstGeom>
          <a:noFill/>
          <a:ln/>
        </p:spPr>
        <p:txBody>
          <a:bodyPr wrap="square" lIns="0" tIns="0" rIns="0" bIns="0" rtlCol="0" anchor="t"/>
          <a:lstStyle/>
          <a:p>
            <a:pPr indent="0" marL="0">
              <a:buNone/>
            </a:pPr>
            <a:r>
              <a:rPr lang="en-US" sz="1150" dirty="0">
                <a:solidFill>
                  <a:srgbClr val="1F2937"/>
                </a:solidFill>
                <a:latin typeface="Calibri" pitchFamily="34" charset="0"/>
                <a:ea typeface="Calibri" pitchFamily="34" charset="-122"/>
                <a:cs typeface="Calibri" pitchFamily="34" charset="-120"/>
              </a:rPr>
              <a:t>One message to every stand</a:t>
            </a:r>
            <a:endParaRPr lang="en-US" sz="1150" dirty="0"/>
          </a:p>
        </p:txBody>
      </p:sp>
      <p:sp>
        <p:nvSpPr>
          <p:cNvPr id="28" name="Text 26"/>
          <p:cNvSpPr/>
          <p:nvPr/>
        </p:nvSpPr>
        <p:spPr>
          <a:xfrm>
            <a:off x="4480560" y="3337560"/>
            <a:ext cx="274320" cy="457200"/>
          </a:xfrm>
          <a:prstGeom prst="rect">
            <a:avLst/>
          </a:prstGeom>
          <a:noFill/>
          <a:ln/>
        </p:spPr>
        <p:txBody>
          <a:bodyPr wrap="square" lIns="0" tIns="0" rIns="0" bIns="0" rtlCol="0" anchor="ctr"/>
          <a:lstStyle/>
          <a:p>
            <a:pPr algn="ctr" indent="0" marL="0">
              <a:buNone/>
            </a:pPr>
            <a:r>
              <a:rPr lang="en-US" sz="1800" dirty="0">
                <a:solidFill>
                  <a:srgbClr val="6B7280"/>
                </a:solidFill>
              </a:rPr>
              <a:t>→</a:t>
            </a:r>
            <a:endParaRPr lang="en-US" sz="1800" dirty="0"/>
          </a:p>
        </p:txBody>
      </p:sp>
      <p:sp>
        <p:nvSpPr>
          <p:cNvPr id="29" name="Shape 27"/>
          <p:cNvSpPr/>
          <p:nvPr/>
        </p:nvSpPr>
        <p:spPr>
          <a:xfrm>
            <a:off x="4754880" y="3063240"/>
            <a:ext cx="1874520" cy="1097280"/>
          </a:xfrm>
          <a:prstGeom prst="roundRect">
            <a:avLst>
              <a:gd name="adj" fmla="val 10000"/>
            </a:avLst>
          </a:prstGeom>
          <a:solidFill>
            <a:srgbClr val="F5F7FB"/>
          </a:solidFill>
          <a:ln w="12700">
            <a:solidFill>
              <a:srgbClr val="D6DAE3"/>
            </a:solidFill>
            <a:prstDash val="solid"/>
          </a:ln>
        </p:spPr>
      </p:sp>
      <p:sp>
        <p:nvSpPr>
          <p:cNvPr id="30" name="Text 28"/>
          <p:cNvSpPr/>
          <p:nvPr/>
        </p:nvSpPr>
        <p:spPr>
          <a:xfrm>
            <a:off x="4892040" y="3154680"/>
            <a:ext cx="1645920" cy="365760"/>
          </a:xfrm>
          <a:prstGeom prst="rect">
            <a:avLst/>
          </a:prstGeom>
          <a:noFill/>
          <a:ln/>
        </p:spPr>
        <p:txBody>
          <a:bodyPr wrap="square" lIns="0" tIns="0" rIns="0" bIns="0" rtlCol="0" anchor="ctr"/>
          <a:lstStyle/>
          <a:p>
            <a:pPr indent="0" marL="0">
              <a:buNone/>
            </a:pPr>
            <a:r>
              <a:rPr lang="en-US" sz="1400" b="1" dirty="0">
                <a:solidFill>
                  <a:srgbClr val="0F1F3D"/>
                </a:solidFill>
                <a:latin typeface="Arial" pitchFamily="34" charset="0"/>
                <a:ea typeface="Arial" pitchFamily="34" charset="-122"/>
                <a:cs typeface="Arial" pitchFamily="34" charset="-120"/>
              </a:rPr>
              <a:t>7 Verify</a:t>
            </a:r>
            <a:endParaRPr lang="en-US" sz="1400" dirty="0"/>
          </a:p>
        </p:txBody>
      </p:sp>
      <p:sp>
        <p:nvSpPr>
          <p:cNvPr id="31" name="Text 29"/>
          <p:cNvSpPr/>
          <p:nvPr/>
        </p:nvSpPr>
        <p:spPr>
          <a:xfrm>
            <a:off x="4892040" y="3520440"/>
            <a:ext cx="1645920" cy="594360"/>
          </a:xfrm>
          <a:prstGeom prst="rect">
            <a:avLst/>
          </a:prstGeom>
          <a:noFill/>
          <a:ln/>
        </p:spPr>
        <p:txBody>
          <a:bodyPr wrap="square" lIns="0" tIns="0" rIns="0" bIns="0" rtlCol="0" anchor="t"/>
          <a:lstStyle/>
          <a:p>
            <a:pPr indent="0" marL="0">
              <a:buNone/>
            </a:pPr>
            <a:r>
              <a:rPr lang="en-US" sz="1150" dirty="0">
                <a:solidFill>
                  <a:srgbClr val="1F2937"/>
                </a:solidFill>
                <a:latin typeface="Calibri" pitchFamily="34" charset="0"/>
                <a:ea typeface="Calibri" pitchFamily="34" charset="-122"/>
                <a:cs typeface="Calibri" pitchFamily="34" charset="-120"/>
              </a:rPr>
              <a:t>Inspector sees Before / After</a:t>
            </a:r>
            <a:endParaRPr lang="en-US" sz="11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20040"/>
            <a:ext cx="1737360" cy="310896"/>
          </a:xfrm>
          <a:prstGeom prst="roundRect">
            <a:avLst>
              <a:gd name="adj" fmla="val 50000"/>
            </a:avLst>
          </a:prstGeom>
          <a:solidFill>
            <a:srgbClr val="0F1F3D"/>
          </a:solidFill>
          <a:ln w="12700">
            <a:solidFill>
              <a:srgbClr val="0F1F3D"/>
            </a:solidFill>
            <a:prstDash val="solid"/>
          </a:ln>
        </p:spPr>
      </p:sp>
      <p:sp>
        <p:nvSpPr>
          <p:cNvPr id="3" name="Text 1"/>
          <p:cNvSpPr/>
          <p:nvPr/>
        </p:nvSpPr>
        <p:spPr>
          <a:xfrm>
            <a:off x="457200" y="320040"/>
            <a:ext cx="1737360" cy="310896"/>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Arial" pitchFamily="34" charset="0"/>
                <a:ea typeface="Arial" pitchFamily="34" charset="-122"/>
                <a:cs typeface="Arial" pitchFamily="34" charset="-120"/>
              </a:rPr>
              <a:t>EVERYONE</a:t>
            </a:r>
            <a:endParaRPr lang="en-US" sz="1000" dirty="0"/>
          </a:p>
        </p:txBody>
      </p:sp>
      <p:sp>
        <p:nvSpPr>
          <p:cNvPr id="4" name="Text 2"/>
          <p:cNvSpPr/>
          <p:nvPr/>
        </p:nvSpPr>
        <p:spPr>
          <a:xfrm>
            <a:off x="457200" y="713232"/>
            <a:ext cx="8229600" cy="640080"/>
          </a:xfrm>
          <a:prstGeom prst="rect">
            <a:avLst/>
          </a:prstGeom>
          <a:noFill/>
          <a:ln/>
        </p:spPr>
        <p:txBody>
          <a:bodyPr wrap="square" lIns="0" tIns="0" rIns="0" bIns="0" rtlCol="0" anchor="t">
            <a:normAutofit/>
          </a:bodyPr>
          <a:lstStyle/>
          <a:p>
            <a:pPr indent="0" marL="0">
              <a:buNone/>
            </a:pPr>
            <a:r>
              <a:rPr lang="en-US" sz="2600" b="1" dirty="0">
                <a:solidFill>
                  <a:srgbClr val="0F1F3D"/>
                </a:solidFill>
                <a:latin typeface="Arial" pitchFamily="34" charset="0"/>
                <a:ea typeface="Arial" pitchFamily="34" charset="-122"/>
                <a:cs typeface="Arial" pitchFamily="34" charset="-120"/>
              </a:rPr>
              <a:t>Any phone, any iPad, any desktop — one link</a:t>
            </a:r>
            <a:endParaRPr lang="en-US" sz="2600" dirty="0"/>
          </a:p>
        </p:txBody>
      </p:sp>
      <p:sp>
        <p:nvSpPr>
          <p:cNvPr id="5" name="Text 3"/>
          <p:cNvSpPr/>
          <p:nvPr/>
        </p:nvSpPr>
        <p:spPr>
          <a:xfrm>
            <a:off x="457200" y="4754880"/>
            <a:ext cx="5486400" cy="228600"/>
          </a:xfrm>
          <a:prstGeom prst="rect">
            <a:avLst/>
          </a:prstGeom>
          <a:noFill/>
          <a:ln/>
        </p:spPr>
        <p:txBody>
          <a:bodyPr wrap="square" lIns="0" tIns="0" rIns="0" bIns="0" rtlCol="0" anchor="ctr"/>
          <a:lstStyle/>
          <a:p>
            <a:pPr indent="0" marL="0">
              <a:buNone/>
            </a:pPr>
            <a:r>
              <a:rPr lang="en-US" sz="900" dirty="0">
                <a:solidFill>
                  <a:srgbClr val="6B7280"/>
                </a:solidFill>
                <a:latin typeface="Calibri" pitchFamily="34" charset="0"/>
                <a:ea typeface="Calibri" pitchFamily="34" charset="-122"/>
                <a:cs typeface="Calibri" pitchFamily="34" charset="-120"/>
              </a:rPr>
              <a:t>SDX Inspect · Everyone · 4</a:t>
            </a:r>
            <a:endParaRPr lang="en-US" sz="900" dirty="0"/>
          </a:p>
        </p:txBody>
      </p:sp>
      <p:sp>
        <p:nvSpPr>
          <p:cNvPr id="6" name="Text 4"/>
          <p:cNvSpPr/>
          <p:nvPr/>
        </p:nvSpPr>
        <p:spPr>
          <a:xfrm>
            <a:off x="457200" y="1508760"/>
            <a:ext cx="3291840" cy="3108960"/>
          </a:xfrm>
          <a:prstGeom prst="rect">
            <a:avLst/>
          </a:prstGeom>
          <a:noFill/>
          <a:ln/>
        </p:spPr>
        <p:txBody>
          <a:bodyPr wrap="square" lIns="0" tIns="0" rIns="0" bIns="0" rtlCol="0" anchor="t">
            <a:normAutofit/>
          </a:bodyPr>
          <a:lstStyle/>
          <a:p>
            <a:pPr marL="177800" indent="-177800">
              <a:spcAft>
                <a:spcPts val="700"/>
              </a:spcAft>
              <a:buSzPct val="100000"/>
              <a:buChar char="•"/>
            </a:pPr>
            <a:r>
              <a:rPr lang="en-US" sz="1300" dirty="0">
                <a:solidFill>
                  <a:srgbClr val="1F2937"/>
                </a:solidFill>
                <a:latin typeface="Calibri" pitchFamily="34" charset="0"/>
                <a:ea typeface="Calibri" pitchFamily="34" charset="-122"/>
                <a:cs typeface="Calibri" pitchFamily="34" charset="-120"/>
              </a:rPr>
              <a:t>Nothing to install. Open the link, sign in with your badge.</a:t>
            </a:r>
            <a:endParaRPr lang="en-US" sz="1300" dirty="0"/>
          </a:p>
          <a:p>
            <a:pPr marL="177800" indent="-177800">
              <a:spcAft>
                <a:spcPts val="700"/>
              </a:spcAft>
              <a:buSzPct val="100000"/>
              <a:buChar char="•"/>
            </a:pPr>
            <a:r>
              <a:rPr lang="en-US" sz="1300" dirty="0">
                <a:solidFill>
                  <a:srgbClr val="1F2937"/>
                </a:solidFill>
                <a:latin typeface="Calibri" pitchFamily="34" charset="0"/>
                <a:ea typeface="Calibri" pitchFamily="34" charset="-122"/>
                <a:cs typeface="Calibri" pitchFamily="34" charset="-120"/>
              </a:rPr>
              <a:t>Phone in the field, iPad on the walk, desktop in the office.</a:t>
            </a:r>
            <a:endParaRPr lang="en-US" sz="1300" dirty="0"/>
          </a:p>
          <a:p>
            <a:pPr marL="177800" indent="-177800">
              <a:spcAft>
                <a:spcPts val="700"/>
              </a:spcAft>
              <a:buSzPct val="100000"/>
              <a:buChar char="•"/>
            </a:pPr>
            <a:r>
              <a:rPr lang="en-US" sz="1300" dirty="0">
                <a:solidFill>
                  <a:srgbClr val="1F2937"/>
                </a:solidFill>
                <a:latin typeface="Calibri" pitchFamily="34" charset="0"/>
                <a:ea typeface="Calibri" pitchFamily="34" charset="-122"/>
                <a:cs typeface="Calibri" pitchFamily="34" charset="-120"/>
              </a:rPr>
              <a:t>🌐 on every screen: 18 languages. Portal and crew boards are native EN / ES.</a:t>
            </a:r>
            <a:endParaRPr lang="en-US" sz="1300" dirty="0"/>
          </a:p>
          <a:p>
            <a:pPr marL="177800" indent="-177800">
              <a:spcAft>
                <a:spcPts val="700"/>
              </a:spcAft>
              <a:buSzPct val="100000"/>
              <a:buChar char="•"/>
            </a:pPr>
            <a:r>
              <a:rPr lang="en-US" sz="1300" dirty="0">
                <a:solidFill>
                  <a:srgbClr val="1F2937"/>
                </a:solidFill>
                <a:latin typeface="Calibri" pitchFamily="34" charset="0"/>
                <a:ea typeface="Calibri" pitchFamily="34" charset="-122"/>
                <a:cs typeface="Calibri" pitchFamily="34" charset="-120"/>
              </a:rPr>
              <a:t>New version? A bar at the bottom says Reload. Finish and save first.</a:t>
            </a:r>
            <a:endParaRPr lang="en-US" sz="1300" dirty="0"/>
          </a:p>
        </p:txBody>
      </p:sp>
      <p:sp>
        <p:nvSpPr>
          <p:cNvPr id="7" name="Shape 5"/>
          <p:cNvSpPr/>
          <p:nvPr/>
        </p:nvSpPr>
        <p:spPr>
          <a:xfrm>
            <a:off x="3922776" y="1408176"/>
            <a:ext cx="1588586" cy="3310128"/>
          </a:xfrm>
          <a:prstGeom prst="roundRect">
            <a:avLst>
              <a:gd name="adj" fmla="val 12663"/>
            </a:avLst>
          </a:prstGeom>
          <a:solidFill>
            <a:srgbClr val="1F2937"/>
          </a:solidFill>
          <a:ln w="12700">
            <a:solidFill>
              <a:srgbClr val="1F2937"/>
            </a:solidFill>
            <a:prstDash val="solid"/>
          </a:ln>
        </p:spPr>
      </p:sp>
      <p:pic>
        <p:nvPicPr>
          <p:cNvPr id="8" name="Image 0" descr="/home/user/Claude/docs/training/screens/16-crew-overview.png">    </p:cNvPr>
          <p:cNvPicPr>
            <a:picLocks noChangeAspect="1"/>
          </p:cNvPicPr>
          <p:nvPr/>
        </p:nvPicPr>
        <p:blipFill>
          <a:blip r:embed="rId1"/>
          <a:stretch>
            <a:fillRect/>
          </a:stretch>
        </p:blipFill>
        <p:spPr>
          <a:xfrm>
            <a:off x="3977640" y="1463040"/>
            <a:ext cx="1478858" cy="3200400"/>
          </a:xfrm>
          <a:prstGeom prst="rect">
            <a:avLst/>
          </a:prstGeom>
        </p:spPr>
      </p:pic>
      <p:sp>
        <p:nvSpPr>
          <p:cNvPr id="9" name="Shape 6"/>
          <p:cNvSpPr/>
          <p:nvPr/>
        </p:nvSpPr>
        <p:spPr>
          <a:xfrm>
            <a:off x="5806440" y="1417320"/>
            <a:ext cx="1463040" cy="1999971"/>
          </a:xfrm>
          <a:prstGeom prst="roundRect">
            <a:avLst>
              <a:gd name="adj" fmla="val 6250"/>
            </a:avLst>
          </a:prstGeom>
          <a:solidFill>
            <a:srgbClr val="1F2937"/>
          </a:solidFill>
          <a:ln w="12700">
            <a:solidFill>
              <a:srgbClr val="1F2937"/>
            </a:solidFill>
            <a:prstDash val="solid"/>
          </a:ln>
        </p:spPr>
      </p:sp>
      <p:pic>
        <p:nvPicPr>
          <p:cNvPr id="10" name="Image 1" descr="/home/user/Claude/docs/training/screens/35-ipad-inspection-form.png">    </p:cNvPr>
          <p:cNvPicPr>
            <a:picLocks noChangeAspect="1"/>
          </p:cNvPicPr>
          <p:nvPr/>
        </p:nvPicPr>
        <p:blipFill>
          <a:blip r:embed="rId2"/>
          <a:stretch>
            <a:fillRect/>
          </a:stretch>
        </p:blipFill>
        <p:spPr>
          <a:xfrm>
            <a:off x="5852160" y="1463040"/>
            <a:ext cx="1371600" cy="1908531"/>
          </a:xfrm>
          <a:prstGeom prst="rect">
            <a:avLst/>
          </a:prstGeom>
        </p:spPr>
      </p:pic>
      <p:sp>
        <p:nvSpPr>
          <p:cNvPr id="11" name="Shape 7"/>
          <p:cNvSpPr/>
          <p:nvPr/>
        </p:nvSpPr>
        <p:spPr>
          <a:xfrm>
            <a:off x="5806440" y="3474720"/>
            <a:ext cx="2286000" cy="1412032"/>
          </a:xfrm>
          <a:prstGeom prst="roundRect">
            <a:avLst>
              <a:gd name="adj" fmla="val 6476"/>
            </a:avLst>
          </a:prstGeom>
          <a:solidFill>
            <a:srgbClr val="1F2937"/>
          </a:solidFill>
          <a:ln w="12700">
            <a:solidFill>
              <a:srgbClr val="1F2937"/>
            </a:solidFill>
            <a:prstDash val="solid"/>
          </a:ln>
        </p:spPr>
      </p:sp>
      <p:pic>
        <p:nvPicPr>
          <p:cNvPr id="12" name="Image 2" descr="/home/user/Claude/docs/training/screens/43-desktop-inspection-form.png">    </p:cNvPr>
          <p:cNvPicPr>
            <a:picLocks noChangeAspect="1"/>
          </p:cNvPicPr>
          <p:nvPr/>
        </p:nvPicPr>
        <p:blipFill>
          <a:blip r:embed="rId3"/>
          <a:stretch>
            <a:fillRect/>
          </a:stretch>
        </p:blipFill>
        <p:spPr>
          <a:xfrm>
            <a:off x="5852160" y="3520440"/>
            <a:ext cx="2194560" cy="1320592"/>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20040"/>
            <a:ext cx="1737360" cy="310896"/>
          </a:xfrm>
          <a:prstGeom prst="roundRect">
            <a:avLst>
              <a:gd name="adj" fmla="val 50000"/>
            </a:avLst>
          </a:prstGeom>
          <a:solidFill>
            <a:srgbClr val="0F1F3D"/>
          </a:solidFill>
          <a:ln w="12700">
            <a:solidFill>
              <a:srgbClr val="0F1F3D"/>
            </a:solidFill>
            <a:prstDash val="solid"/>
          </a:ln>
        </p:spPr>
      </p:sp>
      <p:sp>
        <p:nvSpPr>
          <p:cNvPr id="3" name="Text 1"/>
          <p:cNvSpPr/>
          <p:nvPr/>
        </p:nvSpPr>
        <p:spPr>
          <a:xfrm>
            <a:off x="457200" y="320040"/>
            <a:ext cx="1737360" cy="310896"/>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Arial" pitchFamily="34" charset="0"/>
                <a:ea typeface="Arial" pitchFamily="34" charset="-122"/>
                <a:cs typeface="Arial" pitchFamily="34" charset="-120"/>
              </a:rPr>
              <a:t>EVERYONE</a:t>
            </a:r>
            <a:endParaRPr lang="en-US" sz="1000" dirty="0"/>
          </a:p>
        </p:txBody>
      </p:sp>
      <p:sp>
        <p:nvSpPr>
          <p:cNvPr id="4" name="Text 2"/>
          <p:cNvSpPr/>
          <p:nvPr/>
        </p:nvSpPr>
        <p:spPr>
          <a:xfrm>
            <a:off x="457200" y="713232"/>
            <a:ext cx="8229600" cy="640080"/>
          </a:xfrm>
          <a:prstGeom prst="rect">
            <a:avLst/>
          </a:prstGeom>
          <a:noFill/>
          <a:ln/>
        </p:spPr>
        <p:txBody>
          <a:bodyPr wrap="square" lIns="0" tIns="0" rIns="0" bIns="0" rtlCol="0" anchor="t">
            <a:normAutofit/>
          </a:bodyPr>
          <a:lstStyle/>
          <a:p>
            <a:pPr indent="0" marL="0">
              <a:buNone/>
            </a:pPr>
            <a:r>
              <a:rPr lang="en-US" sz="2600" b="1" dirty="0">
                <a:solidFill>
                  <a:srgbClr val="0F1F3D"/>
                </a:solidFill>
                <a:latin typeface="Arial" pitchFamily="34" charset="0"/>
                <a:ea typeface="Arial" pitchFamily="34" charset="-122"/>
                <a:cs typeface="Arial" pitchFamily="34" charset="-120"/>
              </a:rPr>
              <a:t>Rules for everyone</a:t>
            </a:r>
            <a:endParaRPr lang="en-US" sz="2600" dirty="0"/>
          </a:p>
        </p:txBody>
      </p:sp>
      <p:sp>
        <p:nvSpPr>
          <p:cNvPr id="5" name="Text 3"/>
          <p:cNvSpPr/>
          <p:nvPr/>
        </p:nvSpPr>
        <p:spPr>
          <a:xfrm>
            <a:off x="457200" y="4754880"/>
            <a:ext cx="5486400" cy="228600"/>
          </a:xfrm>
          <a:prstGeom prst="rect">
            <a:avLst/>
          </a:prstGeom>
          <a:noFill/>
          <a:ln/>
        </p:spPr>
        <p:txBody>
          <a:bodyPr wrap="square" lIns="0" tIns="0" rIns="0" bIns="0" rtlCol="0" anchor="ctr"/>
          <a:lstStyle/>
          <a:p>
            <a:pPr indent="0" marL="0">
              <a:buNone/>
            </a:pPr>
            <a:r>
              <a:rPr lang="en-US" sz="900" dirty="0">
                <a:solidFill>
                  <a:srgbClr val="6B7280"/>
                </a:solidFill>
                <a:latin typeface="Calibri" pitchFamily="34" charset="0"/>
                <a:ea typeface="Calibri" pitchFamily="34" charset="-122"/>
                <a:cs typeface="Calibri" pitchFamily="34" charset="-120"/>
              </a:rPr>
              <a:t>SDX Inspect · Everyone · 5</a:t>
            </a:r>
            <a:endParaRPr lang="en-US" sz="900" dirty="0"/>
          </a:p>
        </p:txBody>
      </p:sp>
      <p:sp>
        <p:nvSpPr>
          <p:cNvPr id="6" name="Shape 4"/>
          <p:cNvSpPr/>
          <p:nvPr/>
        </p:nvSpPr>
        <p:spPr>
          <a:xfrm>
            <a:off x="457200" y="1463040"/>
            <a:ext cx="3977640" cy="3154680"/>
          </a:xfrm>
          <a:prstGeom prst="roundRect">
            <a:avLst>
              <a:gd name="adj" fmla="val 3478"/>
            </a:avLst>
          </a:prstGeom>
          <a:solidFill>
            <a:srgbClr val="F5F7FB"/>
          </a:solidFill>
          <a:ln w="12700">
            <a:solidFill>
              <a:srgbClr val="F5F7FB"/>
            </a:solidFill>
            <a:prstDash val="solid"/>
          </a:ln>
        </p:spPr>
      </p:sp>
      <p:sp>
        <p:nvSpPr>
          <p:cNvPr id="7" name="Shape 5"/>
          <p:cNvSpPr/>
          <p:nvPr/>
        </p:nvSpPr>
        <p:spPr>
          <a:xfrm>
            <a:off x="4709160" y="1463040"/>
            <a:ext cx="3977640" cy="3154680"/>
          </a:xfrm>
          <a:prstGeom prst="roundRect">
            <a:avLst>
              <a:gd name="adj" fmla="val 3478"/>
            </a:avLst>
          </a:prstGeom>
          <a:solidFill>
            <a:srgbClr val="F5F7FB"/>
          </a:solidFill>
          <a:ln w="12700">
            <a:solidFill>
              <a:srgbClr val="F5F7FB"/>
            </a:solidFill>
            <a:prstDash val="solid"/>
          </a:ln>
        </p:spPr>
      </p:sp>
      <p:sp>
        <p:nvSpPr>
          <p:cNvPr id="8" name="Text 6"/>
          <p:cNvSpPr/>
          <p:nvPr/>
        </p:nvSpPr>
        <p:spPr>
          <a:xfrm>
            <a:off x="685800" y="1572768"/>
            <a:ext cx="2743200" cy="274320"/>
          </a:xfrm>
          <a:prstGeom prst="rect">
            <a:avLst/>
          </a:prstGeom>
          <a:noFill/>
          <a:ln/>
        </p:spPr>
        <p:txBody>
          <a:bodyPr wrap="square" lIns="0" tIns="0" rIns="0" bIns="0" rtlCol="0" anchor="ctr"/>
          <a:lstStyle/>
          <a:p>
            <a:pPr indent="0" marL="0">
              <a:buNone/>
            </a:pPr>
            <a:r>
              <a:rPr lang="en-US" sz="1000" b="1" spc="100" kern="0" dirty="0">
                <a:solidFill>
                  <a:srgbClr val="6B7280"/>
                </a:solidFill>
                <a:latin typeface="Arial" pitchFamily="34" charset="0"/>
                <a:ea typeface="Arial" pitchFamily="34" charset="-122"/>
                <a:cs typeface="Arial" pitchFamily="34" charset="-120"/>
              </a:rPr>
              <a:t>ENGLISH</a:t>
            </a:r>
            <a:endParaRPr lang="en-US" sz="1000" dirty="0"/>
          </a:p>
        </p:txBody>
      </p:sp>
      <p:sp>
        <p:nvSpPr>
          <p:cNvPr id="9" name="Text 7"/>
          <p:cNvSpPr/>
          <p:nvPr/>
        </p:nvSpPr>
        <p:spPr>
          <a:xfrm>
            <a:off x="4937760" y="1572768"/>
            <a:ext cx="2743200" cy="274320"/>
          </a:xfrm>
          <a:prstGeom prst="rect">
            <a:avLst/>
          </a:prstGeom>
          <a:noFill/>
          <a:ln/>
        </p:spPr>
        <p:txBody>
          <a:bodyPr wrap="square" lIns="0" tIns="0" rIns="0" bIns="0" rtlCol="0" anchor="ctr"/>
          <a:lstStyle/>
          <a:p>
            <a:pPr indent="0" marL="0">
              <a:buNone/>
            </a:pPr>
            <a:r>
              <a:rPr lang="en-US" sz="1000" b="1" spc="100" kern="0" dirty="0">
                <a:solidFill>
                  <a:srgbClr val="6B7280"/>
                </a:solidFill>
                <a:latin typeface="Arial" pitchFamily="34" charset="0"/>
                <a:ea typeface="Arial" pitchFamily="34" charset="-122"/>
                <a:cs typeface="Arial" pitchFamily="34" charset="-120"/>
              </a:rPr>
              <a:t>ESPAÑOL</a:t>
            </a:r>
            <a:endParaRPr lang="en-US" sz="1000" dirty="0"/>
          </a:p>
        </p:txBody>
      </p:sp>
      <p:sp>
        <p:nvSpPr>
          <p:cNvPr id="10" name="Text 8"/>
          <p:cNvSpPr/>
          <p:nvPr/>
        </p:nvSpPr>
        <p:spPr>
          <a:xfrm>
            <a:off x="685800" y="1874520"/>
            <a:ext cx="3566160" cy="2651760"/>
          </a:xfrm>
          <a:prstGeom prst="rect">
            <a:avLst/>
          </a:prstGeom>
          <a:noFill/>
          <a:ln/>
        </p:spPr>
        <p:txBody>
          <a:bodyPr wrap="square" lIns="0" tIns="0" rIns="0" bIns="0" rtlCol="0" anchor="t">
            <a:normAutofit/>
          </a:bodyPr>
          <a:lstStyle/>
          <a:p>
            <a:pPr marL="228600" indent="-228600">
              <a:spcAft>
                <a:spcPts val="600"/>
              </a:spcAft>
              <a:buSzPct val="100000"/>
              <a:buFont typeface="+mj-lt"/>
              <a:buAutoNum type="arabicPeriod" startAt="1"/>
            </a:pPr>
            <a:r>
              <a:rPr lang="en-US" sz="1300" dirty="0">
                <a:solidFill>
                  <a:srgbClr val="1F2937"/>
                </a:solidFill>
                <a:latin typeface="Calibri" pitchFamily="34" charset="0"/>
                <a:ea typeface="Calibri" pitchFamily="34" charset="-122"/>
                <a:cs typeface="Calibri" pitchFamily="34" charset="-120"/>
              </a:rPr>
              <a:t>One QR poster per stand, inside the door.</a:t>
            </a:r>
            <a:endParaRPr lang="en-US" sz="1300" dirty="0"/>
          </a:p>
          <a:p>
            <a:pPr marL="228600" indent="-228600">
              <a:spcAft>
                <a:spcPts val="600"/>
              </a:spcAft>
              <a:buSzPct val="100000"/>
              <a:buFont typeface="+mj-lt"/>
              <a:buAutoNum type="arabicPeriod" startAt="1"/>
            </a:pPr>
            <a:r>
              <a:rPr lang="en-US" sz="1300" dirty="0">
                <a:solidFill>
                  <a:srgbClr val="1F2937"/>
                </a:solidFill>
                <a:latin typeface="Calibri" pitchFamily="34" charset="0"/>
                <a:ea typeface="Calibri" pitchFamily="34" charset="-122"/>
                <a:cs typeface="Calibri" pitchFamily="34" charset="-120"/>
              </a:rPr>
              <a:t>Every problem needs a photo and a corrective action.</a:t>
            </a:r>
            <a:endParaRPr lang="en-US" sz="1300" dirty="0"/>
          </a:p>
          <a:p>
            <a:pPr marL="228600" indent="-228600">
              <a:spcAft>
                <a:spcPts val="600"/>
              </a:spcAft>
              <a:buSzPct val="100000"/>
              <a:buFont typeface="+mj-lt"/>
              <a:buAutoNum type="arabicPeriod" startAt="1"/>
            </a:pPr>
            <a:r>
              <a:rPr lang="en-US" sz="1300" dirty="0">
                <a:solidFill>
                  <a:srgbClr val="1F2937"/>
                </a:solidFill>
                <a:latin typeface="Calibri" pitchFamily="34" charset="0"/>
                <a:ea typeface="Calibri" pitchFamily="34" charset="-122"/>
                <a:cs typeface="Calibri" pitchFamily="34" charset="-120"/>
              </a:rPr>
              <a:t>A red temperature needs a reason and what you did.</a:t>
            </a:r>
            <a:endParaRPr lang="en-US" sz="1300" dirty="0"/>
          </a:p>
          <a:p>
            <a:pPr marL="228600" indent="-228600">
              <a:spcAft>
                <a:spcPts val="600"/>
              </a:spcAft>
              <a:buSzPct val="100000"/>
              <a:buFont typeface="+mj-lt"/>
              <a:buAutoNum type="arabicPeriod" startAt="1"/>
            </a:pPr>
            <a:r>
              <a:rPr lang="en-US" sz="1300" dirty="0">
                <a:solidFill>
                  <a:srgbClr val="1F2937"/>
                </a:solidFill>
                <a:latin typeface="Calibri" pitchFamily="34" charset="0"/>
                <a:ea typeface="Calibri" pitchFamily="34" charset="-122"/>
                <a:cs typeface="Calibri" pitchFamily="34" charset="-120"/>
              </a:rPr>
              <a:t>Names, units and brands are in UPPER CASE. Every stand shows its type.</a:t>
            </a:r>
            <a:endParaRPr lang="en-US" sz="1300" dirty="0"/>
          </a:p>
          <a:p>
            <a:pPr marL="228600" indent="-228600">
              <a:spcAft>
                <a:spcPts val="600"/>
              </a:spcAft>
              <a:buSzPct val="100000"/>
              <a:buFont typeface="+mj-lt"/>
              <a:buAutoNum type="arabicPeriod" startAt="1"/>
            </a:pPr>
            <a:r>
              <a:rPr lang="en-US" sz="1300" dirty="0">
                <a:solidFill>
                  <a:srgbClr val="1F2937"/>
                </a:solidFill>
                <a:latin typeface="Calibri" pitchFamily="34" charset="0"/>
                <a:ea typeface="Calibri" pitchFamily="34" charset="-122"/>
                <a:cs typeface="Calibri" pitchFamily="34" charset="-120"/>
              </a:rPr>
              <a:t>NO LICENSE / REQUESTED shows on stands without one.</a:t>
            </a:r>
            <a:endParaRPr lang="en-US" sz="1300" dirty="0"/>
          </a:p>
          <a:p>
            <a:pPr marL="228600" indent="-228600">
              <a:spcAft>
                <a:spcPts val="600"/>
              </a:spcAft>
              <a:buSzPct val="100000"/>
              <a:buFont typeface="+mj-lt"/>
              <a:buAutoNum type="arabicPeriod" startAt="1"/>
            </a:pPr>
            <a:r>
              <a:rPr lang="en-US" sz="1300" dirty="0">
                <a:solidFill>
                  <a:srgbClr val="1F2937"/>
                </a:solidFill>
                <a:latin typeface="Calibri" pitchFamily="34" charset="0"/>
                <a:ea typeface="Calibri" pitchFamily="34" charset="-122"/>
                <a:cs typeface="Calibri" pitchFamily="34" charset="-120"/>
              </a:rPr>
              <a:t>Write it in your own words — the app reads EN and ES.</a:t>
            </a:r>
            <a:endParaRPr lang="en-US" sz="1300" dirty="0"/>
          </a:p>
        </p:txBody>
      </p:sp>
      <p:sp>
        <p:nvSpPr>
          <p:cNvPr id="11" name="Text 9"/>
          <p:cNvSpPr/>
          <p:nvPr/>
        </p:nvSpPr>
        <p:spPr>
          <a:xfrm>
            <a:off x="4937760" y="1874520"/>
            <a:ext cx="3566160" cy="2651760"/>
          </a:xfrm>
          <a:prstGeom prst="rect">
            <a:avLst/>
          </a:prstGeom>
          <a:noFill/>
          <a:ln/>
        </p:spPr>
        <p:txBody>
          <a:bodyPr wrap="square" lIns="0" tIns="0" rIns="0" bIns="0" rtlCol="0" anchor="t">
            <a:normAutofit/>
          </a:bodyPr>
          <a:lstStyle/>
          <a:p>
            <a:pPr marL="228600" indent="-228600">
              <a:spcAft>
                <a:spcPts val="600"/>
              </a:spcAft>
              <a:buSzPct val="100000"/>
              <a:buFont typeface="+mj-lt"/>
              <a:buAutoNum type="arabicPeriod" startAt="1"/>
            </a:pPr>
            <a:r>
              <a:rPr lang="en-US" sz="1300" dirty="0">
                <a:solidFill>
                  <a:srgbClr val="1F2937"/>
                </a:solidFill>
                <a:latin typeface="Calibri" pitchFamily="34" charset="0"/>
                <a:ea typeface="Calibri" pitchFamily="34" charset="-122"/>
                <a:cs typeface="Calibri" pitchFamily="34" charset="-120"/>
              </a:rPr>
              <a:t>Un cartel QR por puesto, dentro de la puerta.</a:t>
            </a:r>
            <a:endParaRPr lang="en-US" sz="1300" dirty="0"/>
          </a:p>
          <a:p>
            <a:pPr marL="228600" indent="-228600">
              <a:spcAft>
                <a:spcPts val="600"/>
              </a:spcAft>
              <a:buSzPct val="100000"/>
              <a:buFont typeface="+mj-lt"/>
              <a:buAutoNum type="arabicPeriod" startAt="1"/>
            </a:pPr>
            <a:r>
              <a:rPr lang="en-US" sz="1300" dirty="0">
                <a:solidFill>
                  <a:srgbClr val="1F2937"/>
                </a:solidFill>
                <a:latin typeface="Calibri" pitchFamily="34" charset="0"/>
                <a:ea typeface="Calibri" pitchFamily="34" charset="-122"/>
                <a:cs typeface="Calibri" pitchFamily="34" charset="-120"/>
              </a:rPr>
              <a:t>Cada problema necesita foto y acción correctiva.</a:t>
            </a:r>
            <a:endParaRPr lang="en-US" sz="1300" dirty="0"/>
          </a:p>
          <a:p>
            <a:pPr marL="228600" indent="-228600">
              <a:spcAft>
                <a:spcPts val="600"/>
              </a:spcAft>
              <a:buSzPct val="100000"/>
              <a:buFont typeface="+mj-lt"/>
              <a:buAutoNum type="arabicPeriod" startAt="1"/>
            </a:pPr>
            <a:r>
              <a:rPr lang="en-US" sz="1300" dirty="0">
                <a:solidFill>
                  <a:srgbClr val="1F2937"/>
                </a:solidFill>
                <a:latin typeface="Calibri" pitchFamily="34" charset="0"/>
                <a:ea typeface="Calibri" pitchFamily="34" charset="-122"/>
                <a:cs typeface="Calibri" pitchFamily="34" charset="-120"/>
              </a:rPr>
              <a:t>Una temperatura roja necesita razón y qué hiciste.</a:t>
            </a:r>
            <a:endParaRPr lang="en-US" sz="1300" dirty="0"/>
          </a:p>
          <a:p>
            <a:pPr marL="228600" indent="-228600">
              <a:spcAft>
                <a:spcPts val="600"/>
              </a:spcAft>
              <a:buSzPct val="100000"/>
              <a:buFont typeface="+mj-lt"/>
              <a:buAutoNum type="arabicPeriod" startAt="1"/>
            </a:pPr>
            <a:r>
              <a:rPr lang="en-US" sz="1300" dirty="0">
                <a:solidFill>
                  <a:srgbClr val="1F2937"/>
                </a:solidFill>
                <a:latin typeface="Calibri" pitchFamily="34" charset="0"/>
                <a:ea typeface="Calibri" pitchFamily="34" charset="-122"/>
                <a:cs typeface="Calibri" pitchFamily="34" charset="-120"/>
              </a:rPr>
              <a:t>Nombres, unidades y marcas en MAYÚSCULAS. Cada puesto muestra su tipo.</a:t>
            </a:r>
            <a:endParaRPr lang="en-US" sz="1300" dirty="0"/>
          </a:p>
          <a:p>
            <a:pPr marL="228600" indent="-228600">
              <a:spcAft>
                <a:spcPts val="600"/>
              </a:spcAft>
              <a:buSzPct val="100000"/>
              <a:buFont typeface="+mj-lt"/>
              <a:buAutoNum type="arabicPeriod" startAt="1"/>
            </a:pPr>
            <a:r>
              <a:rPr lang="en-US" sz="1300" dirty="0">
                <a:solidFill>
                  <a:srgbClr val="1F2937"/>
                </a:solidFill>
                <a:latin typeface="Calibri" pitchFamily="34" charset="0"/>
                <a:ea typeface="Calibri" pitchFamily="34" charset="-122"/>
                <a:cs typeface="Calibri" pitchFamily="34" charset="-120"/>
              </a:rPr>
              <a:t>NO LICENSE / REQUESTED aparece en puestos sin licencia.</a:t>
            </a:r>
            <a:endParaRPr lang="en-US" sz="1300" dirty="0"/>
          </a:p>
          <a:p>
            <a:pPr marL="228600" indent="-228600">
              <a:spcAft>
                <a:spcPts val="600"/>
              </a:spcAft>
              <a:buSzPct val="100000"/>
              <a:buFont typeface="+mj-lt"/>
              <a:buAutoNum type="arabicPeriod" startAt="1"/>
            </a:pPr>
            <a:r>
              <a:rPr lang="en-US" sz="1300" dirty="0">
                <a:solidFill>
                  <a:srgbClr val="1F2937"/>
                </a:solidFill>
                <a:latin typeface="Calibri" pitchFamily="34" charset="0"/>
                <a:ea typeface="Calibri" pitchFamily="34" charset="-122"/>
                <a:cs typeface="Calibri" pitchFamily="34" charset="-120"/>
              </a:rPr>
              <a:t>Escríbelo con tus palabras — la aplicación lee inglés y español.</a:t>
            </a:r>
            <a:endParaRPr lang="en-US" sz="13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F1F3D"/>
        </a:solidFill>
      </p:bgPr>
    </p:bg>
    <p:spTree>
      <p:nvGrpSpPr>
        <p:cNvPr id="1" name=""/>
        <p:cNvGrpSpPr/>
        <p:nvPr/>
      </p:nvGrpSpPr>
      <p:grpSpPr>
        <a:xfrm>
          <a:off x="0" y="0"/>
          <a:ext cx="0" cy="0"/>
          <a:chOff x="0" y="0"/>
          <a:chExt cx="0" cy="0"/>
        </a:xfrm>
      </p:grpSpPr>
      <p:sp>
        <p:nvSpPr>
          <p:cNvPr id="2" name="Shape 0"/>
          <p:cNvSpPr/>
          <p:nvPr/>
        </p:nvSpPr>
        <p:spPr>
          <a:xfrm>
            <a:off x="640080" y="1463040"/>
            <a:ext cx="2011680" cy="365760"/>
          </a:xfrm>
          <a:prstGeom prst="roundRect">
            <a:avLst>
              <a:gd name="adj" fmla="val 50000"/>
            </a:avLst>
          </a:prstGeom>
          <a:solidFill>
            <a:srgbClr val="0F1F3D"/>
          </a:solidFill>
          <a:ln w="12700">
            <a:solidFill>
              <a:srgbClr val="0F1F3D"/>
            </a:solidFill>
            <a:prstDash val="solid"/>
          </a:ln>
        </p:spPr>
      </p:sp>
      <p:sp>
        <p:nvSpPr>
          <p:cNvPr id="3" name="Text 1"/>
          <p:cNvSpPr/>
          <p:nvPr/>
        </p:nvSpPr>
        <p:spPr>
          <a:xfrm>
            <a:off x="640080" y="1463040"/>
            <a:ext cx="2011680" cy="365760"/>
          </a:xfrm>
          <a:prstGeom prst="rect">
            <a:avLst/>
          </a:prstGeom>
          <a:noFill/>
          <a:ln/>
        </p:spPr>
        <p:txBody>
          <a:bodyPr wrap="square" lIns="0" tIns="0" rIns="0" bIns="0" rtlCol="0" anchor="ctr"/>
          <a:lstStyle/>
          <a:p>
            <a:pPr algn="ctr" indent="0" marL="0">
              <a:buNone/>
            </a:pPr>
            <a:r>
              <a:rPr lang="en-US" sz="1200" b="1" spc="100" kern="0" dirty="0">
                <a:solidFill>
                  <a:srgbClr val="FFFFFF"/>
                </a:solidFill>
                <a:latin typeface="Arial" pitchFamily="34" charset="0"/>
                <a:ea typeface="Arial" pitchFamily="34" charset="-122"/>
                <a:cs typeface="Arial" pitchFamily="34" charset="-120"/>
              </a:rPr>
              <a:t>INSPECTOR</a:t>
            </a:r>
            <a:endParaRPr lang="en-US" sz="1200" dirty="0"/>
          </a:p>
        </p:txBody>
      </p:sp>
      <p:sp>
        <p:nvSpPr>
          <p:cNvPr id="4" name="Text 2"/>
          <p:cNvSpPr/>
          <p:nvPr/>
        </p:nvSpPr>
        <p:spPr>
          <a:xfrm>
            <a:off x="640080" y="1965960"/>
            <a:ext cx="7863840" cy="914400"/>
          </a:xfrm>
          <a:prstGeom prst="rect">
            <a:avLst/>
          </a:prstGeom>
          <a:noFill/>
          <a:ln/>
        </p:spPr>
        <p:txBody>
          <a:bodyPr wrap="square" lIns="0" tIns="0" rIns="0" bIns="0" rtlCol="0" anchor="t">
            <a:normAutofit/>
          </a:bodyPr>
          <a:lstStyle/>
          <a:p>
            <a:pPr indent="0" marL="0">
              <a:buNone/>
            </a:pPr>
            <a:r>
              <a:rPr lang="en-US" sz="3400" b="1" dirty="0">
                <a:solidFill>
                  <a:srgbClr val="FFFFFF"/>
                </a:solidFill>
                <a:latin typeface="Arial" pitchFamily="34" charset="0"/>
                <a:ea typeface="Arial" pitchFamily="34" charset="-122"/>
                <a:cs typeface="Arial" pitchFamily="34" charset="-120"/>
              </a:rPr>
              <a:t>The inspector's walk</a:t>
            </a:r>
            <a:endParaRPr lang="en-US" sz="3400" dirty="0"/>
          </a:p>
        </p:txBody>
      </p:sp>
      <p:sp>
        <p:nvSpPr>
          <p:cNvPr id="5" name="Text 3"/>
          <p:cNvSpPr/>
          <p:nvPr/>
        </p:nvSpPr>
        <p:spPr>
          <a:xfrm>
            <a:off x="640080" y="2880360"/>
            <a:ext cx="7863840" cy="548640"/>
          </a:xfrm>
          <a:prstGeom prst="rect">
            <a:avLst/>
          </a:prstGeom>
          <a:noFill/>
          <a:ln/>
        </p:spPr>
        <p:txBody>
          <a:bodyPr wrap="square" lIns="0" tIns="0" rIns="0" bIns="0" rtlCol="0" anchor="ctr"/>
          <a:lstStyle/>
          <a:p>
            <a:pPr indent="0" marL="0">
              <a:buNone/>
            </a:pPr>
            <a:r>
              <a:rPr lang="en-US" sz="2000" dirty="0">
                <a:solidFill>
                  <a:srgbClr val="9FC0FF"/>
                </a:solidFill>
                <a:latin typeface="Calibri" pitchFamily="34" charset="0"/>
                <a:ea typeface="Calibri" pitchFamily="34" charset="-122"/>
                <a:cs typeface="Calibri" pitchFamily="34" charset="-120"/>
              </a:rPr>
              <a:t>El recorrido del inspector</a:t>
            </a:r>
            <a:endParaRPr lang="en-US" sz="2000" dirty="0"/>
          </a:p>
        </p:txBody>
      </p:sp>
      <p:sp>
        <p:nvSpPr>
          <p:cNvPr id="6" name="Text 4"/>
          <p:cNvSpPr/>
          <p:nvPr/>
        </p:nvSpPr>
        <p:spPr>
          <a:xfrm>
            <a:off x="640080" y="4023360"/>
            <a:ext cx="7315200" cy="365760"/>
          </a:xfrm>
          <a:prstGeom prst="rect">
            <a:avLst/>
          </a:prstGeom>
          <a:noFill/>
          <a:ln/>
        </p:spPr>
        <p:txBody>
          <a:bodyPr wrap="square" lIns="0" tIns="0" rIns="0" bIns="0" rtlCol="0" anchor="ctr"/>
          <a:lstStyle/>
          <a:p>
            <a:pPr indent="0" marL="0">
              <a:buNone/>
            </a:pPr>
            <a:r>
              <a:rPr lang="en-US" sz="1400" dirty="0">
                <a:solidFill>
                  <a:srgbClr val="FFD166"/>
                </a:solidFill>
                <a:latin typeface="Calibri" pitchFamily="34" charset="0"/>
                <a:ea typeface="Calibri" pitchFamily="34" charset="-122"/>
                <a:cs typeface="Calibri" pitchFamily="34" charset="-120"/>
              </a:rPr>
              <a:t>20 min · demo + hands-on · scan a poster, fail one item, resolve it</a:t>
            </a:r>
            <a:endParaRPr lang="en-US" sz="14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20040"/>
            <a:ext cx="1737360" cy="310896"/>
          </a:xfrm>
          <a:prstGeom prst="roundRect">
            <a:avLst>
              <a:gd name="adj" fmla="val 50000"/>
            </a:avLst>
          </a:prstGeom>
          <a:solidFill>
            <a:srgbClr val="0F1F3D"/>
          </a:solidFill>
          <a:ln w="12700">
            <a:solidFill>
              <a:srgbClr val="0F1F3D"/>
            </a:solidFill>
            <a:prstDash val="solid"/>
          </a:ln>
        </p:spPr>
      </p:sp>
      <p:sp>
        <p:nvSpPr>
          <p:cNvPr id="3" name="Text 1"/>
          <p:cNvSpPr/>
          <p:nvPr/>
        </p:nvSpPr>
        <p:spPr>
          <a:xfrm>
            <a:off x="457200" y="320040"/>
            <a:ext cx="1737360" cy="310896"/>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Arial" pitchFamily="34" charset="0"/>
                <a:ea typeface="Arial" pitchFamily="34" charset="-122"/>
                <a:cs typeface="Arial" pitchFamily="34" charset="-120"/>
              </a:rPr>
              <a:t>INSPECTOR</a:t>
            </a:r>
            <a:endParaRPr lang="en-US" sz="1000" dirty="0"/>
          </a:p>
        </p:txBody>
      </p:sp>
      <p:sp>
        <p:nvSpPr>
          <p:cNvPr id="4" name="Text 2"/>
          <p:cNvSpPr/>
          <p:nvPr/>
        </p:nvSpPr>
        <p:spPr>
          <a:xfrm>
            <a:off x="457200" y="713232"/>
            <a:ext cx="8229600" cy="640080"/>
          </a:xfrm>
          <a:prstGeom prst="rect">
            <a:avLst/>
          </a:prstGeom>
          <a:noFill/>
          <a:ln/>
        </p:spPr>
        <p:txBody>
          <a:bodyPr wrap="square" lIns="0" tIns="0" rIns="0" bIns="0" rtlCol="0" anchor="t">
            <a:normAutofit/>
          </a:bodyPr>
          <a:lstStyle/>
          <a:p>
            <a:pPr indent="0" marL="0">
              <a:buNone/>
            </a:pPr>
            <a:r>
              <a:rPr lang="en-US" sz="2600" b="1" dirty="0">
                <a:solidFill>
                  <a:srgbClr val="0F1F3D"/>
                </a:solidFill>
                <a:latin typeface="Arial" pitchFamily="34" charset="0"/>
                <a:ea typeface="Arial" pitchFamily="34" charset="-122"/>
                <a:cs typeface="Arial" pitchFamily="34" charset="-120"/>
              </a:rPr>
              <a:t>Sign in, go on site</a:t>
            </a:r>
            <a:endParaRPr lang="en-US" sz="2600" dirty="0"/>
          </a:p>
        </p:txBody>
      </p:sp>
      <p:sp>
        <p:nvSpPr>
          <p:cNvPr id="5" name="Text 3"/>
          <p:cNvSpPr/>
          <p:nvPr/>
        </p:nvSpPr>
        <p:spPr>
          <a:xfrm>
            <a:off x="457200" y="4754880"/>
            <a:ext cx="5486400" cy="228600"/>
          </a:xfrm>
          <a:prstGeom prst="rect">
            <a:avLst/>
          </a:prstGeom>
          <a:noFill/>
          <a:ln/>
        </p:spPr>
        <p:txBody>
          <a:bodyPr wrap="square" lIns="0" tIns="0" rIns="0" bIns="0" rtlCol="0" anchor="ctr"/>
          <a:lstStyle/>
          <a:p>
            <a:pPr indent="0" marL="0">
              <a:buNone/>
            </a:pPr>
            <a:r>
              <a:rPr lang="en-US" sz="900" dirty="0">
                <a:solidFill>
                  <a:srgbClr val="6B7280"/>
                </a:solidFill>
                <a:latin typeface="Calibri" pitchFamily="34" charset="0"/>
                <a:ea typeface="Calibri" pitchFamily="34" charset="-122"/>
                <a:cs typeface="Calibri" pitchFamily="34" charset="-120"/>
              </a:rPr>
              <a:t>SDX Inspect · Inspector · 7</a:t>
            </a:r>
            <a:endParaRPr lang="en-US" sz="900" dirty="0"/>
          </a:p>
        </p:txBody>
      </p:sp>
      <p:sp>
        <p:nvSpPr>
          <p:cNvPr id="6" name="Text 4"/>
          <p:cNvSpPr/>
          <p:nvPr/>
        </p:nvSpPr>
        <p:spPr>
          <a:xfrm>
            <a:off x="457200" y="1508760"/>
            <a:ext cx="4114800" cy="3108960"/>
          </a:xfrm>
          <a:prstGeom prst="rect">
            <a:avLst/>
          </a:prstGeom>
          <a:noFill/>
          <a:ln/>
        </p:spPr>
        <p:txBody>
          <a:bodyPr wrap="square" lIns="0" tIns="0" rIns="0" bIns="0" rtlCol="0" anchor="t">
            <a:normAutofit/>
          </a:bodyPr>
          <a:lstStyle/>
          <a:p>
            <a:pPr marL="177800" indent="-177800">
              <a:spcAft>
                <a:spcPts val="700"/>
              </a:spcAft>
              <a:buSzPct val="100000"/>
              <a:buChar char="•"/>
            </a:pPr>
            <a:r>
              <a:rPr lang="en-US" sz="1400" dirty="0">
                <a:solidFill>
                  <a:srgbClr val="1F2937"/>
                </a:solidFill>
                <a:latin typeface="Calibri" pitchFamily="34" charset="0"/>
                <a:ea typeface="Calibri" pitchFamily="34" charset="-122"/>
                <a:cs typeface="Calibri" pitchFamily="34" charset="-120"/>
              </a:rPr>
              <a:t>Badge number → Sign In.</a:t>
            </a:r>
            <a:endParaRPr lang="en-US" sz="1400" dirty="0"/>
          </a:p>
          <a:p>
            <a:pPr marL="177800" indent="-177800">
              <a:spcAft>
                <a:spcPts val="700"/>
              </a:spcAft>
              <a:buSzPct val="100000"/>
              <a:buChar char="•"/>
            </a:pPr>
            <a:r>
              <a:rPr lang="en-US" sz="1400" dirty="0">
                <a:solidFill>
                  <a:srgbClr val="1F2937"/>
                </a:solidFill>
                <a:latin typeface="Calibri" pitchFamily="34" charset="0"/>
                <a:ea typeface="Calibri" pitchFamily="34" charset="-122"/>
                <a:cs typeface="Calibri" pitchFamily="34" charset="-120"/>
              </a:rPr>
              <a:t>Tap "on site" to unlock the day.</a:t>
            </a:r>
            <a:endParaRPr lang="en-US" sz="1400" dirty="0"/>
          </a:p>
          <a:p>
            <a:pPr marL="177800" indent="-177800">
              <a:spcAft>
                <a:spcPts val="700"/>
              </a:spcAft>
              <a:buSzPct val="100000"/>
              <a:buChar char="•"/>
            </a:pPr>
            <a:r>
              <a:rPr lang="en-US" sz="1400" dirty="0">
                <a:solidFill>
                  <a:srgbClr val="1F2937"/>
                </a:solidFill>
                <a:latin typeface="Calibri" pitchFamily="34" charset="0"/>
                <a:ea typeface="Calibri" pitchFamily="34" charset="-122"/>
                <a:cs typeface="Calibri" pitchFamily="34" charset="-120"/>
              </a:rPr>
              <a:t>The bell shows fixes and supervisor logs.</a:t>
            </a:r>
            <a:endParaRPr lang="en-US" sz="1400" dirty="0"/>
          </a:p>
          <a:p>
            <a:pPr marL="177800" indent="-177800">
              <a:spcAft>
                <a:spcPts val="700"/>
              </a:spcAft>
              <a:buSzPct val="100000"/>
              <a:buChar char="•"/>
            </a:pPr>
            <a:r>
              <a:rPr lang="en-US" sz="1400" dirty="0">
                <a:solidFill>
                  <a:srgbClr val="1F2937"/>
                </a:solidFill>
                <a:latin typeface="Calibri" pitchFamily="34" charset="0"/>
                <a:ea typeface="Calibri" pitchFamily="34" charset="-122"/>
                <a:cs typeface="Calibri" pitchFamily="34" charset="-120"/>
              </a:rPr>
              <a:t>Menu footer shows the app version.</a:t>
            </a:r>
            <a:endParaRPr lang="en-US" sz="1400" dirty="0"/>
          </a:p>
        </p:txBody>
      </p:sp>
      <p:sp>
        <p:nvSpPr>
          <p:cNvPr id="7" name="Shape 5"/>
          <p:cNvSpPr/>
          <p:nvPr/>
        </p:nvSpPr>
        <p:spPr>
          <a:xfrm>
            <a:off x="5065776" y="1408176"/>
            <a:ext cx="1609712" cy="3355848"/>
          </a:xfrm>
          <a:prstGeom prst="roundRect">
            <a:avLst>
              <a:gd name="adj" fmla="val 12497"/>
            </a:avLst>
          </a:prstGeom>
          <a:solidFill>
            <a:srgbClr val="1F2937"/>
          </a:solidFill>
          <a:ln w="12700">
            <a:solidFill>
              <a:srgbClr val="1F2937"/>
            </a:solidFill>
            <a:prstDash val="solid"/>
          </a:ln>
        </p:spPr>
      </p:sp>
      <p:pic>
        <p:nvPicPr>
          <p:cNvPr id="8" name="Image 0" descr="/home/user/Claude/docs/training/screens/01-login.png">    </p:cNvPr>
          <p:cNvPicPr>
            <a:picLocks noChangeAspect="1"/>
          </p:cNvPicPr>
          <p:nvPr/>
        </p:nvPicPr>
        <p:blipFill>
          <a:blip r:embed="rId1"/>
          <a:stretch>
            <a:fillRect/>
          </a:stretch>
        </p:blipFill>
        <p:spPr>
          <a:xfrm>
            <a:off x="5120640" y="1463040"/>
            <a:ext cx="1499984" cy="3246120"/>
          </a:xfrm>
          <a:prstGeom prst="rect">
            <a:avLst/>
          </a:prstGeom>
        </p:spPr>
      </p:pic>
      <p:sp>
        <p:nvSpPr>
          <p:cNvPr id="9" name="Shape 6"/>
          <p:cNvSpPr/>
          <p:nvPr/>
        </p:nvSpPr>
        <p:spPr>
          <a:xfrm>
            <a:off x="6885800" y="1408176"/>
            <a:ext cx="1609712" cy="3355848"/>
          </a:xfrm>
          <a:prstGeom prst="roundRect">
            <a:avLst>
              <a:gd name="adj" fmla="val 12497"/>
            </a:avLst>
          </a:prstGeom>
          <a:solidFill>
            <a:srgbClr val="1F2937"/>
          </a:solidFill>
          <a:ln w="12700">
            <a:solidFill>
              <a:srgbClr val="1F2937"/>
            </a:solidFill>
            <a:prstDash val="solid"/>
          </a:ln>
        </p:spPr>
      </p:sp>
      <p:pic>
        <p:nvPicPr>
          <p:cNvPr id="10" name="Image 1" descr="/home/user/Claude/docs/training/screens/02-on-site-lock.png">    </p:cNvPr>
          <p:cNvPicPr>
            <a:picLocks noChangeAspect="1"/>
          </p:cNvPicPr>
          <p:nvPr/>
        </p:nvPicPr>
        <p:blipFill>
          <a:blip r:embed="rId2"/>
          <a:stretch>
            <a:fillRect/>
          </a:stretch>
        </p:blipFill>
        <p:spPr>
          <a:xfrm>
            <a:off x="6940664" y="1463040"/>
            <a:ext cx="1499984" cy="3246120"/>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20040"/>
            <a:ext cx="1737360" cy="310896"/>
          </a:xfrm>
          <a:prstGeom prst="roundRect">
            <a:avLst>
              <a:gd name="adj" fmla="val 50000"/>
            </a:avLst>
          </a:prstGeom>
          <a:solidFill>
            <a:srgbClr val="0F1F3D"/>
          </a:solidFill>
          <a:ln w="12700">
            <a:solidFill>
              <a:srgbClr val="0F1F3D"/>
            </a:solidFill>
            <a:prstDash val="solid"/>
          </a:ln>
        </p:spPr>
      </p:sp>
      <p:sp>
        <p:nvSpPr>
          <p:cNvPr id="3" name="Text 1"/>
          <p:cNvSpPr/>
          <p:nvPr/>
        </p:nvSpPr>
        <p:spPr>
          <a:xfrm>
            <a:off x="457200" y="320040"/>
            <a:ext cx="1737360" cy="310896"/>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Arial" pitchFamily="34" charset="0"/>
                <a:ea typeface="Arial" pitchFamily="34" charset="-122"/>
                <a:cs typeface="Arial" pitchFamily="34" charset="-120"/>
              </a:rPr>
              <a:t>INSPECTOR</a:t>
            </a:r>
            <a:endParaRPr lang="en-US" sz="1000" dirty="0"/>
          </a:p>
        </p:txBody>
      </p:sp>
      <p:sp>
        <p:nvSpPr>
          <p:cNvPr id="4" name="Text 2"/>
          <p:cNvSpPr/>
          <p:nvPr/>
        </p:nvSpPr>
        <p:spPr>
          <a:xfrm>
            <a:off x="457200" y="713232"/>
            <a:ext cx="6217920" cy="640080"/>
          </a:xfrm>
          <a:prstGeom prst="rect">
            <a:avLst/>
          </a:prstGeom>
          <a:noFill/>
          <a:ln/>
        </p:spPr>
        <p:txBody>
          <a:bodyPr wrap="square" lIns="0" tIns="0" rIns="0" bIns="0" rtlCol="0" anchor="t">
            <a:normAutofit/>
          </a:bodyPr>
          <a:lstStyle/>
          <a:p>
            <a:pPr indent="0" marL="0">
              <a:buNone/>
            </a:pPr>
            <a:r>
              <a:rPr lang="en-US" sz="2600" b="1" dirty="0">
                <a:solidFill>
                  <a:srgbClr val="0F1F3D"/>
                </a:solidFill>
                <a:latin typeface="Arial" pitchFamily="34" charset="0"/>
                <a:ea typeface="Arial" pitchFamily="34" charset="-122"/>
                <a:cs typeface="Arial" pitchFamily="34" charset="-120"/>
              </a:rPr>
              <a:t>Scan the poster — the form fills itself</a:t>
            </a:r>
            <a:endParaRPr lang="en-US" sz="2600" dirty="0"/>
          </a:p>
        </p:txBody>
      </p:sp>
      <p:sp>
        <p:nvSpPr>
          <p:cNvPr id="5" name="Text 3"/>
          <p:cNvSpPr/>
          <p:nvPr/>
        </p:nvSpPr>
        <p:spPr>
          <a:xfrm>
            <a:off x="457200" y="4754880"/>
            <a:ext cx="5486400" cy="228600"/>
          </a:xfrm>
          <a:prstGeom prst="rect">
            <a:avLst/>
          </a:prstGeom>
          <a:noFill/>
          <a:ln/>
        </p:spPr>
        <p:txBody>
          <a:bodyPr wrap="square" lIns="0" tIns="0" rIns="0" bIns="0" rtlCol="0" anchor="ctr"/>
          <a:lstStyle/>
          <a:p>
            <a:pPr indent="0" marL="0">
              <a:buNone/>
            </a:pPr>
            <a:r>
              <a:rPr lang="en-US" sz="900" dirty="0">
                <a:solidFill>
                  <a:srgbClr val="6B7280"/>
                </a:solidFill>
                <a:latin typeface="Calibri" pitchFamily="34" charset="0"/>
                <a:ea typeface="Calibri" pitchFamily="34" charset="-122"/>
                <a:cs typeface="Calibri" pitchFamily="34" charset="-120"/>
              </a:rPr>
              <a:t>SDX Inspect · Inspector · 8</a:t>
            </a:r>
            <a:endParaRPr lang="en-US" sz="900" dirty="0"/>
          </a:p>
        </p:txBody>
      </p:sp>
      <p:sp>
        <p:nvSpPr>
          <p:cNvPr id="6" name="Text 4"/>
          <p:cNvSpPr/>
          <p:nvPr/>
        </p:nvSpPr>
        <p:spPr>
          <a:xfrm>
            <a:off x="457200" y="1508760"/>
            <a:ext cx="5669280" cy="3108960"/>
          </a:xfrm>
          <a:prstGeom prst="rect">
            <a:avLst/>
          </a:prstGeom>
          <a:noFill/>
          <a:ln/>
        </p:spPr>
        <p:txBody>
          <a:bodyPr wrap="square" lIns="0" tIns="0" rIns="0" bIns="0" rtlCol="0" anchor="t">
            <a:normAutofit/>
          </a:bodyPr>
          <a:lstStyle/>
          <a:p>
            <a:pPr marL="177800" indent="-177800">
              <a:spcAft>
                <a:spcPts val="700"/>
              </a:spcAft>
              <a:buSzPct val="100000"/>
              <a:buChar char="•"/>
            </a:pPr>
            <a:r>
              <a:rPr lang="en-US" sz="1500" dirty="0">
                <a:solidFill>
                  <a:srgbClr val="1F2937"/>
                </a:solidFill>
                <a:latin typeface="Calibri" pitchFamily="34" charset="0"/>
                <a:ea typeface="Calibri" pitchFamily="34" charset="-122"/>
                <a:cs typeface="Calibri" pitchFamily="34" charset="-120"/>
              </a:rPr>
              <a:t>📷 Scan stand QR in the form header.</a:t>
            </a:r>
            <a:endParaRPr lang="en-US" sz="1500" dirty="0"/>
          </a:p>
          <a:p>
            <a:pPr marL="177800" indent="-177800">
              <a:spcAft>
                <a:spcPts val="700"/>
              </a:spcAft>
              <a:buSzPct val="100000"/>
              <a:buChar char="•"/>
            </a:pPr>
            <a:r>
              <a:rPr lang="en-US" sz="1500" dirty="0">
                <a:solidFill>
                  <a:srgbClr val="1F2937"/>
                </a:solidFill>
                <a:latin typeface="Calibri" pitchFamily="34" charset="0"/>
                <a:ea typeface="Calibri" pitchFamily="34" charset="-122"/>
                <a:cs typeface="Calibri" pitchFamily="34" charset="-120"/>
              </a:rPr>
              <a:t>Name, unit, floor, type, license, phone, supervisor fill in.</a:t>
            </a:r>
            <a:endParaRPr lang="en-US" sz="1500" dirty="0"/>
          </a:p>
          <a:p>
            <a:pPr marL="177800" indent="-177800">
              <a:spcAft>
                <a:spcPts val="700"/>
              </a:spcAft>
              <a:buSzPct val="100000"/>
              <a:buChar char="•"/>
            </a:pPr>
            <a:r>
              <a:rPr lang="en-US" sz="1500" dirty="0">
                <a:solidFill>
                  <a:srgbClr val="1F2937"/>
                </a:solidFill>
                <a:latin typeface="Calibri" pitchFamily="34" charset="0"/>
                <a:ea typeface="Calibri" pitchFamily="34" charset="-122"/>
                <a:cs typeface="Calibri" pitchFamily="34" charset="-120"/>
              </a:rPr>
              <a:t>Typing a name never prefills — only a scan or an Assigned Location tap.</a:t>
            </a:r>
            <a:endParaRPr lang="en-US" sz="1500" dirty="0"/>
          </a:p>
          <a:p>
            <a:pPr marL="177800" indent="-177800">
              <a:spcAft>
                <a:spcPts val="700"/>
              </a:spcAft>
              <a:buSzPct val="100000"/>
              <a:buChar char="•"/>
            </a:pPr>
            <a:r>
              <a:rPr lang="en-US" sz="1500" dirty="0">
                <a:solidFill>
                  <a:srgbClr val="1F2937"/>
                </a:solidFill>
                <a:latin typeface="Calibri" pitchFamily="34" charset="0"/>
                <a:ea typeface="Calibri" pitchFamily="34" charset="-122"/>
                <a:cs typeface="Calibri" pitchFamily="34" charset="-120"/>
              </a:rPr>
              <a:t>Bars and pantries: type them by hand.</a:t>
            </a:r>
            <a:endParaRPr lang="en-US" sz="1500" dirty="0"/>
          </a:p>
        </p:txBody>
      </p:sp>
      <p:sp>
        <p:nvSpPr>
          <p:cNvPr id="7" name="Shape 5"/>
          <p:cNvSpPr/>
          <p:nvPr/>
        </p:nvSpPr>
        <p:spPr>
          <a:xfrm>
            <a:off x="6848856" y="448056"/>
            <a:ext cx="2032243" cy="4270248"/>
          </a:xfrm>
          <a:prstGeom prst="roundRect">
            <a:avLst>
              <a:gd name="adj" fmla="val 9899"/>
            </a:avLst>
          </a:prstGeom>
          <a:solidFill>
            <a:srgbClr val="1F2937"/>
          </a:solidFill>
          <a:ln w="12700">
            <a:solidFill>
              <a:srgbClr val="1F2937"/>
            </a:solidFill>
            <a:prstDash val="solid"/>
          </a:ln>
        </p:spPr>
      </p:sp>
      <p:pic>
        <p:nvPicPr>
          <p:cNvPr id="8" name="Image 0" descr="/home/user/Claude/docs/training/screens/04-form-stand-filled.png">    </p:cNvPr>
          <p:cNvPicPr>
            <a:picLocks noChangeAspect="1"/>
          </p:cNvPicPr>
          <p:nvPr/>
        </p:nvPicPr>
        <p:blipFill>
          <a:blip r:embed="rId1"/>
          <a:stretch>
            <a:fillRect/>
          </a:stretch>
        </p:blipFill>
        <p:spPr>
          <a:xfrm>
            <a:off x="6903720" y="502920"/>
            <a:ext cx="1922515" cy="4160520"/>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20040"/>
            <a:ext cx="1737360" cy="310896"/>
          </a:xfrm>
          <a:prstGeom prst="roundRect">
            <a:avLst>
              <a:gd name="adj" fmla="val 50000"/>
            </a:avLst>
          </a:prstGeom>
          <a:solidFill>
            <a:srgbClr val="0F1F3D"/>
          </a:solidFill>
          <a:ln w="12700">
            <a:solidFill>
              <a:srgbClr val="0F1F3D"/>
            </a:solidFill>
            <a:prstDash val="solid"/>
          </a:ln>
        </p:spPr>
      </p:sp>
      <p:sp>
        <p:nvSpPr>
          <p:cNvPr id="3" name="Text 1"/>
          <p:cNvSpPr/>
          <p:nvPr/>
        </p:nvSpPr>
        <p:spPr>
          <a:xfrm>
            <a:off x="457200" y="320040"/>
            <a:ext cx="1737360" cy="310896"/>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Arial" pitchFamily="34" charset="0"/>
                <a:ea typeface="Arial" pitchFamily="34" charset="-122"/>
                <a:cs typeface="Arial" pitchFamily="34" charset="-120"/>
              </a:rPr>
              <a:t>INSPECTOR</a:t>
            </a:r>
            <a:endParaRPr lang="en-US" sz="1000" dirty="0"/>
          </a:p>
        </p:txBody>
      </p:sp>
      <p:sp>
        <p:nvSpPr>
          <p:cNvPr id="4" name="Text 2"/>
          <p:cNvSpPr/>
          <p:nvPr/>
        </p:nvSpPr>
        <p:spPr>
          <a:xfrm>
            <a:off x="457200" y="713232"/>
            <a:ext cx="8229600" cy="640080"/>
          </a:xfrm>
          <a:prstGeom prst="rect">
            <a:avLst/>
          </a:prstGeom>
          <a:noFill/>
          <a:ln/>
        </p:spPr>
        <p:txBody>
          <a:bodyPr wrap="square" lIns="0" tIns="0" rIns="0" bIns="0" rtlCol="0" anchor="t">
            <a:normAutofit/>
          </a:bodyPr>
          <a:lstStyle/>
          <a:p>
            <a:pPr indent="0" marL="0">
              <a:buNone/>
            </a:pPr>
            <a:r>
              <a:rPr lang="en-US" sz="2600" b="1" dirty="0">
                <a:solidFill>
                  <a:srgbClr val="0F1F3D"/>
                </a:solidFill>
                <a:latin typeface="Arial" pitchFamily="34" charset="0"/>
                <a:ea typeface="Arial" pitchFamily="34" charset="-122"/>
                <a:cs typeface="Arial" pitchFamily="34" charset="-120"/>
              </a:rPr>
              <a:t>Six steps, YES / NO</a:t>
            </a:r>
            <a:endParaRPr lang="en-US" sz="2600" dirty="0"/>
          </a:p>
        </p:txBody>
      </p:sp>
      <p:sp>
        <p:nvSpPr>
          <p:cNvPr id="5" name="Text 3"/>
          <p:cNvSpPr/>
          <p:nvPr/>
        </p:nvSpPr>
        <p:spPr>
          <a:xfrm>
            <a:off x="457200" y="4754880"/>
            <a:ext cx="5486400" cy="228600"/>
          </a:xfrm>
          <a:prstGeom prst="rect">
            <a:avLst/>
          </a:prstGeom>
          <a:noFill/>
          <a:ln/>
        </p:spPr>
        <p:txBody>
          <a:bodyPr wrap="square" lIns="0" tIns="0" rIns="0" bIns="0" rtlCol="0" anchor="ctr"/>
          <a:lstStyle/>
          <a:p>
            <a:pPr indent="0" marL="0">
              <a:buNone/>
            </a:pPr>
            <a:r>
              <a:rPr lang="en-US" sz="900" dirty="0">
                <a:solidFill>
                  <a:srgbClr val="6B7280"/>
                </a:solidFill>
                <a:latin typeface="Calibri" pitchFamily="34" charset="0"/>
                <a:ea typeface="Calibri" pitchFamily="34" charset="-122"/>
                <a:cs typeface="Calibri" pitchFamily="34" charset="-120"/>
              </a:rPr>
              <a:t>SDX Inspect · Inspector · 9</a:t>
            </a:r>
            <a:endParaRPr lang="en-US" sz="900" dirty="0"/>
          </a:p>
        </p:txBody>
      </p:sp>
      <p:sp>
        <p:nvSpPr>
          <p:cNvPr id="6" name="Text 4"/>
          <p:cNvSpPr/>
          <p:nvPr/>
        </p:nvSpPr>
        <p:spPr>
          <a:xfrm>
            <a:off x="457200" y="1508760"/>
            <a:ext cx="4114800" cy="3108960"/>
          </a:xfrm>
          <a:prstGeom prst="rect">
            <a:avLst/>
          </a:prstGeom>
          <a:noFill/>
          <a:ln/>
        </p:spPr>
        <p:txBody>
          <a:bodyPr wrap="square" lIns="0" tIns="0" rIns="0" bIns="0" rtlCol="0" anchor="t">
            <a:normAutofit/>
          </a:bodyPr>
          <a:lstStyle/>
          <a:p>
            <a:pPr marL="177800" indent="-177800">
              <a:spcAft>
                <a:spcPts val="700"/>
              </a:spcAft>
              <a:buSzPct val="100000"/>
              <a:buChar char="•"/>
            </a:pPr>
            <a:r>
              <a:rPr lang="en-US" sz="1400" dirty="0">
                <a:solidFill>
                  <a:srgbClr val="1F2937"/>
                </a:solidFill>
                <a:latin typeface="Calibri" pitchFamily="34" charset="0"/>
                <a:ea typeface="Calibri" pitchFamily="34" charset="-122"/>
                <a:cs typeface="Calibri" pitchFamily="34" charset="-120"/>
              </a:rPr>
              <a:t>Temps → Facilities → Maintenance → Equipment → Utensils → Operations.</a:t>
            </a:r>
            <a:endParaRPr lang="en-US" sz="1400" dirty="0"/>
          </a:p>
          <a:p>
            <a:pPr marL="177800" indent="-177800">
              <a:spcAft>
                <a:spcPts val="700"/>
              </a:spcAft>
              <a:buSzPct val="100000"/>
              <a:buChar char="•"/>
            </a:pPr>
            <a:r>
              <a:rPr lang="en-US" sz="1400" dirty="0">
                <a:solidFill>
                  <a:srgbClr val="1F2937"/>
                </a:solidFill>
                <a:latin typeface="Calibri" pitchFamily="34" charset="0"/>
                <a:ea typeface="Calibri" pitchFamily="34" charset="-122"/>
                <a:cs typeface="Calibri" pitchFamily="34" charset="-120"/>
              </a:rPr>
              <a:t>Equipment step lists the stand's coolers and freezers with a temperature box each.</a:t>
            </a:r>
            <a:endParaRPr lang="en-US" sz="1400" dirty="0"/>
          </a:p>
          <a:p>
            <a:pPr marL="177800" indent="-177800">
              <a:spcAft>
                <a:spcPts val="700"/>
              </a:spcAft>
              <a:buSzPct val="100000"/>
              <a:buChar char="•"/>
            </a:pPr>
            <a:r>
              <a:rPr lang="en-US" sz="1400" dirty="0">
                <a:solidFill>
                  <a:srgbClr val="1F2937"/>
                </a:solidFill>
                <a:latin typeface="Calibri" pitchFamily="34" charset="0"/>
                <a:ea typeface="Calibri" pitchFamily="34" charset="-122"/>
                <a:cs typeface="Calibri" pitchFamily="34" charset="-120"/>
              </a:rPr>
              <a:t>Red reading = pick a reason + what you did.</a:t>
            </a:r>
            <a:endParaRPr lang="en-US" sz="1400" dirty="0"/>
          </a:p>
          <a:p>
            <a:pPr marL="177800" indent="-177800">
              <a:spcAft>
                <a:spcPts val="700"/>
              </a:spcAft>
              <a:buSzPct val="100000"/>
              <a:buChar char="•"/>
            </a:pPr>
            <a:r>
              <a:rPr lang="en-US" sz="1400" dirty="0">
                <a:solidFill>
                  <a:srgbClr val="1F2937"/>
                </a:solidFill>
                <a:latin typeface="Calibri" pitchFamily="34" charset="0"/>
                <a:ea typeface="Calibri" pitchFamily="34" charset="-122"/>
                <a:cs typeface="Calibri" pitchFamily="34" charset="-120"/>
              </a:rPr>
              <a:t>Each red unit becomes its own follow-up, named.</a:t>
            </a:r>
            <a:endParaRPr lang="en-US" sz="1400" dirty="0"/>
          </a:p>
        </p:txBody>
      </p:sp>
      <p:sp>
        <p:nvSpPr>
          <p:cNvPr id="7" name="Shape 5"/>
          <p:cNvSpPr/>
          <p:nvPr/>
        </p:nvSpPr>
        <p:spPr>
          <a:xfrm>
            <a:off x="5065776" y="1408176"/>
            <a:ext cx="1609712" cy="3355848"/>
          </a:xfrm>
          <a:prstGeom prst="roundRect">
            <a:avLst>
              <a:gd name="adj" fmla="val 12497"/>
            </a:avLst>
          </a:prstGeom>
          <a:solidFill>
            <a:srgbClr val="1F2937"/>
          </a:solidFill>
          <a:ln w="12700">
            <a:solidFill>
              <a:srgbClr val="1F2937"/>
            </a:solidFill>
            <a:prstDash val="solid"/>
          </a:ln>
        </p:spPr>
      </p:sp>
      <p:pic>
        <p:nvPicPr>
          <p:cNvPr id="8" name="Image 0" descr="/home/user/Claude/docs/training/screens/05-form-temps-step.png">    </p:cNvPr>
          <p:cNvPicPr>
            <a:picLocks noChangeAspect="1"/>
          </p:cNvPicPr>
          <p:nvPr/>
        </p:nvPicPr>
        <p:blipFill>
          <a:blip r:embed="rId1"/>
          <a:stretch>
            <a:fillRect/>
          </a:stretch>
        </p:blipFill>
        <p:spPr>
          <a:xfrm>
            <a:off x="5120640" y="1463040"/>
            <a:ext cx="1499984" cy="3246120"/>
          </a:xfrm>
          <a:prstGeom prst="rect">
            <a:avLst/>
          </a:prstGeom>
        </p:spPr>
      </p:pic>
      <p:sp>
        <p:nvSpPr>
          <p:cNvPr id="9" name="Shape 6"/>
          <p:cNvSpPr/>
          <p:nvPr/>
        </p:nvSpPr>
        <p:spPr>
          <a:xfrm>
            <a:off x="6885800" y="1408176"/>
            <a:ext cx="1609712" cy="3355848"/>
          </a:xfrm>
          <a:prstGeom prst="roundRect">
            <a:avLst>
              <a:gd name="adj" fmla="val 12497"/>
            </a:avLst>
          </a:prstGeom>
          <a:solidFill>
            <a:srgbClr val="1F2937"/>
          </a:solidFill>
          <a:ln w="12700">
            <a:solidFill>
              <a:srgbClr val="1F2937"/>
            </a:solidFill>
            <a:prstDash val="solid"/>
          </a:ln>
        </p:spPr>
      </p:sp>
      <p:pic>
        <p:nvPicPr>
          <p:cNvPr id="10" name="Image 1" descr="/home/user/Claude/docs/training/screens/06-form-equipment-step.png">    </p:cNvPr>
          <p:cNvPicPr>
            <a:picLocks noChangeAspect="1"/>
          </p:cNvPicPr>
          <p:nvPr/>
        </p:nvPicPr>
        <p:blipFill>
          <a:blip r:embed="rId2"/>
          <a:stretch>
            <a:fillRect/>
          </a:stretch>
        </p:blipFill>
        <p:spPr>
          <a:xfrm>
            <a:off x="6940664" y="1463040"/>
            <a:ext cx="1499984" cy="3246120"/>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20040"/>
            <a:ext cx="1737360" cy="310896"/>
          </a:xfrm>
          <a:prstGeom prst="roundRect">
            <a:avLst>
              <a:gd name="adj" fmla="val 50000"/>
            </a:avLst>
          </a:prstGeom>
          <a:solidFill>
            <a:srgbClr val="0F1F3D"/>
          </a:solidFill>
          <a:ln w="12700">
            <a:solidFill>
              <a:srgbClr val="0F1F3D"/>
            </a:solidFill>
            <a:prstDash val="solid"/>
          </a:ln>
        </p:spPr>
      </p:sp>
      <p:sp>
        <p:nvSpPr>
          <p:cNvPr id="3" name="Text 1"/>
          <p:cNvSpPr/>
          <p:nvPr/>
        </p:nvSpPr>
        <p:spPr>
          <a:xfrm>
            <a:off x="457200" y="320040"/>
            <a:ext cx="1737360" cy="310896"/>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Arial" pitchFamily="34" charset="0"/>
                <a:ea typeface="Arial" pitchFamily="34" charset="-122"/>
                <a:cs typeface="Arial" pitchFamily="34" charset="-120"/>
              </a:rPr>
              <a:t>INSPECTOR</a:t>
            </a:r>
            <a:endParaRPr lang="en-US" sz="1000" dirty="0"/>
          </a:p>
        </p:txBody>
      </p:sp>
      <p:sp>
        <p:nvSpPr>
          <p:cNvPr id="4" name="Text 2"/>
          <p:cNvSpPr/>
          <p:nvPr/>
        </p:nvSpPr>
        <p:spPr>
          <a:xfrm>
            <a:off x="457200" y="713232"/>
            <a:ext cx="6217920" cy="640080"/>
          </a:xfrm>
          <a:prstGeom prst="rect">
            <a:avLst/>
          </a:prstGeom>
          <a:noFill/>
          <a:ln/>
        </p:spPr>
        <p:txBody>
          <a:bodyPr wrap="square" lIns="0" tIns="0" rIns="0" bIns="0" rtlCol="0" anchor="t">
            <a:normAutofit/>
          </a:bodyPr>
          <a:lstStyle/>
          <a:p>
            <a:pPr indent="0" marL="0">
              <a:buNone/>
            </a:pPr>
            <a:r>
              <a:rPr lang="en-US" sz="2600" b="1" dirty="0">
                <a:solidFill>
                  <a:srgbClr val="0F1F3D"/>
                </a:solidFill>
                <a:latin typeface="Arial" pitchFamily="34" charset="0"/>
                <a:ea typeface="Arial" pitchFamily="34" charset="-122"/>
                <a:cs typeface="Arial" pitchFamily="34" charset="-120"/>
              </a:rPr>
              <a:t>A NO item: BEFORE photo + action</a:t>
            </a:r>
            <a:endParaRPr lang="en-US" sz="2600" dirty="0"/>
          </a:p>
        </p:txBody>
      </p:sp>
      <p:sp>
        <p:nvSpPr>
          <p:cNvPr id="5" name="Text 3"/>
          <p:cNvSpPr/>
          <p:nvPr/>
        </p:nvSpPr>
        <p:spPr>
          <a:xfrm>
            <a:off x="457200" y="4754880"/>
            <a:ext cx="5486400" cy="228600"/>
          </a:xfrm>
          <a:prstGeom prst="rect">
            <a:avLst/>
          </a:prstGeom>
          <a:noFill/>
          <a:ln/>
        </p:spPr>
        <p:txBody>
          <a:bodyPr wrap="square" lIns="0" tIns="0" rIns="0" bIns="0" rtlCol="0" anchor="ctr"/>
          <a:lstStyle/>
          <a:p>
            <a:pPr indent="0" marL="0">
              <a:buNone/>
            </a:pPr>
            <a:r>
              <a:rPr lang="en-US" sz="900" dirty="0">
                <a:solidFill>
                  <a:srgbClr val="6B7280"/>
                </a:solidFill>
                <a:latin typeface="Calibri" pitchFamily="34" charset="0"/>
                <a:ea typeface="Calibri" pitchFamily="34" charset="-122"/>
                <a:cs typeface="Calibri" pitchFamily="34" charset="-120"/>
              </a:rPr>
              <a:t>SDX Inspect · Inspector · 10</a:t>
            </a:r>
            <a:endParaRPr lang="en-US" sz="900" dirty="0"/>
          </a:p>
        </p:txBody>
      </p:sp>
      <p:sp>
        <p:nvSpPr>
          <p:cNvPr id="6" name="Text 4"/>
          <p:cNvSpPr/>
          <p:nvPr/>
        </p:nvSpPr>
        <p:spPr>
          <a:xfrm>
            <a:off x="457200" y="1508760"/>
            <a:ext cx="5669280" cy="3108960"/>
          </a:xfrm>
          <a:prstGeom prst="rect">
            <a:avLst/>
          </a:prstGeom>
          <a:noFill/>
          <a:ln/>
        </p:spPr>
        <p:txBody>
          <a:bodyPr wrap="square" lIns="0" tIns="0" rIns="0" bIns="0" rtlCol="0" anchor="t">
            <a:normAutofit/>
          </a:bodyPr>
          <a:lstStyle/>
          <a:p>
            <a:pPr marL="177800" indent="-177800">
              <a:spcAft>
                <a:spcPts val="700"/>
              </a:spcAft>
              <a:buSzPct val="100000"/>
              <a:buChar char="•"/>
            </a:pPr>
            <a:r>
              <a:rPr lang="en-US" sz="1500" dirty="0">
                <a:solidFill>
                  <a:srgbClr val="1F2937"/>
                </a:solidFill>
                <a:latin typeface="Calibri" pitchFamily="34" charset="0"/>
                <a:ea typeface="Calibri" pitchFamily="34" charset="-122"/>
                <a:cs typeface="Calibri" pitchFamily="34" charset="-120"/>
              </a:rPr>
              <a:t>🔴 BEFORE · the problem (required) · 🟢 AFTER (optional).</a:t>
            </a:r>
            <a:endParaRPr lang="en-US" sz="1500" dirty="0"/>
          </a:p>
          <a:p>
            <a:pPr marL="177800" indent="-177800">
              <a:spcAft>
                <a:spcPts val="700"/>
              </a:spcAft>
              <a:buSzPct val="100000"/>
              <a:buChar char="•"/>
            </a:pPr>
            <a:r>
              <a:rPr lang="en-US" sz="1500" dirty="0">
                <a:solidFill>
                  <a:srgbClr val="1F2937"/>
                </a:solidFill>
                <a:latin typeface="Calibri" pitchFamily="34" charset="0"/>
                <a:ea typeface="Calibri" pitchFamily="34" charset="-122"/>
                <a:cs typeface="Calibri" pitchFamily="34" charset="-120"/>
              </a:rPr>
              <a:t>Camera or gallery in one tap.</a:t>
            </a:r>
            <a:endParaRPr lang="en-US" sz="1500" dirty="0"/>
          </a:p>
          <a:p>
            <a:pPr marL="177800" indent="-177800">
              <a:spcAft>
                <a:spcPts val="700"/>
              </a:spcAft>
              <a:buSzPct val="100000"/>
              <a:buChar char="•"/>
            </a:pPr>
            <a:r>
              <a:rPr lang="en-US" sz="1500" dirty="0">
                <a:solidFill>
                  <a:srgbClr val="1F2937"/>
                </a:solidFill>
                <a:latin typeface="Calibri" pitchFamily="34" charset="0"/>
                <a:ea typeface="Calibri" pitchFamily="34" charset="-122"/>
                <a:cs typeface="Calibri" pitchFamily="34" charset="-120"/>
              </a:rPr>
              <a:t>Specific location + description (4+ words).</a:t>
            </a:r>
            <a:endParaRPr lang="en-US" sz="1500" dirty="0"/>
          </a:p>
          <a:p>
            <a:pPr marL="177800" indent="-177800">
              <a:spcAft>
                <a:spcPts val="700"/>
              </a:spcAft>
              <a:buSzPct val="100000"/>
              <a:buChar char="•"/>
            </a:pPr>
            <a:r>
              <a:rPr lang="en-US" sz="1500" dirty="0">
                <a:solidFill>
                  <a:srgbClr val="1F2937"/>
                </a:solidFill>
                <a:latin typeface="Calibri" pitchFamily="34" charset="0"/>
                <a:ea typeface="Calibri" pitchFamily="34" charset="-122"/>
                <a:cs typeface="Calibri" pitchFamily="34" charset="-120"/>
              </a:rPr>
              <a:t>Corrective action is required. No photo, no save.</a:t>
            </a:r>
            <a:endParaRPr lang="en-US" sz="1500" dirty="0"/>
          </a:p>
        </p:txBody>
      </p:sp>
      <p:sp>
        <p:nvSpPr>
          <p:cNvPr id="7" name="Shape 5"/>
          <p:cNvSpPr/>
          <p:nvPr/>
        </p:nvSpPr>
        <p:spPr>
          <a:xfrm>
            <a:off x="6848856" y="448056"/>
            <a:ext cx="2032243" cy="4270248"/>
          </a:xfrm>
          <a:prstGeom prst="roundRect">
            <a:avLst>
              <a:gd name="adj" fmla="val 9899"/>
            </a:avLst>
          </a:prstGeom>
          <a:solidFill>
            <a:srgbClr val="1F2937"/>
          </a:solidFill>
          <a:ln w="12700">
            <a:solidFill>
              <a:srgbClr val="1F2937"/>
            </a:solidFill>
            <a:prstDash val="solid"/>
          </a:ln>
        </p:spPr>
      </p:sp>
      <p:pic>
        <p:nvPicPr>
          <p:cNvPr id="8" name="Image 0" descr="/home/user/Claude/docs/training/screens/07-form-hand-sink-issue-photo.png">    </p:cNvPr>
          <p:cNvPicPr>
            <a:picLocks noChangeAspect="1"/>
          </p:cNvPicPr>
          <p:nvPr/>
        </p:nvPicPr>
        <p:blipFill>
          <a:blip r:embed="rId1"/>
          <a:stretch>
            <a:fillRect/>
          </a:stretch>
        </p:blipFill>
        <p:spPr>
          <a:xfrm>
            <a:off x="6903720" y="502920"/>
            <a:ext cx="1922515" cy="4160520"/>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20040"/>
            <a:ext cx="1737360" cy="310896"/>
          </a:xfrm>
          <a:prstGeom prst="roundRect">
            <a:avLst>
              <a:gd name="adj" fmla="val 50000"/>
            </a:avLst>
          </a:prstGeom>
          <a:solidFill>
            <a:srgbClr val="0F1F3D"/>
          </a:solidFill>
          <a:ln w="12700">
            <a:solidFill>
              <a:srgbClr val="0F1F3D"/>
            </a:solidFill>
            <a:prstDash val="solid"/>
          </a:ln>
        </p:spPr>
      </p:sp>
      <p:sp>
        <p:nvSpPr>
          <p:cNvPr id="3" name="Text 1"/>
          <p:cNvSpPr/>
          <p:nvPr/>
        </p:nvSpPr>
        <p:spPr>
          <a:xfrm>
            <a:off x="457200" y="320040"/>
            <a:ext cx="1737360" cy="310896"/>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Arial" pitchFamily="34" charset="0"/>
                <a:ea typeface="Arial" pitchFamily="34" charset="-122"/>
                <a:cs typeface="Arial" pitchFamily="34" charset="-120"/>
              </a:rPr>
              <a:t>INSPECTOR</a:t>
            </a:r>
            <a:endParaRPr lang="en-US" sz="1000" dirty="0"/>
          </a:p>
        </p:txBody>
      </p:sp>
      <p:sp>
        <p:nvSpPr>
          <p:cNvPr id="4" name="Text 2"/>
          <p:cNvSpPr/>
          <p:nvPr/>
        </p:nvSpPr>
        <p:spPr>
          <a:xfrm>
            <a:off x="457200" y="713232"/>
            <a:ext cx="8229600" cy="640080"/>
          </a:xfrm>
          <a:prstGeom prst="rect">
            <a:avLst/>
          </a:prstGeom>
          <a:noFill/>
          <a:ln/>
        </p:spPr>
        <p:txBody>
          <a:bodyPr wrap="square" lIns="0" tIns="0" rIns="0" bIns="0" rtlCol="0" anchor="t">
            <a:normAutofit/>
          </a:bodyPr>
          <a:lstStyle/>
          <a:p>
            <a:pPr indent="0" marL="0">
              <a:buNone/>
            </a:pPr>
            <a:r>
              <a:rPr lang="en-US" sz="2600" b="1" dirty="0">
                <a:solidFill>
                  <a:srgbClr val="0F1F3D"/>
                </a:solidFill>
                <a:latin typeface="Arial" pitchFamily="34" charset="0"/>
                <a:ea typeface="Arial" pitchFamily="34" charset="-122"/>
                <a:cs typeface="Arial" pitchFamily="34" charset="-120"/>
              </a:rPr>
              <a:t>Your notes are read</a:t>
            </a:r>
            <a:endParaRPr lang="en-US" sz="2600" dirty="0"/>
          </a:p>
        </p:txBody>
      </p:sp>
      <p:sp>
        <p:nvSpPr>
          <p:cNvPr id="5" name="Text 3"/>
          <p:cNvSpPr/>
          <p:nvPr/>
        </p:nvSpPr>
        <p:spPr>
          <a:xfrm>
            <a:off x="457200" y="4754880"/>
            <a:ext cx="5486400" cy="228600"/>
          </a:xfrm>
          <a:prstGeom prst="rect">
            <a:avLst/>
          </a:prstGeom>
          <a:noFill/>
          <a:ln/>
        </p:spPr>
        <p:txBody>
          <a:bodyPr wrap="square" lIns="0" tIns="0" rIns="0" bIns="0" rtlCol="0" anchor="ctr"/>
          <a:lstStyle/>
          <a:p>
            <a:pPr indent="0" marL="0">
              <a:buNone/>
            </a:pPr>
            <a:r>
              <a:rPr lang="en-US" sz="900" dirty="0">
                <a:solidFill>
                  <a:srgbClr val="6B7280"/>
                </a:solidFill>
                <a:latin typeface="Calibri" pitchFamily="34" charset="0"/>
                <a:ea typeface="Calibri" pitchFamily="34" charset="-122"/>
                <a:cs typeface="Calibri" pitchFamily="34" charset="-120"/>
              </a:rPr>
              <a:t>SDX Inspect · Inspector · 11</a:t>
            </a:r>
            <a:endParaRPr lang="en-US" sz="900" dirty="0"/>
          </a:p>
        </p:txBody>
      </p:sp>
      <p:sp>
        <p:nvSpPr>
          <p:cNvPr id="6" name="Shape 4"/>
          <p:cNvSpPr/>
          <p:nvPr/>
        </p:nvSpPr>
        <p:spPr>
          <a:xfrm>
            <a:off x="457200" y="1463040"/>
            <a:ext cx="3977640" cy="3154680"/>
          </a:xfrm>
          <a:prstGeom prst="roundRect">
            <a:avLst>
              <a:gd name="adj" fmla="val 3478"/>
            </a:avLst>
          </a:prstGeom>
          <a:solidFill>
            <a:srgbClr val="F5F7FB"/>
          </a:solidFill>
          <a:ln w="12700">
            <a:solidFill>
              <a:srgbClr val="F5F7FB"/>
            </a:solidFill>
            <a:prstDash val="solid"/>
          </a:ln>
        </p:spPr>
      </p:sp>
      <p:sp>
        <p:nvSpPr>
          <p:cNvPr id="7" name="Shape 5"/>
          <p:cNvSpPr/>
          <p:nvPr/>
        </p:nvSpPr>
        <p:spPr>
          <a:xfrm>
            <a:off x="4709160" y="1463040"/>
            <a:ext cx="3977640" cy="3154680"/>
          </a:xfrm>
          <a:prstGeom prst="roundRect">
            <a:avLst>
              <a:gd name="adj" fmla="val 3478"/>
            </a:avLst>
          </a:prstGeom>
          <a:solidFill>
            <a:srgbClr val="F5F7FB"/>
          </a:solidFill>
          <a:ln w="12700">
            <a:solidFill>
              <a:srgbClr val="F5F7FB"/>
            </a:solidFill>
            <a:prstDash val="solid"/>
          </a:ln>
        </p:spPr>
      </p:sp>
      <p:sp>
        <p:nvSpPr>
          <p:cNvPr id="8" name="Text 6"/>
          <p:cNvSpPr/>
          <p:nvPr/>
        </p:nvSpPr>
        <p:spPr>
          <a:xfrm>
            <a:off x="685800" y="1572768"/>
            <a:ext cx="2743200" cy="274320"/>
          </a:xfrm>
          <a:prstGeom prst="rect">
            <a:avLst/>
          </a:prstGeom>
          <a:noFill/>
          <a:ln/>
        </p:spPr>
        <p:txBody>
          <a:bodyPr wrap="square" lIns="0" tIns="0" rIns="0" bIns="0" rtlCol="0" anchor="ctr"/>
          <a:lstStyle/>
          <a:p>
            <a:pPr indent="0" marL="0">
              <a:buNone/>
            </a:pPr>
            <a:r>
              <a:rPr lang="en-US" sz="1000" b="1" spc="100" kern="0" dirty="0">
                <a:solidFill>
                  <a:srgbClr val="6B7280"/>
                </a:solidFill>
                <a:latin typeface="Arial" pitchFamily="34" charset="0"/>
                <a:ea typeface="Arial" pitchFamily="34" charset="-122"/>
                <a:cs typeface="Arial" pitchFamily="34" charset="-120"/>
              </a:rPr>
              <a:t>ENGLISH</a:t>
            </a:r>
            <a:endParaRPr lang="en-US" sz="1000" dirty="0"/>
          </a:p>
        </p:txBody>
      </p:sp>
      <p:sp>
        <p:nvSpPr>
          <p:cNvPr id="9" name="Text 7"/>
          <p:cNvSpPr/>
          <p:nvPr/>
        </p:nvSpPr>
        <p:spPr>
          <a:xfrm>
            <a:off x="4937760" y="1572768"/>
            <a:ext cx="2743200" cy="274320"/>
          </a:xfrm>
          <a:prstGeom prst="rect">
            <a:avLst/>
          </a:prstGeom>
          <a:noFill/>
          <a:ln/>
        </p:spPr>
        <p:txBody>
          <a:bodyPr wrap="square" lIns="0" tIns="0" rIns="0" bIns="0" rtlCol="0" anchor="ctr"/>
          <a:lstStyle/>
          <a:p>
            <a:pPr indent="0" marL="0">
              <a:buNone/>
            </a:pPr>
            <a:r>
              <a:rPr lang="en-US" sz="1000" b="1" spc="100" kern="0" dirty="0">
                <a:solidFill>
                  <a:srgbClr val="6B7280"/>
                </a:solidFill>
                <a:latin typeface="Arial" pitchFamily="34" charset="0"/>
                <a:ea typeface="Arial" pitchFamily="34" charset="-122"/>
                <a:cs typeface="Arial" pitchFamily="34" charset="-120"/>
              </a:rPr>
              <a:t>ESPAÑOL</a:t>
            </a:r>
            <a:endParaRPr lang="en-US" sz="1000" dirty="0"/>
          </a:p>
        </p:txBody>
      </p:sp>
      <p:sp>
        <p:nvSpPr>
          <p:cNvPr id="10" name="Text 8"/>
          <p:cNvSpPr/>
          <p:nvPr/>
        </p:nvSpPr>
        <p:spPr>
          <a:xfrm>
            <a:off x="685800" y="1874520"/>
            <a:ext cx="3566160" cy="2651760"/>
          </a:xfrm>
          <a:prstGeom prst="rect">
            <a:avLst/>
          </a:prstGeom>
          <a:noFill/>
          <a:ln/>
        </p:spPr>
        <p:txBody>
          <a:bodyPr wrap="square" lIns="0" tIns="0" rIns="0" bIns="0" rtlCol="0" anchor="t">
            <a:normAutofit/>
          </a:bodyPr>
          <a:lstStyle/>
          <a:p>
            <a:pPr marL="228600" indent="-228600">
              <a:spcAft>
                <a:spcPts val="600"/>
              </a:spcAft>
              <a:buSzPct val="100000"/>
              <a:buFont typeface="+mj-lt"/>
              <a:buAutoNum type="arabicPeriod" startAt="1"/>
            </a:pPr>
            <a:r>
              <a:rPr lang="en-US" sz="1300" dirty="0">
                <a:solidFill>
                  <a:srgbClr val="1F2937"/>
                </a:solidFill>
                <a:latin typeface="Calibri" pitchFamily="34" charset="0"/>
                <a:ea typeface="Calibri" pitchFamily="34" charset="-122"/>
                <a:cs typeface="Calibri" pitchFamily="34" charset="-120"/>
              </a:rPr>
              <a:t>Type "grease under the fryer, cook says two days".</a:t>
            </a:r>
            <a:endParaRPr lang="en-US" sz="1300" dirty="0"/>
          </a:p>
          <a:p>
            <a:pPr marL="228600" indent="-228600">
              <a:spcAft>
                <a:spcPts val="600"/>
              </a:spcAft>
              <a:buSzPct val="100000"/>
              <a:buFont typeface="+mj-lt"/>
              <a:buAutoNum type="arabicPeriod" startAt="1"/>
            </a:pPr>
            <a:r>
              <a:rPr lang="en-US" sz="1300" dirty="0">
                <a:solidFill>
                  <a:srgbClr val="1F2937"/>
                </a:solidFill>
                <a:latin typeface="Calibri" pitchFamily="34" charset="0"/>
                <a:ea typeface="Calibri" pitchFamily="34" charset="-122"/>
                <a:cs typeface="Calibri" pitchFamily="34" charset="-120"/>
              </a:rPr>
              <a:t>The 🧠 panel adds: Cleaning · fryer · corrective.</a:t>
            </a:r>
            <a:endParaRPr lang="en-US" sz="1300" dirty="0"/>
          </a:p>
          <a:p>
            <a:pPr marL="228600" indent="-228600">
              <a:spcAft>
                <a:spcPts val="600"/>
              </a:spcAft>
              <a:buSzPct val="100000"/>
              <a:buFont typeface="+mj-lt"/>
              <a:buAutoNum type="arabicPeriod" startAt="1"/>
            </a:pPr>
            <a:r>
              <a:rPr lang="en-US" sz="1300" dirty="0">
                <a:solidFill>
                  <a:srgbClr val="1F2937"/>
                </a:solidFill>
                <a:latin typeface="Calibri" pitchFamily="34" charset="0"/>
                <a:ea typeface="Calibri" pitchFamily="34" charset="-122"/>
                <a:cs typeface="Calibri" pitchFamily="34" charset="-120"/>
              </a:rPr>
              <a:t>✕ Not an issue removes it; ↩ Keep brings it back.</a:t>
            </a:r>
            <a:endParaRPr lang="en-US" sz="1300" dirty="0"/>
          </a:p>
          <a:p>
            <a:pPr marL="228600" indent="-228600">
              <a:spcAft>
                <a:spcPts val="600"/>
              </a:spcAft>
              <a:buSzPct val="100000"/>
              <a:buFont typeface="+mj-lt"/>
              <a:buAutoNum type="arabicPeriod" startAt="1"/>
            </a:pPr>
            <a:r>
              <a:rPr lang="en-US" sz="1300" dirty="0">
                <a:solidFill>
                  <a:srgbClr val="1F2937"/>
                </a:solidFill>
                <a:latin typeface="Calibri" pitchFamily="34" charset="0"/>
                <a:ea typeface="Calibri" pitchFamily="34" charset="-122"/>
                <a:cs typeface="Calibri" pitchFamily="34" charset="-120"/>
              </a:rPr>
              <a:t>Works in English and Spanish, offline.</a:t>
            </a:r>
            <a:endParaRPr lang="en-US" sz="1300" dirty="0"/>
          </a:p>
          <a:p>
            <a:pPr marL="228600" indent="-228600">
              <a:spcAft>
                <a:spcPts val="600"/>
              </a:spcAft>
              <a:buSzPct val="100000"/>
              <a:buFont typeface="+mj-lt"/>
              <a:buAutoNum type="arabicPeriod" startAt="1"/>
            </a:pPr>
            <a:r>
              <a:rPr lang="en-US" sz="1300" dirty="0">
                <a:solidFill>
                  <a:srgbClr val="1F2937"/>
                </a:solidFill>
                <a:latin typeface="Calibri" pitchFamily="34" charset="0"/>
                <a:ea typeface="Calibri" pitchFamily="34" charset="-122"/>
                <a:cs typeface="Calibri" pitchFamily="34" charset="-120"/>
              </a:rPr>
              <a:t>Draft autosaves 4 s after you stop typing, phone + cloud.</a:t>
            </a:r>
            <a:endParaRPr lang="en-US" sz="1300" dirty="0"/>
          </a:p>
        </p:txBody>
      </p:sp>
      <p:sp>
        <p:nvSpPr>
          <p:cNvPr id="11" name="Text 9"/>
          <p:cNvSpPr/>
          <p:nvPr/>
        </p:nvSpPr>
        <p:spPr>
          <a:xfrm>
            <a:off x="4937760" y="1874520"/>
            <a:ext cx="3566160" cy="2651760"/>
          </a:xfrm>
          <a:prstGeom prst="rect">
            <a:avLst/>
          </a:prstGeom>
          <a:noFill/>
          <a:ln/>
        </p:spPr>
        <p:txBody>
          <a:bodyPr wrap="square" lIns="0" tIns="0" rIns="0" bIns="0" rtlCol="0" anchor="t">
            <a:normAutofit/>
          </a:bodyPr>
          <a:lstStyle/>
          <a:p>
            <a:pPr marL="228600" indent="-228600">
              <a:spcAft>
                <a:spcPts val="600"/>
              </a:spcAft>
              <a:buSzPct val="100000"/>
              <a:buFont typeface="+mj-lt"/>
              <a:buAutoNum type="arabicPeriod" startAt="1"/>
            </a:pPr>
            <a:r>
              <a:rPr lang="en-US" sz="1300" dirty="0">
                <a:solidFill>
                  <a:srgbClr val="1F2937"/>
                </a:solidFill>
                <a:latin typeface="Calibri" pitchFamily="34" charset="0"/>
                <a:ea typeface="Calibri" pitchFamily="34" charset="-122"/>
                <a:cs typeface="Calibri" pitchFamily="34" charset="-120"/>
              </a:rPr>
              <a:t>Escribe "grasa debajo de la freidora, el cocinero dice dos días".</a:t>
            </a:r>
            <a:endParaRPr lang="en-US" sz="1300" dirty="0"/>
          </a:p>
          <a:p>
            <a:pPr marL="228600" indent="-228600">
              <a:spcAft>
                <a:spcPts val="600"/>
              </a:spcAft>
              <a:buSzPct val="100000"/>
              <a:buFont typeface="+mj-lt"/>
              <a:buAutoNum type="arabicPeriod" startAt="1"/>
            </a:pPr>
            <a:r>
              <a:rPr lang="en-US" sz="1300" dirty="0">
                <a:solidFill>
                  <a:srgbClr val="1F2937"/>
                </a:solidFill>
                <a:latin typeface="Calibri" pitchFamily="34" charset="0"/>
                <a:ea typeface="Calibri" pitchFamily="34" charset="-122"/>
                <a:cs typeface="Calibri" pitchFamily="34" charset="-120"/>
              </a:rPr>
              <a:t>El panel 🧠 agrega: Limpieza · freidora · acción.</a:t>
            </a:r>
            <a:endParaRPr lang="en-US" sz="1300" dirty="0"/>
          </a:p>
          <a:p>
            <a:pPr marL="228600" indent="-228600">
              <a:spcAft>
                <a:spcPts val="600"/>
              </a:spcAft>
              <a:buSzPct val="100000"/>
              <a:buFont typeface="+mj-lt"/>
              <a:buAutoNum type="arabicPeriod" startAt="1"/>
            </a:pPr>
            <a:r>
              <a:rPr lang="en-US" sz="1300" dirty="0">
                <a:solidFill>
                  <a:srgbClr val="1F2937"/>
                </a:solidFill>
                <a:latin typeface="Calibri" pitchFamily="34" charset="0"/>
                <a:ea typeface="Calibri" pitchFamily="34" charset="-122"/>
                <a:cs typeface="Calibri" pitchFamily="34" charset="-120"/>
              </a:rPr>
              <a:t>✕ No es un problema lo quita; ↩ Keep lo regresa.</a:t>
            </a:r>
            <a:endParaRPr lang="en-US" sz="1300" dirty="0"/>
          </a:p>
          <a:p>
            <a:pPr marL="228600" indent="-228600">
              <a:spcAft>
                <a:spcPts val="600"/>
              </a:spcAft>
              <a:buSzPct val="100000"/>
              <a:buFont typeface="+mj-lt"/>
              <a:buAutoNum type="arabicPeriod" startAt="1"/>
            </a:pPr>
            <a:r>
              <a:rPr lang="en-US" sz="1300" dirty="0">
                <a:solidFill>
                  <a:srgbClr val="1F2937"/>
                </a:solidFill>
                <a:latin typeface="Calibri" pitchFamily="34" charset="0"/>
                <a:ea typeface="Calibri" pitchFamily="34" charset="-122"/>
                <a:cs typeface="Calibri" pitchFamily="34" charset="-120"/>
              </a:rPr>
              <a:t>Funciona en inglés y español, sin internet.</a:t>
            </a:r>
            <a:endParaRPr lang="en-US" sz="1300" dirty="0"/>
          </a:p>
          <a:p>
            <a:pPr marL="228600" indent="-228600">
              <a:spcAft>
                <a:spcPts val="600"/>
              </a:spcAft>
              <a:buSzPct val="100000"/>
              <a:buFont typeface="+mj-lt"/>
              <a:buAutoNum type="arabicPeriod" startAt="1"/>
            </a:pPr>
            <a:r>
              <a:rPr lang="en-US" sz="1300" dirty="0">
                <a:solidFill>
                  <a:srgbClr val="1F2937"/>
                </a:solidFill>
                <a:latin typeface="Calibri" pitchFamily="34" charset="0"/>
                <a:ea typeface="Calibri" pitchFamily="34" charset="-122"/>
                <a:cs typeface="Calibri" pitchFamily="34" charset="-120"/>
              </a:rPr>
              <a:t>El borrador se guarda 4 s después de dejar de escribir, teléfono + nube.</a:t>
            </a:r>
            <a:endParaRPr lang="en-US" sz="13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20040"/>
            <a:ext cx="1737360" cy="310896"/>
          </a:xfrm>
          <a:prstGeom prst="roundRect">
            <a:avLst>
              <a:gd name="adj" fmla="val 50000"/>
            </a:avLst>
          </a:prstGeom>
          <a:solidFill>
            <a:srgbClr val="0F1F3D"/>
          </a:solidFill>
          <a:ln w="12700">
            <a:solidFill>
              <a:srgbClr val="0F1F3D"/>
            </a:solidFill>
            <a:prstDash val="solid"/>
          </a:ln>
        </p:spPr>
      </p:sp>
      <p:sp>
        <p:nvSpPr>
          <p:cNvPr id="3" name="Text 1"/>
          <p:cNvSpPr/>
          <p:nvPr/>
        </p:nvSpPr>
        <p:spPr>
          <a:xfrm>
            <a:off x="457200" y="320040"/>
            <a:ext cx="1737360" cy="310896"/>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Arial" pitchFamily="34" charset="0"/>
                <a:ea typeface="Arial" pitchFamily="34" charset="-122"/>
                <a:cs typeface="Arial" pitchFamily="34" charset="-120"/>
              </a:rPr>
              <a:t>INSPECTOR</a:t>
            </a:r>
            <a:endParaRPr lang="en-US" sz="1000" dirty="0"/>
          </a:p>
        </p:txBody>
      </p:sp>
      <p:sp>
        <p:nvSpPr>
          <p:cNvPr id="4" name="Text 2"/>
          <p:cNvSpPr/>
          <p:nvPr/>
        </p:nvSpPr>
        <p:spPr>
          <a:xfrm>
            <a:off x="457200" y="713232"/>
            <a:ext cx="8229600" cy="640080"/>
          </a:xfrm>
          <a:prstGeom prst="rect">
            <a:avLst/>
          </a:prstGeom>
          <a:noFill/>
          <a:ln/>
        </p:spPr>
        <p:txBody>
          <a:bodyPr wrap="square" lIns="0" tIns="0" rIns="0" bIns="0" rtlCol="0" anchor="t">
            <a:normAutofit/>
          </a:bodyPr>
          <a:lstStyle/>
          <a:p>
            <a:pPr indent="0" marL="0">
              <a:buNone/>
            </a:pPr>
            <a:r>
              <a:rPr lang="en-US" sz="2600" b="1" dirty="0">
                <a:solidFill>
                  <a:srgbClr val="0F1F3D"/>
                </a:solidFill>
                <a:latin typeface="Arial" pitchFamily="34" charset="0"/>
                <a:ea typeface="Arial" pitchFamily="34" charset="-122"/>
                <a:cs typeface="Arial" pitchFamily="34" charset="-120"/>
              </a:rPr>
              <a:t>Save — and open problems follow the stand</a:t>
            </a:r>
            <a:endParaRPr lang="en-US" sz="2600" dirty="0"/>
          </a:p>
        </p:txBody>
      </p:sp>
      <p:sp>
        <p:nvSpPr>
          <p:cNvPr id="5" name="Text 3"/>
          <p:cNvSpPr/>
          <p:nvPr/>
        </p:nvSpPr>
        <p:spPr>
          <a:xfrm>
            <a:off x="457200" y="4754880"/>
            <a:ext cx="5486400" cy="228600"/>
          </a:xfrm>
          <a:prstGeom prst="rect">
            <a:avLst/>
          </a:prstGeom>
          <a:noFill/>
          <a:ln/>
        </p:spPr>
        <p:txBody>
          <a:bodyPr wrap="square" lIns="0" tIns="0" rIns="0" bIns="0" rtlCol="0" anchor="ctr"/>
          <a:lstStyle/>
          <a:p>
            <a:pPr indent="0" marL="0">
              <a:buNone/>
            </a:pPr>
            <a:r>
              <a:rPr lang="en-US" sz="900" dirty="0">
                <a:solidFill>
                  <a:srgbClr val="6B7280"/>
                </a:solidFill>
                <a:latin typeface="Calibri" pitchFamily="34" charset="0"/>
                <a:ea typeface="Calibri" pitchFamily="34" charset="-122"/>
                <a:cs typeface="Calibri" pitchFamily="34" charset="-120"/>
              </a:rPr>
              <a:t>SDX Inspect · Inspector · 12</a:t>
            </a:r>
            <a:endParaRPr lang="en-US" sz="900" dirty="0"/>
          </a:p>
        </p:txBody>
      </p:sp>
      <p:sp>
        <p:nvSpPr>
          <p:cNvPr id="6" name="Text 4"/>
          <p:cNvSpPr/>
          <p:nvPr/>
        </p:nvSpPr>
        <p:spPr>
          <a:xfrm>
            <a:off x="457200" y="1508760"/>
            <a:ext cx="4114800" cy="3108960"/>
          </a:xfrm>
          <a:prstGeom prst="rect">
            <a:avLst/>
          </a:prstGeom>
          <a:noFill/>
          <a:ln/>
        </p:spPr>
        <p:txBody>
          <a:bodyPr wrap="square" lIns="0" tIns="0" rIns="0" bIns="0" rtlCol="0" anchor="t">
            <a:normAutofit/>
          </a:bodyPr>
          <a:lstStyle/>
          <a:p>
            <a:pPr marL="177800" indent="-177800">
              <a:spcAft>
                <a:spcPts val="700"/>
              </a:spcAft>
              <a:buSzPct val="100000"/>
              <a:buChar char="•"/>
            </a:pPr>
            <a:r>
              <a:rPr lang="en-US" sz="1400" dirty="0">
                <a:solidFill>
                  <a:srgbClr val="1F2937"/>
                </a:solidFill>
                <a:latin typeface="Calibri" pitchFamily="34" charset="0"/>
                <a:ea typeface="Calibri" pitchFamily="34" charset="-122"/>
                <a:cs typeface="Calibri" pitchFamily="34" charset="-120"/>
              </a:rPr>
              <a:t>Red Save Report in the header.</a:t>
            </a:r>
            <a:endParaRPr lang="en-US" sz="1400" dirty="0"/>
          </a:p>
          <a:p>
            <a:pPr marL="177800" indent="-177800">
              <a:spcAft>
                <a:spcPts val="700"/>
              </a:spcAft>
              <a:buSzPct val="100000"/>
              <a:buChar char="•"/>
            </a:pPr>
            <a:r>
              <a:rPr lang="en-US" sz="1400" dirty="0">
                <a:solidFill>
                  <a:srgbClr val="1F2937"/>
                </a:solidFill>
                <a:latin typeface="Calibri" pitchFamily="34" charset="0"/>
                <a:ea typeface="Calibri" pitchFamily="34" charset="-122"/>
                <a:cs typeface="Calibri" pitchFamily="34" charset="-120"/>
              </a:rPr>
              <a:t>Next visit: the stand's open problems show with Before / After.</a:t>
            </a:r>
            <a:endParaRPr lang="en-US" sz="1400" dirty="0"/>
          </a:p>
          <a:p>
            <a:pPr marL="177800" indent="-177800">
              <a:spcAft>
                <a:spcPts val="700"/>
              </a:spcAft>
              <a:buSzPct val="100000"/>
              <a:buChar char="•"/>
            </a:pPr>
            <a:r>
              <a:rPr lang="en-US" sz="1400" dirty="0">
                <a:solidFill>
                  <a:srgbClr val="1F2937"/>
                </a:solidFill>
                <a:latin typeface="Calibri" pitchFamily="34" charset="0"/>
                <a:ea typeface="Calibri" pitchFamily="34" charset="-122"/>
                <a:cs typeface="Calibri" pitchFamily="34" charset="-120"/>
              </a:rPr>
              <a:t>Confirm fixed, or keep it open.</a:t>
            </a:r>
            <a:endParaRPr lang="en-US" sz="1400" dirty="0"/>
          </a:p>
          <a:p>
            <a:pPr marL="177800" indent="-177800">
              <a:spcAft>
                <a:spcPts val="700"/>
              </a:spcAft>
              <a:buSzPct val="100000"/>
              <a:buChar char="•"/>
            </a:pPr>
            <a:r>
              <a:rPr lang="en-US" sz="1400" dirty="0">
                <a:solidFill>
                  <a:srgbClr val="1F2937"/>
                </a:solidFill>
                <a:latin typeface="Calibri" pitchFamily="34" charset="0"/>
                <a:ea typeface="Calibri" pitchFamily="34" charset="-122"/>
                <a:cs typeface="Calibri" pitchFamily="34" charset="-120"/>
              </a:rPr>
              <a:t>Past Reports: every report, Load all, Search all, Supervisor Log cards.</a:t>
            </a:r>
            <a:endParaRPr lang="en-US" sz="1400" dirty="0"/>
          </a:p>
        </p:txBody>
      </p:sp>
      <p:sp>
        <p:nvSpPr>
          <p:cNvPr id="7" name="Shape 5"/>
          <p:cNvSpPr/>
          <p:nvPr/>
        </p:nvSpPr>
        <p:spPr>
          <a:xfrm>
            <a:off x="5065776" y="1408176"/>
            <a:ext cx="1609712" cy="3355848"/>
          </a:xfrm>
          <a:prstGeom prst="roundRect">
            <a:avLst>
              <a:gd name="adj" fmla="val 12497"/>
            </a:avLst>
          </a:prstGeom>
          <a:solidFill>
            <a:srgbClr val="1F2937"/>
          </a:solidFill>
          <a:ln w="12700">
            <a:solidFill>
              <a:srgbClr val="1F2937"/>
            </a:solidFill>
            <a:prstDash val="solid"/>
          </a:ln>
        </p:spPr>
      </p:sp>
      <p:pic>
        <p:nvPicPr>
          <p:cNvPr id="8" name="Image 0" descr="/home/user/Claude/docs/training/screens/08-form-open-problems-followup.png">    </p:cNvPr>
          <p:cNvPicPr>
            <a:picLocks noChangeAspect="1"/>
          </p:cNvPicPr>
          <p:nvPr/>
        </p:nvPicPr>
        <p:blipFill>
          <a:blip r:embed="rId1"/>
          <a:stretch>
            <a:fillRect/>
          </a:stretch>
        </p:blipFill>
        <p:spPr>
          <a:xfrm>
            <a:off x="5120640" y="1463040"/>
            <a:ext cx="1499984" cy="3246120"/>
          </a:xfrm>
          <a:prstGeom prst="rect">
            <a:avLst/>
          </a:prstGeom>
        </p:spPr>
      </p:pic>
      <p:sp>
        <p:nvSpPr>
          <p:cNvPr id="9" name="Shape 6"/>
          <p:cNvSpPr/>
          <p:nvPr/>
        </p:nvSpPr>
        <p:spPr>
          <a:xfrm>
            <a:off x="6885800" y="1408176"/>
            <a:ext cx="1609712" cy="3355848"/>
          </a:xfrm>
          <a:prstGeom prst="roundRect">
            <a:avLst>
              <a:gd name="adj" fmla="val 12497"/>
            </a:avLst>
          </a:prstGeom>
          <a:solidFill>
            <a:srgbClr val="1F2937"/>
          </a:solidFill>
          <a:ln w="12700">
            <a:solidFill>
              <a:srgbClr val="1F2937"/>
            </a:solidFill>
            <a:prstDash val="solid"/>
          </a:ln>
        </p:spPr>
      </p:sp>
      <p:pic>
        <p:nvPicPr>
          <p:cNvPr id="10" name="Image 1" descr="/home/user/Claude/docs/training/screens/15-history.png">    </p:cNvPr>
          <p:cNvPicPr>
            <a:picLocks noChangeAspect="1"/>
          </p:cNvPicPr>
          <p:nvPr/>
        </p:nvPicPr>
        <p:blipFill>
          <a:blip r:embed="rId2"/>
          <a:stretch>
            <a:fillRect/>
          </a:stretch>
        </p:blipFill>
        <p:spPr>
          <a:xfrm>
            <a:off x="6940664" y="1463040"/>
            <a:ext cx="1499984" cy="3246120"/>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20040"/>
            <a:ext cx="1737360" cy="310896"/>
          </a:xfrm>
          <a:prstGeom prst="roundRect">
            <a:avLst>
              <a:gd name="adj" fmla="val 50000"/>
            </a:avLst>
          </a:prstGeom>
          <a:solidFill>
            <a:srgbClr val="0F1F3D"/>
          </a:solidFill>
          <a:ln w="12700">
            <a:solidFill>
              <a:srgbClr val="0F1F3D"/>
            </a:solidFill>
            <a:prstDash val="solid"/>
          </a:ln>
        </p:spPr>
      </p:sp>
      <p:sp>
        <p:nvSpPr>
          <p:cNvPr id="3" name="Text 1"/>
          <p:cNvSpPr/>
          <p:nvPr/>
        </p:nvSpPr>
        <p:spPr>
          <a:xfrm>
            <a:off x="457200" y="320040"/>
            <a:ext cx="1737360" cy="310896"/>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Arial" pitchFamily="34" charset="0"/>
                <a:ea typeface="Arial" pitchFamily="34" charset="-122"/>
                <a:cs typeface="Arial" pitchFamily="34" charset="-120"/>
              </a:rPr>
              <a:t>INSPECTOR</a:t>
            </a:r>
            <a:endParaRPr lang="en-US" sz="1000" dirty="0"/>
          </a:p>
        </p:txBody>
      </p:sp>
      <p:sp>
        <p:nvSpPr>
          <p:cNvPr id="4" name="Text 2"/>
          <p:cNvSpPr/>
          <p:nvPr/>
        </p:nvSpPr>
        <p:spPr>
          <a:xfrm>
            <a:off x="457200" y="713232"/>
            <a:ext cx="8229600" cy="640080"/>
          </a:xfrm>
          <a:prstGeom prst="rect">
            <a:avLst/>
          </a:prstGeom>
          <a:noFill/>
          <a:ln/>
        </p:spPr>
        <p:txBody>
          <a:bodyPr wrap="square" lIns="0" tIns="0" rIns="0" bIns="0" rtlCol="0" anchor="t">
            <a:normAutofit/>
          </a:bodyPr>
          <a:lstStyle/>
          <a:p>
            <a:pPr indent="0" marL="0">
              <a:buNone/>
            </a:pPr>
            <a:r>
              <a:rPr lang="en-US" sz="2600" b="1" dirty="0">
                <a:solidFill>
                  <a:srgbClr val="0F1F3D"/>
                </a:solidFill>
                <a:latin typeface="Arial" pitchFamily="34" charset="0"/>
                <a:ea typeface="Arial" pitchFamily="34" charset="-122"/>
                <a:cs typeface="Arial" pitchFamily="34" charset="-120"/>
              </a:rPr>
              <a:t>Follow-ups: every open problem, one card</a:t>
            </a:r>
            <a:endParaRPr lang="en-US" sz="2600" dirty="0"/>
          </a:p>
        </p:txBody>
      </p:sp>
      <p:sp>
        <p:nvSpPr>
          <p:cNvPr id="5" name="Text 3"/>
          <p:cNvSpPr/>
          <p:nvPr/>
        </p:nvSpPr>
        <p:spPr>
          <a:xfrm>
            <a:off x="457200" y="4754880"/>
            <a:ext cx="5486400" cy="228600"/>
          </a:xfrm>
          <a:prstGeom prst="rect">
            <a:avLst/>
          </a:prstGeom>
          <a:noFill/>
          <a:ln/>
        </p:spPr>
        <p:txBody>
          <a:bodyPr wrap="square" lIns="0" tIns="0" rIns="0" bIns="0" rtlCol="0" anchor="ctr"/>
          <a:lstStyle/>
          <a:p>
            <a:pPr indent="0" marL="0">
              <a:buNone/>
            </a:pPr>
            <a:r>
              <a:rPr lang="en-US" sz="900" dirty="0">
                <a:solidFill>
                  <a:srgbClr val="6B7280"/>
                </a:solidFill>
                <a:latin typeface="Calibri" pitchFamily="34" charset="0"/>
                <a:ea typeface="Calibri" pitchFamily="34" charset="-122"/>
                <a:cs typeface="Calibri" pitchFamily="34" charset="-120"/>
              </a:rPr>
              <a:t>SDX Inspect · Inspector · 13</a:t>
            </a:r>
            <a:endParaRPr lang="en-US" sz="900" dirty="0"/>
          </a:p>
        </p:txBody>
      </p:sp>
      <p:sp>
        <p:nvSpPr>
          <p:cNvPr id="6" name="Text 4"/>
          <p:cNvSpPr/>
          <p:nvPr/>
        </p:nvSpPr>
        <p:spPr>
          <a:xfrm>
            <a:off x="457200" y="1508760"/>
            <a:ext cx="3840480" cy="3108960"/>
          </a:xfrm>
          <a:prstGeom prst="rect">
            <a:avLst/>
          </a:prstGeom>
          <a:noFill/>
          <a:ln/>
        </p:spPr>
        <p:txBody>
          <a:bodyPr wrap="square" lIns="0" tIns="0" rIns="0" bIns="0" rtlCol="0" anchor="t">
            <a:normAutofit/>
          </a:bodyPr>
          <a:lstStyle/>
          <a:p>
            <a:pPr marL="177800" indent="-177800">
              <a:spcAft>
                <a:spcPts val="700"/>
              </a:spcAft>
              <a:buSzPct val="100000"/>
              <a:buChar char="•"/>
            </a:pPr>
            <a:r>
              <a:rPr lang="en-US" sz="1400" dirty="0">
                <a:solidFill>
                  <a:srgbClr val="1F2937"/>
                </a:solidFill>
                <a:latin typeface="Calibri" pitchFamily="34" charset="0"/>
                <a:ea typeface="Calibri" pitchFamily="34" charset="-122"/>
                <a:cs typeface="Calibri" pitchFamily="34" charset="-120"/>
              </a:rPr>
              <a:t>Stand, unit, type, category, detail, days open.</a:t>
            </a:r>
            <a:endParaRPr lang="en-US" sz="1400" dirty="0"/>
          </a:p>
          <a:p>
            <a:pPr marL="177800" indent="-177800">
              <a:spcAft>
                <a:spcPts val="700"/>
              </a:spcAft>
              <a:buSzPct val="100000"/>
              <a:buChar char="•"/>
            </a:pPr>
            <a:r>
              <a:rPr lang="en-US" sz="1400" dirty="0">
                <a:solidFill>
                  <a:srgbClr val="1F2937"/>
                </a:solidFill>
                <a:latin typeface="Calibri" pitchFamily="34" charset="0"/>
                <a:ea typeface="Calibri" pitchFamily="34" charset="-122"/>
                <a:cs typeface="Calibri" pitchFamily="34" charset="-120"/>
              </a:rPr>
              <a:t>Status chips: Reported · In process · Waiting.</a:t>
            </a:r>
            <a:endParaRPr lang="en-US" sz="1400" dirty="0"/>
          </a:p>
          <a:p>
            <a:pPr marL="177800" indent="-177800">
              <a:spcAft>
                <a:spcPts val="700"/>
              </a:spcAft>
              <a:buSzPct val="100000"/>
              <a:buChar char="•"/>
            </a:pPr>
            <a:r>
              <a:rPr lang="en-US" sz="1400" dirty="0">
                <a:solidFill>
                  <a:srgbClr val="1F2937"/>
                </a:solidFill>
                <a:latin typeface="Calibri" pitchFamily="34" charset="0"/>
                <a:ea typeface="Calibri" pitchFamily="34" charset="-122"/>
                <a:cs typeface="Calibri" pitchFamily="34" charset="-120"/>
              </a:rPr>
              <a:t>Bottom bar: 🔔 Remind · 💬 Comment · 📷 Photo · ✓ Resolve.</a:t>
            </a:r>
            <a:endParaRPr lang="en-US" sz="1400" dirty="0"/>
          </a:p>
          <a:p>
            <a:pPr marL="177800" indent="-177800">
              <a:spcAft>
                <a:spcPts val="700"/>
              </a:spcAft>
              <a:buSzPct val="100000"/>
              <a:buChar char="•"/>
            </a:pPr>
            <a:r>
              <a:rPr lang="en-US" sz="1400" dirty="0">
                <a:solidFill>
                  <a:srgbClr val="1F2937"/>
                </a:solidFill>
                <a:latin typeface="Calibri" pitchFamily="34" charset="0"/>
                <a:ea typeface="Calibri" pitchFamily="34" charset="-122"/>
                <a:cs typeface="Calibri" pitchFamily="34" charset="-120"/>
              </a:rPr>
              <a:t>Resolve → 9 s Undo. Put back from the Fixed panel.</a:t>
            </a:r>
            <a:endParaRPr lang="en-US" sz="1400" dirty="0"/>
          </a:p>
        </p:txBody>
      </p:sp>
      <p:sp>
        <p:nvSpPr>
          <p:cNvPr id="7" name="Shape 5"/>
          <p:cNvSpPr/>
          <p:nvPr/>
        </p:nvSpPr>
        <p:spPr>
          <a:xfrm>
            <a:off x="4480560" y="1463040"/>
            <a:ext cx="3017520" cy="2758247"/>
          </a:xfrm>
          <a:prstGeom prst="roundRect">
            <a:avLst>
              <a:gd name="adj" fmla="val 3315"/>
            </a:avLst>
          </a:prstGeom>
          <a:solidFill>
            <a:srgbClr val="1F2937"/>
          </a:solidFill>
          <a:ln w="12700">
            <a:solidFill>
              <a:srgbClr val="1F2937"/>
            </a:solidFill>
            <a:prstDash val="solid"/>
          </a:ln>
        </p:spPr>
      </p:sp>
      <p:pic>
        <p:nvPicPr>
          <p:cNvPr id="8" name="Image 0" descr="/tmp/claude-0/-home-user-Claude/9bbbb27f-941a-5828-b327-75036c7070e7/scratchpad/train/v473/card-390.png">    </p:cNvPr>
          <p:cNvPicPr>
            <a:picLocks noChangeAspect="1"/>
          </p:cNvPicPr>
          <p:nvPr/>
        </p:nvPicPr>
        <p:blipFill>
          <a:blip r:embed="rId1"/>
          <a:stretch>
            <a:fillRect/>
          </a:stretch>
        </p:blipFill>
        <p:spPr>
          <a:xfrm>
            <a:off x="4526280" y="1508760"/>
            <a:ext cx="2926080" cy="2666807"/>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20040"/>
            <a:ext cx="1737360" cy="310896"/>
          </a:xfrm>
          <a:prstGeom prst="roundRect">
            <a:avLst>
              <a:gd name="adj" fmla="val 50000"/>
            </a:avLst>
          </a:prstGeom>
          <a:solidFill>
            <a:srgbClr val="0F1F3D"/>
          </a:solidFill>
          <a:ln w="12700">
            <a:solidFill>
              <a:srgbClr val="0F1F3D"/>
            </a:solidFill>
            <a:prstDash val="solid"/>
          </a:ln>
        </p:spPr>
      </p:sp>
      <p:sp>
        <p:nvSpPr>
          <p:cNvPr id="3" name="Text 1"/>
          <p:cNvSpPr/>
          <p:nvPr/>
        </p:nvSpPr>
        <p:spPr>
          <a:xfrm>
            <a:off x="457200" y="320040"/>
            <a:ext cx="1737360" cy="310896"/>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Arial" pitchFamily="34" charset="0"/>
                <a:ea typeface="Arial" pitchFamily="34" charset="-122"/>
                <a:cs typeface="Arial" pitchFamily="34" charset="-120"/>
              </a:rPr>
              <a:t>INSPECTOR</a:t>
            </a:r>
            <a:endParaRPr lang="en-US" sz="1000" dirty="0"/>
          </a:p>
        </p:txBody>
      </p:sp>
      <p:sp>
        <p:nvSpPr>
          <p:cNvPr id="4" name="Text 2"/>
          <p:cNvSpPr/>
          <p:nvPr/>
        </p:nvSpPr>
        <p:spPr>
          <a:xfrm>
            <a:off x="457200" y="713232"/>
            <a:ext cx="8229600" cy="640080"/>
          </a:xfrm>
          <a:prstGeom prst="rect">
            <a:avLst/>
          </a:prstGeom>
          <a:noFill/>
          <a:ln/>
        </p:spPr>
        <p:txBody>
          <a:bodyPr wrap="square" lIns="0" tIns="0" rIns="0" bIns="0" rtlCol="0" anchor="t">
            <a:normAutofit/>
          </a:bodyPr>
          <a:lstStyle/>
          <a:p>
            <a:pPr indent="0" marL="0">
              <a:buNone/>
            </a:pPr>
            <a:r>
              <a:rPr lang="en-US" sz="2600" b="1" dirty="0">
                <a:solidFill>
                  <a:srgbClr val="0F1F3D"/>
                </a:solidFill>
                <a:latin typeface="Arial" pitchFamily="34" charset="0"/>
                <a:ea typeface="Arial" pitchFamily="34" charset="-122"/>
                <a:cs typeface="Arial" pitchFamily="34" charset="-120"/>
              </a:rPr>
              <a:t>Follow-ups: group, filter, remind, export</a:t>
            </a:r>
            <a:endParaRPr lang="en-US" sz="2600" dirty="0"/>
          </a:p>
        </p:txBody>
      </p:sp>
      <p:sp>
        <p:nvSpPr>
          <p:cNvPr id="5" name="Text 3"/>
          <p:cNvSpPr/>
          <p:nvPr/>
        </p:nvSpPr>
        <p:spPr>
          <a:xfrm>
            <a:off x="457200" y="4754880"/>
            <a:ext cx="5486400" cy="228600"/>
          </a:xfrm>
          <a:prstGeom prst="rect">
            <a:avLst/>
          </a:prstGeom>
          <a:noFill/>
          <a:ln/>
        </p:spPr>
        <p:txBody>
          <a:bodyPr wrap="square" lIns="0" tIns="0" rIns="0" bIns="0" rtlCol="0" anchor="ctr"/>
          <a:lstStyle/>
          <a:p>
            <a:pPr indent="0" marL="0">
              <a:buNone/>
            </a:pPr>
            <a:r>
              <a:rPr lang="en-US" sz="900" dirty="0">
                <a:solidFill>
                  <a:srgbClr val="6B7280"/>
                </a:solidFill>
                <a:latin typeface="Calibri" pitchFamily="34" charset="0"/>
                <a:ea typeface="Calibri" pitchFamily="34" charset="-122"/>
                <a:cs typeface="Calibri" pitchFamily="34" charset="-120"/>
              </a:rPr>
              <a:t>SDX Inspect · Inspector · 14</a:t>
            </a:r>
            <a:endParaRPr lang="en-US" sz="900" dirty="0"/>
          </a:p>
        </p:txBody>
      </p:sp>
      <p:sp>
        <p:nvSpPr>
          <p:cNvPr id="6" name="Shape 4"/>
          <p:cNvSpPr/>
          <p:nvPr/>
        </p:nvSpPr>
        <p:spPr>
          <a:xfrm>
            <a:off x="457200" y="1463040"/>
            <a:ext cx="3977640" cy="3154680"/>
          </a:xfrm>
          <a:prstGeom prst="roundRect">
            <a:avLst>
              <a:gd name="adj" fmla="val 3478"/>
            </a:avLst>
          </a:prstGeom>
          <a:solidFill>
            <a:srgbClr val="F5F7FB"/>
          </a:solidFill>
          <a:ln w="12700">
            <a:solidFill>
              <a:srgbClr val="F5F7FB"/>
            </a:solidFill>
            <a:prstDash val="solid"/>
          </a:ln>
        </p:spPr>
      </p:sp>
      <p:sp>
        <p:nvSpPr>
          <p:cNvPr id="7" name="Shape 5"/>
          <p:cNvSpPr/>
          <p:nvPr/>
        </p:nvSpPr>
        <p:spPr>
          <a:xfrm>
            <a:off x="4709160" y="1463040"/>
            <a:ext cx="3977640" cy="3154680"/>
          </a:xfrm>
          <a:prstGeom prst="roundRect">
            <a:avLst>
              <a:gd name="adj" fmla="val 3478"/>
            </a:avLst>
          </a:prstGeom>
          <a:solidFill>
            <a:srgbClr val="F5F7FB"/>
          </a:solidFill>
          <a:ln w="12700">
            <a:solidFill>
              <a:srgbClr val="F5F7FB"/>
            </a:solidFill>
            <a:prstDash val="solid"/>
          </a:ln>
        </p:spPr>
      </p:sp>
      <p:sp>
        <p:nvSpPr>
          <p:cNvPr id="8" name="Text 6"/>
          <p:cNvSpPr/>
          <p:nvPr/>
        </p:nvSpPr>
        <p:spPr>
          <a:xfrm>
            <a:off x="685800" y="1572768"/>
            <a:ext cx="2743200" cy="274320"/>
          </a:xfrm>
          <a:prstGeom prst="rect">
            <a:avLst/>
          </a:prstGeom>
          <a:noFill/>
          <a:ln/>
        </p:spPr>
        <p:txBody>
          <a:bodyPr wrap="square" lIns="0" tIns="0" rIns="0" bIns="0" rtlCol="0" anchor="ctr"/>
          <a:lstStyle/>
          <a:p>
            <a:pPr indent="0" marL="0">
              <a:buNone/>
            </a:pPr>
            <a:r>
              <a:rPr lang="en-US" sz="1000" b="1" spc="100" kern="0" dirty="0">
                <a:solidFill>
                  <a:srgbClr val="6B7280"/>
                </a:solidFill>
                <a:latin typeface="Arial" pitchFamily="34" charset="0"/>
                <a:ea typeface="Arial" pitchFamily="34" charset="-122"/>
                <a:cs typeface="Arial" pitchFamily="34" charset="-120"/>
              </a:rPr>
              <a:t>ENGLISH</a:t>
            </a:r>
            <a:endParaRPr lang="en-US" sz="1000" dirty="0"/>
          </a:p>
        </p:txBody>
      </p:sp>
      <p:sp>
        <p:nvSpPr>
          <p:cNvPr id="9" name="Text 7"/>
          <p:cNvSpPr/>
          <p:nvPr/>
        </p:nvSpPr>
        <p:spPr>
          <a:xfrm>
            <a:off x="4937760" y="1572768"/>
            <a:ext cx="2743200" cy="274320"/>
          </a:xfrm>
          <a:prstGeom prst="rect">
            <a:avLst/>
          </a:prstGeom>
          <a:noFill/>
          <a:ln/>
        </p:spPr>
        <p:txBody>
          <a:bodyPr wrap="square" lIns="0" tIns="0" rIns="0" bIns="0" rtlCol="0" anchor="ctr"/>
          <a:lstStyle/>
          <a:p>
            <a:pPr indent="0" marL="0">
              <a:buNone/>
            </a:pPr>
            <a:r>
              <a:rPr lang="en-US" sz="1000" b="1" spc="100" kern="0" dirty="0">
                <a:solidFill>
                  <a:srgbClr val="6B7280"/>
                </a:solidFill>
                <a:latin typeface="Arial" pitchFamily="34" charset="0"/>
                <a:ea typeface="Arial" pitchFamily="34" charset="-122"/>
                <a:cs typeface="Arial" pitchFamily="34" charset="-120"/>
              </a:rPr>
              <a:t>ESPAÑOL</a:t>
            </a:r>
            <a:endParaRPr lang="en-US" sz="1000" dirty="0"/>
          </a:p>
        </p:txBody>
      </p:sp>
      <p:sp>
        <p:nvSpPr>
          <p:cNvPr id="10" name="Text 8"/>
          <p:cNvSpPr/>
          <p:nvPr/>
        </p:nvSpPr>
        <p:spPr>
          <a:xfrm>
            <a:off x="685800" y="1874520"/>
            <a:ext cx="3566160" cy="2651760"/>
          </a:xfrm>
          <a:prstGeom prst="rect">
            <a:avLst/>
          </a:prstGeom>
          <a:noFill/>
          <a:ln/>
        </p:spPr>
        <p:txBody>
          <a:bodyPr wrap="square" lIns="0" tIns="0" rIns="0" bIns="0" rtlCol="0" anchor="t">
            <a:normAutofit/>
          </a:bodyPr>
          <a:lstStyle/>
          <a:p>
            <a:pPr marL="228600" indent="-228600">
              <a:spcAft>
                <a:spcPts val="600"/>
              </a:spcAft>
              <a:buSzPct val="100000"/>
              <a:buFont typeface="+mj-lt"/>
              <a:buAutoNum type="arabicPeriod" startAt="1"/>
            </a:pPr>
            <a:r>
              <a:rPr lang="en-US" sz="1300" dirty="0">
                <a:solidFill>
                  <a:srgbClr val="1F2937"/>
                </a:solidFill>
                <a:latin typeface="Calibri" pitchFamily="34" charset="0"/>
                <a:ea typeface="Calibri" pitchFamily="34" charset="-122"/>
                <a:cs typeface="Calibri" pitchFamily="34" charset="-120"/>
              </a:rPr>
              <a:t>📍 By Stand · 🏷 By Type · 🏢 By Floor · 📅 By Date.</a:t>
            </a:r>
            <a:endParaRPr lang="en-US" sz="1300" dirty="0"/>
          </a:p>
          <a:p>
            <a:pPr marL="228600" indent="-228600">
              <a:spcAft>
                <a:spcPts val="600"/>
              </a:spcAft>
              <a:buSzPct val="100000"/>
              <a:buFont typeface="+mj-lt"/>
              <a:buAutoNum type="arabicPeriod" startAt="1"/>
            </a:pPr>
            <a:r>
              <a:rPr lang="en-US" sz="1300" dirty="0">
                <a:solidFill>
                  <a:srgbClr val="1F2937"/>
                </a:solidFill>
                <a:latin typeface="Calibri" pitchFamily="34" charset="0"/>
                <a:ea typeface="Calibri" pitchFamily="34" charset="-122"/>
                <a:cs typeface="Calibri" pitchFamily="34" charset="-120"/>
              </a:rPr>
              <a:t>Type ▾ and Floor ▾ narrow any view.</a:t>
            </a:r>
            <a:endParaRPr lang="en-US" sz="1300" dirty="0"/>
          </a:p>
          <a:p>
            <a:pPr marL="228600" indent="-228600">
              <a:spcAft>
                <a:spcPts val="600"/>
              </a:spcAft>
              <a:buSzPct val="100000"/>
              <a:buFont typeface="+mj-lt"/>
              <a:buAutoNum type="arabicPeriod" startAt="1"/>
            </a:pPr>
            <a:r>
              <a:rPr lang="en-US" sz="1300" dirty="0">
                <a:solidFill>
                  <a:srgbClr val="1F2937"/>
                </a:solidFill>
                <a:latin typeface="Calibri" pitchFamily="34" charset="0"/>
                <a:ea typeface="Calibri" pitchFamily="34" charset="-122"/>
                <a:cs typeface="Calibri" pitchFamily="34" charset="-120"/>
              </a:rPr>
              <a:t>Remind: pick cards → one Quick Check announcement.</a:t>
            </a:r>
            <a:endParaRPr lang="en-US" sz="1300" dirty="0"/>
          </a:p>
          <a:p>
            <a:pPr marL="228600" indent="-228600">
              <a:spcAft>
                <a:spcPts val="600"/>
              </a:spcAft>
              <a:buSzPct val="100000"/>
              <a:buFont typeface="+mj-lt"/>
              <a:buAutoNum type="arabicPeriod" startAt="1"/>
            </a:pPr>
            <a:r>
              <a:rPr lang="en-US" sz="1300" dirty="0">
                <a:solidFill>
                  <a:srgbClr val="1F2937"/>
                </a:solidFill>
                <a:latin typeface="Calibri" pitchFamily="34" charset="0"/>
                <a:ea typeface="Calibri" pitchFamily="34" charset="-122"/>
                <a:cs typeface="Calibri" pitchFamily="34" charset="-120"/>
              </a:rPr>
              <a:t>✅ Fixed panel by day, ↩ Put back. 🧹 Cleaning log + PDF.</a:t>
            </a:r>
            <a:endParaRPr lang="en-US" sz="1300" dirty="0"/>
          </a:p>
          <a:p>
            <a:pPr marL="228600" indent="-228600">
              <a:spcAft>
                <a:spcPts val="600"/>
              </a:spcAft>
              <a:buSzPct val="100000"/>
              <a:buFont typeface="+mj-lt"/>
              <a:buAutoNum type="arabicPeriod" startAt="1"/>
            </a:pPr>
            <a:r>
              <a:rPr lang="en-US" sz="1300" dirty="0">
                <a:solidFill>
                  <a:srgbClr val="1F2937"/>
                </a:solidFill>
                <a:latin typeface="Calibri" pitchFamily="34" charset="0"/>
                <a:ea typeface="Calibri" pitchFamily="34" charset="-122"/>
                <a:cs typeface="Calibri" pitchFamily="34" charset="-120"/>
              </a:rPr>
              <a:t>Select → Excel · PDF · Word · 📸 Before &amp; After (photos in cells).</a:t>
            </a:r>
            <a:endParaRPr lang="en-US" sz="1300" dirty="0"/>
          </a:p>
        </p:txBody>
      </p:sp>
      <p:sp>
        <p:nvSpPr>
          <p:cNvPr id="11" name="Text 9"/>
          <p:cNvSpPr/>
          <p:nvPr/>
        </p:nvSpPr>
        <p:spPr>
          <a:xfrm>
            <a:off x="4937760" y="1874520"/>
            <a:ext cx="3566160" cy="2651760"/>
          </a:xfrm>
          <a:prstGeom prst="rect">
            <a:avLst/>
          </a:prstGeom>
          <a:noFill/>
          <a:ln/>
        </p:spPr>
        <p:txBody>
          <a:bodyPr wrap="square" lIns="0" tIns="0" rIns="0" bIns="0" rtlCol="0" anchor="t">
            <a:normAutofit/>
          </a:bodyPr>
          <a:lstStyle/>
          <a:p>
            <a:pPr marL="228600" indent="-228600">
              <a:spcAft>
                <a:spcPts val="600"/>
              </a:spcAft>
              <a:buSzPct val="100000"/>
              <a:buFont typeface="+mj-lt"/>
              <a:buAutoNum type="arabicPeriod" startAt="1"/>
            </a:pPr>
            <a:r>
              <a:rPr lang="en-US" sz="1300" dirty="0">
                <a:solidFill>
                  <a:srgbClr val="1F2937"/>
                </a:solidFill>
                <a:latin typeface="Calibri" pitchFamily="34" charset="0"/>
                <a:ea typeface="Calibri" pitchFamily="34" charset="-122"/>
                <a:cs typeface="Calibri" pitchFamily="34" charset="-120"/>
              </a:rPr>
              <a:t>📍 Por puesto · 🏷 Por tipo · 🏢 Por piso · 📅 Por fecha.</a:t>
            </a:r>
            <a:endParaRPr lang="en-US" sz="1300" dirty="0"/>
          </a:p>
          <a:p>
            <a:pPr marL="228600" indent="-228600">
              <a:spcAft>
                <a:spcPts val="600"/>
              </a:spcAft>
              <a:buSzPct val="100000"/>
              <a:buFont typeface="+mj-lt"/>
              <a:buAutoNum type="arabicPeriod" startAt="1"/>
            </a:pPr>
            <a:r>
              <a:rPr lang="en-US" sz="1300" dirty="0">
                <a:solidFill>
                  <a:srgbClr val="1F2937"/>
                </a:solidFill>
                <a:latin typeface="Calibri" pitchFamily="34" charset="0"/>
                <a:ea typeface="Calibri" pitchFamily="34" charset="-122"/>
                <a:cs typeface="Calibri" pitchFamily="34" charset="-120"/>
              </a:rPr>
              <a:t>Type ▾ y Floor ▾ acotan cualquier vista.</a:t>
            </a:r>
            <a:endParaRPr lang="en-US" sz="1300" dirty="0"/>
          </a:p>
          <a:p>
            <a:pPr marL="228600" indent="-228600">
              <a:spcAft>
                <a:spcPts val="600"/>
              </a:spcAft>
              <a:buSzPct val="100000"/>
              <a:buFont typeface="+mj-lt"/>
              <a:buAutoNum type="arabicPeriod" startAt="1"/>
            </a:pPr>
            <a:r>
              <a:rPr lang="en-US" sz="1300" dirty="0">
                <a:solidFill>
                  <a:srgbClr val="1F2937"/>
                </a:solidFill>
                <a:latin typeface="Calibri" pitchFamily="34" charset="0"/>
                <a:ea typeface="Calibri" pitchFamily="34" charset="-122"/>
                <a:cs typeface="Calibri" pitchFamily="34" charset="-120"/>
              </a:rPr>
              <a:t>Remind: elige tarjetas → un solo aviso Quick Check.</a:t>
            </a:r>
            <a:endParaRPr lang="en-US" sz="1300" dirty="0"/>
          </a:p>
          <a:p>
            <a:pPr marL="228600" indent="-228600">
              <a:spcAft>
                <a:spcPts val="600"/>
              </a:spcAft>
              <a:buSzPct val="100000"/>
              <a:buFont typeface="+mj-lt"/>
              <a:buAutoNum type="arabicPeriod" startAt="1"/>
            </a:pPr>
            <a:r>
              <a:rPr lang="en-US" sz="1300" dirty="0">
                <a:solidFill>
                  <a:srgbClr val="1F2937"/>
                </a:solidFill>
                <a:latin typeface="Calibri" pitchFamily="34" charset="0"/>
                <a:ea typeface="Calibri" pitchFamily="34" charset="-122"/>
                <a:cs typeface="Calibri" pitchFamily="34" charset="-120"/>
              </a:rPr>
              <a:t>Panel ✅ Fixed por día, ↩ Put back. 🧹 Registro de limpieza + PDF.</a:t>
            </a:r>
            <a:endParaRPr lang="en-US" sz="1300" dirty="0"/>
          </a:p>
          <a:p>
            <a:pPr marL="228600" indent="-228600">
              <a:spcAft>
                <a:spcPts val="600"/>
              </a:spcAft>
              <a:buSzPct val="100000"/>
              <a:buFont typeface="+mj-lt"/>
              <a:buAutoNum type="arabicPeriod" startAt="1"/>
            </a:pPr>
            <a:r>
              <a:rPr lang="en-US" sz="1300" dirty="0">
                <a:solidFill>
                  <a:srgbClr val="1F2937"/>
                </a:solidFill>
                <a:latin typeface="Calibri" pitchFamily="34" charset="0"/>
                <a:ea typeface="Calibri" pitchFamily="34" charset="-122"/>
                <a:cs typeface="Calibri" pitchFamily="34" charset="-120"/>
              </a:rPr>
              <a:t>Select → Excel · PDF · Word · 📸 Before &amp; After (fotos en celdas).</a:t>
            </a:r>
            <a:endParaRPr lang="en-US" sz="13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20040"/>
            <a:ext cx="1737360" cy="310896"/>
          </a:xfrm>
          <a:prstGeom prst="roundRect">
            <a:avLst>
              <a:gd name="adj" fmla="val 50000"/>
            </a:avLst>
          </a:prstGeom>
          <a:solidFill>
            <a:srgbClr val="0F1F3D"/>
          </a:solidFill>
          <a:ln w="12700">
            <a:solidFill>
              <a:srgbClr val="0F1F3D"/>
            </a:solidFill>
            <a:prstDash val="solid"/>
          </a:ln>
        </p:spPr>
      </p:sp>
      <p:sp>
        <p:nvSpPr>
          <p:cNvPr id="3" name="Text 1"/>
          <p:cNvSpPr/>
          <p:nvPr/>
        </p:nvSpPr>
        <p:spPr>
          <a:xfrm>
            <a:off x="457200" y="320040"/>
            <a:ext cx="1737360" cy="310896"/>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Arial" pitchFamily="34" charset="0"/>
                <a:ea typeface="Arial" pitchFamily="34" charset="-122"/>
                <a:cs typeface="Arial" pitchFamily="34" charset="-120"/>
              </a:rPr>
              <a:t>INSPECTOR</a:t>
            </a:r>
            <a:endParaRPr lang="en-US" sz="1000" dirty="0"/>
          </a:p>
        </p:txBody>
      </p:sp>
      <p:sp>
        <p:nvSpPr>
          <p:cNvPr id="4" name="Text 2"/>
          <p:cNvSpPr/>
          <p:nvPr/>
        </p:nvSpPr>
        <p:spPr>
          <a:xfrm>
            <a:off x="457200" y="713232"/>
            <a:ext cx="8229600" cy="640080"/>
          </a:xfrm>
          <a:prstGeom prst="rect">
            <a:avLst/>
          </a:prstGeom>
          <a:noFill/>
          <a:ln/>
        </p:spPr>
        <p:txBody>
          <a:bodyPr wrap="square" lIns="0" tIns="0" rIns="0" bIns="0" rtlCol="0" anchor="t">
            <a:normAutofit/>
          </a:bodyPr>
          <a:lstStyle/>
          <a:p>
            <a:pPr indent="0" marL="0">
              <a:buNone/>
            </a:pPr>
            <a:r>
              <a:rPr lang="en-US" sz="2600" b="1" dirty="0">
                <a:solidFill>
                  <a:srgbClr val="0F1F3D"/>
                </a:solidFill>
                <a:latin typeface="Arial" pitchFamily="34" charset="0"/>
                <a:ea typeface="Arial" pitchFamily="34" charset="-122"/>
                <a:cs typeface="Arial" pitchFamily="34" charset="-120"/>
              </a:rPr>
              <a:t>Analytics → Temps: who logged today</a:t>
            </a:r>
            <a:endParaRPr lang="en-US" sz="2600" dirty="0"/>
          </a:p>
        </p:txBody>
      </p:sp>
      <p:sp>
        <p:nvSpPr>
          <p:cNvPr id="5" name="Text 3"/>
          <p:cNvSpPr/>
          <p:nvPr/>
        </p:nvSpPr>
        <p:spPr>
          <a:xfrm>
            <a:off x="457200" y="4754880"/>
            <a:ext cx="5486400" cy="228600"/>
          </a:xfrm>
          <a:prstGeom prst="rect">
            <a:avLst/>
          </a:prstGeom>
          <a:noFill/>
          <a:ln/>
        </p:spPr>
        <p:txBody>
          <a:bodyPr wrap="square" lIns="0" tIns="0" rIns="0" bIns="0" rtlCol="0" anchor="ctr"/>
          <a:lstStyle/>
          <a:p>
            <a:pPr indent="0" marL="0">
              <a:buNone/>
            </a:pPr>
            <a:r>
              <a:rPr lang="en-US" sz="900" dirty="0">
                <a:solidFill>
                  <a:srgbClr val="6B7280"/>
                </a:solidFill>
                <a:latin typeface="Calibri" pitchFamily="34" charset="0"/>
                <a:ea typeface="Calibri" pitchFamily="34" charset="-122"/>
                <a:cs typeface="Calibri" pitchFamily="34" charset="-120"/>
              </a:rPr>
              <a:t>SDX Inspect · Inspector · 15</a:t>
            </a:r>
            <a:endParaRPr lang="en-US" sz="900" dirty="0"/>
          </a:p>
        </p:txBody>
      </p:sp>
      <p:sp>
        <p:nvSpPr>
          <p:cNvPr id="6" name="Shape 4"/>
          <p:cNvSpPr/>
          <p:nvPr/>
        </p:nvSpPr>
        <p:spPr>
          <a:xfrm>
            <a:off x="457200" y="1463040"/>
            <a:ext cx="3977640" cy="3154680"/>
          </a:xfrm>
          <a:prstGeom prst="roundRect">
            <a:avLst>
              <a:gd name="adj" fmla="val 3478"/>
            </a:avLst>
          </a:prstGeom>
          <a:solidFill>
            <a:srgbClr val="F5F7FB"/>
          </a:solidFill>
          <a:ln w="12700">
            <a:solidFill>
              <a:srgbClr val="F5F7FB"/>
            </a:solidFill>
            <a:prstDash val="solid"/>
          </a:ln>
        </p:spPr>
      </p:sp>
      <p:sp>
        <p:nvSpPr>
          <p:cNvPr id="7" name="Shape 5"/>
          <p:cNvSpPr/>
          <p:nvPr/>
        </p:nvSpPr>
        <p:spPr>
          <a:xfrm>
            <a:off x="4709160" y="1463040"/>
            <a:ext cx="3977640" cy="3154680"/>
          </a:xfrm>
          <a:prstGeom prst="roundRect">
            <a:avLst>
              <a:gd name="adj" fmla="val 3478"/>
            </a:avLst>
          </a:prstGeom>
          <a:solidFill>
            <a:srgbClr val="F5F7FB"/>
          </a:solidFill>
          <a:ln w="12700">
            <a:solidFill>
              <a:srgbClr val="F5F7FB"/>
            </a:solidFill>
            <a:prstDash val="solid"/>
          </a:ln>
        </p:spPr>
      </p:sp>
      <p:sp>
        <p:nvSpPr>
          <p:cNvPr id="8" name="Text 6"/>
          <p:cNvSpPr/>
          <p:nvPr/>
        </p:nvSpPr>
        <p:spPr>
          <a:xfrm>
            <a:off x="685800" y="1572768"/>
            <a:ext cx="2743200" cy="274320"/>
          </a:xfrm>
          <a:prstGeom prst="rect">
            <a:avLst/>
          </a:prstGeom>
          <a:noFill/>
          <a:ln/>
        </p:spPr>
        <p:txBody>
          <a:bodyPr wrap="square" lIns="0" tIns="0" rIns="0" bIns="0" rtlCol="0" anchor="ctr"/>
          <a:lstStyle/>
          <a:p>
            <a:pPr indent="0" marL="0">
              <a:buNone/>
            </a:pPr>
            <a:r>
              <a:rPr lang="en-US" sz="1000" b="1" spc="100" kern="0" dirty="0">
                <a:solidFill>
                  <a:srgbClr val="6B7280"/>
                </a:solidFill>
                <a:latin typeface="Arial" pitchFamily="34" charset="0"/>
                <a:ea typeface="Arial" pitchFamily="34" charset="-122"/>
                <a:cs typeface="Arial" pitchFamily="34" charset="-120"/>
              </a:rPr>
              <a:t>ENGLISH</a:t>
            </a:r>
            <a:endParaRPr lang="en-US" sz="1000" dirty="0"/>
          </a:p>
        </p:txBody>
      </p:sp>
      <p:sp>
        <p:nvSpPr>
          <p:cNvPr id="9" name="Text 7"/>
          <p:cNvSpPr/>
          <p:nvPr/>
        </p:nvSpPr>
        <p:spPr>
          <a:xfrm>
            <a:off x="4937760" y="1572768"/>
            <a:ext cx="2743200" cy="274320"/>
          </a:xfrm>
          <a:prstGeom prst="rect">
            <a:avLst/>
          </a:prstGeom>
          <a:noFill/>
          <a:ln/>
        </p:spPr>
        <p:txBody>
          <a:bodyPr wrap="square" lIns="0" tIns="0" rIns="0" bIns="0" rtlCol="0" anchor="ctr"/>
          <a:lstStyle/>
          <a:p>
            <a:pPr indent="0" marL="0">
              <a:buNone/>
            </a:pPr>
            <a:r>
              <a:rPr lang="en-US" sz="1000" b="1" spc="100" kern="0" dirty="0">
                <a:solidFill>
                  <a:srgbClr val="6B7280"/>
                </a:solidFill>
                <a:latin typeface="Arial" pitchFamily="34" charset="0"/>
                <a:ea typeface="Arial" pitchFamily="34" charset="-122"/>
                <a:cs typeface="Arial" pitchFamily="34" charset="-120"/>
              </a:rPr>
              <a:t>ESPAÑOL</a:t>
            </a:r>
            <a:endParaRPr lang="en-US" sz="1000" dirty="0"/>
          </a:p>
        </p:txBody>
      </p:sp>
      <p:sp>
        <p:nvSpPr>
          <p:cNvPr id="10" name="Text 8"/>
          <p:cNvSpPr/>
          <p:nvPr/>
        </p:nvSpPr>
        <p:spPr>
          <a:xfrm>
            <a:off x="685800" y="1874520"/>
            <a:ext cx="3566160" cy="2651760"/>
          </a:xfrm>
          <a:prstGeom prst="rect">
            <a:avLst/>
          </a:prstGeom>
          <a:noFill/>
          <a:ln/>
        </p:spPr>
        <p:txBody>
          <a:bodyPr wrap="square" lIns="0" tIns="0" rIns="0" bIns="0" rtlCol="0" anchor="t">
            <a:normAutofit/>
          </a:bodyPr>
          <a:lstStyle/>
          <a:p>
            <a:pPr marL="228600" indent="-228600">
              <a:spcAft>
                <a:spcPts val="600"/>
              </a:spcAft>
              <a:buSzPct val="100000"/>
              <a:buFont typeface="+mj-lt"/>
              <a:buAutoNum type="arabicPeriod" startAt="1"/>
            </a:pPr>
            <a:r>
              <a:rPr lang="en-US" sz="1300" dirty="0">
                <a:solidFill>
                  <a:srgbClr val="1F2937"/>
                </a:solidFill>
                <a:latin typeface="Calibri" pitchFamily="34" charset="0"/>
                <a:ea typeface="Calibri" pitchFamily="34" charset="-122"/>
                <a:cs typeface="Calibri" pitchFamily="34" charset="-120"/>
              </a:rPr>
              <a:t>One list: every stand, its people underneath.</a:t>
            </a:r>
            <a:endParaRPr lang="en-US" sz="1300" dirty="0"/>
          </a:p>
          <a:p>
            <a:pPr marL="228600" indent="-228600">
              <a:spcAft>
                <a:spcPts val="600"/>
              </a:spcAft>
              <a:buSzPct val="100000"/>
              <a:buFont typeface="+mj-lt"/>
              <a:buAutoNum type="arabicPeriod" startAt="1"/>
            </a:pPr>
            <a:r>
              <a:rPr lang="en-US" sz="1300" dirty="0">
                <a:solidFill>
                  <a:srgbClr val="1F2937"/>
                </a:solidFill>
                <a:latin typeface="Calibri" pitchFamily="34" charset="0"/>
                <a:ea typeface="Calibri" pitchFamily="34" charset="-122"/>
                <a:cs typeface="Calibri" pitchFamily="34" charset="-120"/>
              </a:rPr>
              <a:t>✓ Logged 10:42 / ⏰ Missed / never logged.</a:t>
            </a:r>
            <a:endParaRPr lang="en-US" sz="1300" dirty="0"/>
          </a:p>
          <a:p>
            <a:pPr marL="228600" indent="-228600">
              <a:spcAft>
                <a:spcPts val="600"/>
              </a:spcAft>
              <a:buSzPct val="100000"/>
              <a:buFont typeface="+mj-lt"/>
              <a:buAutoNum type="arabicPeriod" startAt="1"/>
            </a:pPr>
            <a:r>
              <a:rPr lang="en-US" sz="1300" dirty="0">
                <a:solidFill>
                  <a:srgbClr val="1F2937"/>
                </a:solidFill>
                <a:latin typeface="Calibri" pitchFamily="34" charset="0"/>
                <a:ea typeface="Calibri" pitchFamily="34" charset="-122"/>
                <a:cs typeface="Calibri" pitchFamily="34" charset="-120"/>
              </a:rPr>
              <a:t>💬 Text = their personal link, already signed in.</a:t>
            </a:r>
            <a:endParaRPr lang="en-US" sz="1300" dirty="0"/>
          </a:p>
          <a:p>
            <a:pPr marL="228600" indent="-228600">
              <a:spcAft>
                <a:spcPts val="600"/>
              </a:spcAft>
              <a:buSzPct val="100000"/>
              <a:buFont typeface="+mj-lt"/>
              <a:buAutoNum type="arabicPeriod" startAt="1"/>
            </a:pPr>
            <a:r>
              <a:rPr lang="en-US" sz="1300" dirty="0">
                <a:solidFill>
                  <a:srgbClr val="1F2937"/>
                </a:solidFill>
                <a:latin typeface="Calibri" pitchFamily="34" charset="0"/>
                <a:ea typeface="Calibri" pitchFamily="34" charset="-122"/>
                <a:cs typeface="Calibri" pitchFamily="34" charset="-120"/>
              </a:rPr>
              <a:t>📨 Text all missed (N): one person at a time, Next, Done.</a:t>
            </a:r>
            <a:endParaRPr lang="en-US" sz="1300" dirty="0"/>
          </a:p>
          <a:p>
            <a:pPr marL="228600" indent="-228600">
              <a:spcAft>
                <a:spcPts val="600"/>
              </a:spcAft>
              <a:buSzPct val="100000"/>
              <a:buFont typeface="+mj-lt"/>
              <a:buAutoNum type="arabicPeriod" startAt="1"/>
            </a:pPr>
            <a:r>
              <a:rPr lang="en-US" sz="1300" dirty="0">
                <a:solidFill>
                  <a:srgbClr val="1F2937"/>
                </a:solidFill>
                <a:latin typeface="Calibri" pitchFamily="34" charset="0"/>
                <a:ea typeface="Calibri" pitchFamily="34" charset="-122"/>
                <a:cs typeface="Calibri" pitchFamily="34" charset="-120"/>
              </a:rPr>
              <a:t>Chips: logged · missed · pending · inspected.</a:t>
            </a:r>
            <a:endParaRPr lang="en-US" sz="1300" dirty="0"/>
          </a:p>
        </p:txBody>
      </p:sp>
      <p:sp>
        <p:nvSpPr>
          <p:cNvPr id="11" name="Text 9"/>
          <p:cNvSpPr/>
          <p:nvPr/>
        </p:nvSpPr>
        <p:spPr>
          <a:xfrm>
            <a:off x="4937760" y="1874520"/>
            <a:ext cx="3566160" cy="2651760"/>
          </a:xfrm>
          <a:prstGeom prst="rect">
            <a:avLst/>
          </a:prstGeom>
          <a:noFill/>
          <a:ln/>
        </p:spPr>
        <p:txBody>
          <a:bodyPr wrap="square" lIns="0" tIns="0" rIns="0" bIns="0" rtlCol="0" anchor="t">
            <a:normAutofit/>
          </a:bodyPr>
          <a:lstStyle/>
          <a:p>
            <a:pPr marL="228600" indent="-228600">
              <a:spcAft>
                <a:spcPts val="600"/>
              </a:spcAft>
              <a:buSzPct val="100000"/>
              <a:buFont typeface="+mj-lt"/>
              <a:buAutoNum type="arabicPeriod" startAt="1"/>
            </a:pPr>
            <a:r>
              <a:rPr lang="en-US" sz="1300" dirty="0">
                <a:solidFill>
                  <a:srgbClr val="1F2937"/>
                </a:solidFill>
                <a:latin typeface="Calibri" pitchFamily="34" charset="0"/>
                <a:ea typeface="Calibri" pitchFamily="34" charset="-122"/>
                <a:cs typeface="Calibri" pitchFamily="34" charset="-120"/>
              </a:rPr>
              <a:t>Una lista: cada puesto, su gente debajo.</a:t>
            </a:r>
            <a:endParaRPr lang="en-US" sz="1300" dirty="0"/>
          </a:p>
          <a:p>
            <a:pPr marL="228600" indent="-228600">
              <a:spcAft>
                <a:spcPts val="600"/>
              </a:spcAft>
              <a:buSzPct val="100000"/>
              <a:buFont typeface="+mj-lt"/>
              <a:buAutoNum type="arabicPeriod" startAt="1"/>
            </a:pPr>
            <a:r>
              <a:rPr lang="en-US" sz="1300" dirty="0">
                <a:solidFill>
                  <a:srgbClr val="1F2937"/>
                </a:solidFill>
                <a:latin typeface="Calibri" pitchFamily="34" charset="0"/>
                <a:ea typeface="Calibri" pitchFamily="34" charset="-122"/>
                <a:cs typeface="Calibri" pitchFamily="34" charset="-120"/>
              </a:rPr>
              <a:t>✓ Logged 10:42 / ⏰ Missed / nunca registró.</a:t>
            </a:r>
            <a:endParaRPr lang="en-US" sz="1300" dirty="0"/>
          </a:p>
          <a:p>
            <a:pPr marL="228600" indent="-228600">
              <a:spcAft>
                <a:spcPts val="600"/>
              </a:spcAft>
              <a:buSzPct val="100000"/>
              <a:buFont typeface="+mj-lt"/>
              <a:buAutoNum type="arabicPeriod" startAt="1"/>
            </a:pPr>
            <a:r>
              <a:rPr lang="en-US" sz="1300" dirty="0">
                <a:solidFill>
                  <a:srgbClr val="1F2937"/>
                </a:solidFill>
                <a:latin typeface="Calibri" pitchFamily="34" charset="0"/>
                <a:ea typeface="Calibri" pitchFamily="34" charset="-122"/>
                <a:cs typeface="Calibri" pitchFamily="34" charset="-120"/>
              </a:rPr>
              <a:t>💬 Text = su enlace personal, ya conectado.</a:t>
            </a:r>
            <a:endParaRPr lang="en-US" sz="1300" dirty="0"/>
          </a:p>
          <a:p>
            <a:pPr marL="228600" indent="-228600">
              <a:spcAft>
                <a:spcPts val="600"/>
              </a:spcAft>
              <a:buSzPct val="100000"/>
              <a:buFont typeface="+mj-lt"/>
              <a:buAutoNum type="arabicPeriod" startAt="1"/>
            </a:pPr>
            <a:r>
              <a:rPr lang="en-US" sz="1300" dirty="0">
                <a:solidFill>
                  <a:srgbClr val="1F2937"/>
                </a:solidFill>
                <a:latin typeface="Calibri" pitchFamily="34" charset="0"/>
                <a:ea typeface="Calibri" pitchFamily="34" charset="-122"/>
                <a:cs typeface="Calibri" pitchFamily="34" charset="-120"/>
              </a:rPr>
              <a:t>📨 Text all missed (N): una persona a la vez, Next, Done.</a:t>
            </a:r>
            <a:endParaRPr lang="en-US" sz="1300" dirty="0"/>
          </a:p>
          <a:p>
            <a:pPr marL="228600" indent="-228600">
              <a:spcAft>
                <a:spcPts val="600"/>
              </a:spcAft>
              <a:buSzPct val="100000"/>
              <a:buFont typeface="+mj-lt"/>
              <a:buAutoNum type="arabicPeriod" startAt="1"/>
            </a:pPr>
            <a:r>
              <a:rPr lang="en-US" sz="1300" dirty="0">
                <a:solidFill>
                  <a:srgbClr val="1F2937"/>
                </a:solidFill>
                <a:latin typeface="Calibri" pitchFamily="34" charset="0"/>
                <a:ea typeface="Calibri" pitchFamily="34" charset="-122"/>
                <a:cs typeface="Calibri" pitchFamily="34" charset="-120"/>
              </a:rPr>
              <a:t>Chips: logged · missed · pending · inspected.</a:t>
            </a:r>
            <a:endParaRPr lang="en-US" sz="13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20040"/>
            <a:ext cx="1737360" cy="310896"/>
          </a:xfrm>
          <a:prstGeom prst="roundRect">
            <a:avLst>
              <a:gd name="adj" fmla="val 50000"/>
            </a:avLst>
          </a:prstGeom>
          <a:solidFill>
            <a:srgbClr val="0F1F3D"/>
          </a:solidFill>
          <a:ln w="12700">
            <a:solidFill>
              <a:srgbClr val="0F1F3D"/>
            </a:solidFill>
            <a:prstDash val="solid"/>
          </a:ln>
        </p:spPr>
      </p:sp>
      <p:sp>
        <p:nvSpPr>
          <p:cNvPr id="3" name="Text 1"/>
          <p:cNvSpPr/>
          <p:nvPr/>
        </p:nvSpPr>
        <p:spPr>
          <a:xfrm>
            <a:off x="457200" y="320040"/>
            <a:ext cx="1737360" cy="310896"/>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Arial" pitchFamily="34" charset="0"/>
                <a:ea typeface="Arial" pitchFamily="34" charset="-122"/>
                <a:cs typeface="Arial" pitchFamily="34" charset="-120"/>
              </a:rPr>
              <a:t>INSPECTOR</a:t>
            </a:r>
            <a:endParaRPr lang="en-US" sz="1000" dirty="0"/>
          </a:p>
        </p:txBody>
      </p:sp>
      <p:sp>
        <p:nvSpPr>
          <p:cNvPr id="4" name="Text 2"/>
          <p:cNvSpPr/>
          <p:nvPr/>
        </p:nvSpPr>
        <p:spPr>
          <a:xfrm>
            <a:off x="457200" y="713232"/>
            <a:ext cx="8229600" cy="640080"/>
          </a:xfrm>
          <a:prstGeom prst="rect">
            <a:avLst/>
          </a:prstGeom>
          <a:noFill/>
          <a:ln/>
        </p:spPr>
        <p:txBody>
          <a:bodyPr wrap="square" lIns="0" tIns="0" rIns="0" bIns="0" rtlCol="0" anchor="t">
            <a:normAutofit/>
          </a:bodyPr>
          <a:lstStyle/>
          <a:p>
            <a:pPr indent="0" marL="0">
              <a:buNone/>
            </a:pPr>
            <a:r>
              <a:rPr lang="en-US" sz="2600" b="1" dirty="0">
                <a:solidFill>
                  <a:srgbClr val="0F1F3D"/>
                </a:solidFill>
                <a:latin typeface="Arial" pitchFamily="34" charset="0"/>
                <a:ea typeface="Arial" pitchFamily="34" charset="-122"/>
                <a:cs typeface="Arial" pitchFamily="34" charset="-120"/>
              </a:rPr>
              <a:t>Stands &amp; equipment</a:t>
            </a:r>
            <a:endParaRPr lang="en-US" sz="2600" dirty="0"/>
          </a:p>
        </p:txBody>
      </p:sp>
      <p:sp>
        <p:nvSpPr>
          <p:cNvPr id="5" name="Text 3"/>
          <p:cNvSpPr/>
          <p:nvPr/>
        </p:nvSpPr>
        <p:spPr>
          <a:xfrm>
            <a:off x="457200" y="4754880"/>
            <a:ext cx="5486400" cy="228600"/>
          </a:xfrm>
          <a:prstGeom prst="rect">
            <a:avLst/>
          </a:prstGeom>
          <a:noFill/>
          <a:ln/>
        </p:spPr>
        <p:txBody>
          <a:bodyPr wrap="square" lIns="0" tIns="0" rIns="0" bIns="0" rtlCol="0" anchor="ctr"/>
          <a:lstStyle/>
          <a:p>
            <a:pPr indent="0" marL="0">
              <a:buNone/>
            </a:pPr>
            <a:r>
              <a:rPr lang="en-US" sz="900" dirty="0">
                <a:solidFill>
                  <a:srgbClr val="6B7280"/>
                </a:solidFill>
                <a:latin typeface="Calibri" pitchFamily="34" charset="0"/>
                <a:ea typeface="Calibri" pitchFamily="34" charset="-122"/>
                <a:cs typeface="Calibri" pitchFamily="34" charset="-120"/>
              </a:rPr>
              <a:t>SDX Inspect · Inspector · 16</a:t>
            </a:r>
            <a:endParaRPr lang="en-US" sz="900" dirty="0"/>
          </a:p>
        </p:txBody>
      </p:sp>
      <p:sp>
        <p:nvSpPr>
          <p:cNvPr id="6" name="Text 4"/>
          <p:cNvSpPr/>
          <p:nvPr/>
        </p:nvSpPr>
        <p:spPr>
          <a:xfrm>
            <a:off x="457200" y="1508760"/>
            <a:ext cx="4114800" cy="3108960"/>
          </a:xfrm>
          <a:prstGeom prst="rect">
            <a:avLst/>
          </a:prstGeom>
          <a:noFill/>
          <a:ln/>
        </p:spPr>
        <p:txBody>
          <a:bodyPr wrap="square" lIns="0" tIns="0" rIns="0" bIns="0" rtlCol="0" anchor="t">
            <a:normAutofit/>
          </a:bodyPr>
          <a:lstStyle/>
          <a:p>
            <a:pPr marL="177800" indent="-177800">
              <a:spcAft>
                <a:spcPts val="700"/>
              </a:spcAft>
              <a:buSzPct val="100000"/>
              <a:buChar char="•"/>
            </a:pPr>
            <a:r>
              <a:rPr lang="en-US" sz="1400" dirty="0">
                <a:solidFill>
                  <a:srgbClr val="1F2937"/>
                </a:solidFill>
                <a:latin typeface="Calibri" pitchFamily="34" charset="0"/>
                <a:ea typeface="Calibri" pitchFamily="34" charset="-122"/>
                <a:cs typeface="Calibri" pitchFamily="34" charset="-120"/>
              </a:rPr>
              <a:t>Posters &amp; licenses: one card per stand, type, license, QR.</a:t>
            </a:r>
            <a:endParaRPr lang="en-US" sz="1400" dirty="0"/>
          </a:p>
          <a:p>
            <a:pPr marL="177800" indent="-177800">
              <a:spcAft>
                <a:spcPts val="700"/>
              </a:spcAft>
              <a:buSzPct val="100000"/>
              <a:buChar char="•"/>
            </a:pPr>
            <a:r>
              <a:rPr lang="en-US" sz="1400" dirty="0">
                <a:solidFill>
                  <a:srgbClr val="1F2937"/>
                </a:solidFill>
                <a:latin typeface="Calibri" pitchFamily="34" charset="0"/>
                <a:ea typeface="Calibri" pitchFamily="34" charset="-122"/>
                <a:cs typeface="Calibri" pitchFamily="34" charset="-120"/>
              </a:rPr>
              <a:t>Floor pills → Print in unit order with a divider sheet per floor.</a:t>
            </a:r>
            <a:endParaRPr lang="en-US" sz="1400" dirty="0"/>
          </a:p>
          <a:p>
            <a:pPr marL="177800" indent="-177800">
              <a:spcAft>
                <a:spcPts val="700"/>
              </a:spcAft>
              <a:buSzPct val="100000"/>
              <a:buChar char="•"/>
            </a:pPr>
            <a:r>
              <a:rPr lang="en-US" sz="1400" dirty="0">
                <a:solidFill>
                  <a:srgbClr val="1F2937"/>
                </a:solidFill>
                <a:latin typeface="Calibri" pitchFamily="34" charset="0"/>
                <a:ea typeface="Calibri" pitchFamily="34" charset="-122"/>
                <a:cs typeface="Calibri" pitchFamily="34" charset="-120"/>
              </a:rPr>
              <a:t>👥 People at this stand: text link, WhatsApp, add person.</a:t>
            </a:r>
            <a:endParaRPr lang="en-US" sz="1400" dirty="0"/>
          </a:p>
          <a:p>
            <a:pPr marL="177800" indent="-177800">
              <a:spcAft>
                <a:spcPts val="700"/>
              </a:spcAft>
              <a:buSzPct val="100000"/>
              <a:buChar char="•"/>
            </a:pPr>
            <a:r>
              <a:rPr lang="en-US" sz="1400" dirty="0">
                <a:solidFill>
                  <a:srgbClr val="1F2937"/>
                </a:solidFill>
                <a:latin typeface="Calibri" pitchFamily="34" charset="0"/>
                <a:ea typeface="Calibri" pitchFamily="34" charset="-122"/>
                <a:cs typeface="Calibri" pitchFamily="34" charset="-120"/>
              </a:rPr>
              <a:t>Equipment &amp; verify walk: confirm / fix / remove / add, mark verified.</a:t>
            </a:r>
            <a:endParaRPr lang="en-US" sz="1400" dirty="0"/>
          </a:p>
        </p:txBody>
      </p:sp>
      <p:sp>
        <p:nvSpPr>
          <p:cNvPr id="7" name="Shape 5"/>
          <p:cNvSpPr/>
          <p:nvPr/>
        </p:nvSpPr>
        <p:spPr>
          <a:xfrm>
            <a:off x="5065776" y="1408176"/>
            <a:ext cx="1609712" cy="3355848"/>
          </a:xfrm>
          <a:prstGeom prst="roundRect">
            <a:avLst>
              <a:gd name="adj" fmla="val 12497"/>
            </a:avLst>
          </a:prstGeom>
          <a:solidFill>
            <a:srgbClr val="1F2937"/>
          </a:solidFill>
          <a:ln w="12700">
            <a:solidFill>
              <a:srgbClr val="1F2937"/>
            </a:solidFill>
            <a:prstDash val="solid"/>
          </a:ln>
        </p:spPr>
      </p:sp>
      <p:pic>
        <p:nvPicPr>
          <p:cNvPr id="8" name="Image 0" descr="/home/user/Claude/docs/training/screens/09-stands-posters-licenses.png">    </p:cNvPr>
          <p:cNvPicPr>
            <a:picLocks noChangeAspect="1"/>
          </p:cNvPicPr>
          <p:nvPr/>
        </p:nvPicPr>
        <p:blipFill>
          <a:blip r:embed="rId1"/>
          <a:stretch>
            <a:fillRect/>
          </a:stretch>
        </p:blipFill>
        <p:spPr>
          <a:xfrm>
            <a:off x="5120640" y="1463040"/>
            <a:ext cx="1499984" cy="3246120"/>
          </a:xfrm>
          <a:prstGeom prst="rect">
            <a:avLst/>
          </a:prstGeom>
        </p:spPr>
      </p:pic>
      <p:sp>
        <p:nvSpPr>
          <p:cNvPr id="9" name="Shape 6"/>
          <p:cNvSpPr/>
          <p:nvPr/>
        </p:nvSpPr>
        <p:spPr>
          <a:xfrm>
            <a:off x="6885800" y="1408176"/>
            <a:ext cx="1609712" cy="3355848"/>
          </a:xfrm>
          <a:prstGeom prst="roundRect">
            <a:avLst>
              <a:gd name="adj" fmla="val 12497"/>
            </a:avLst>
          </a:prstGeom>
          <a:solidFill>
            <a:srgbClr val="1F2937"/>
          </a:solidFill>
          <a:ln w="12700">
            <a:solidFill>
              <a:srgbClr val="1F2937"/>
            </a:solidFill>
            <a:prstDash val="solid"/>
          </a:ln>
        </p:spPr>
      </p:sp>
      <p:pic>
        <p:nvPicPr>
          <p:cNvPr id="10" name="Image 1" descr="/home/user/Claude/docs/training/screens/13-equipment-verify-walk.png">    </p:cNvPr>
          <p:cNvPicPr>
            <a:picLocks noChangeAspect="1"/>
          </p:cNvPicPr>
          <p:nvPr/>
        </p:nvPicPr>
        <p:blipFill>
          <a:blip r:embed="rId2"/>
          <a:stretch>
            <a:fillRect/>
          </a:stretch>
        </p:blipFill>
        <p:spPr>
          <a:xfrm>
            <a:off x="6940664" y="1463040"/>
            <a:ext cx="1499984" cy="3246120"/>
          </a:xfrm>
          <a:prstGeom prst="rect">
            <a:avLst/>
          </a:prstGeom>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20040"/>
            <a:ext cx="1737360" cy="310896"/>
          </a:xfrm>
          <a:prstGeom prst="roundRect">
            <a:avLst>
              <a:gd name="adj" fmla="val 50000"/>
            </a:avLst>
          </a:prstGeom>
          <a:solidFill>
            <a:srgbClr val="0F1F3D"/>
          </a:solidFill>
          <a:ln w="12700">
            <a:solidFill>
              <a:srgbClr val="0F1F3D"/>
            </a:solidFill>
            <a:prstDash val="solid"/>
          </a:ln>
        </p:spPr>
      </p:sp>
      <p:sp>
        <p:nvSpPr>
          <p:cNvPr id="3" name="Text 1"/>
          <p:cNvSpPr/>
          <p:nvPr/>
        </p:nvSpPr>
        <p:spPr>
          <a:xfrm>
            <a:off x="457200" y="320040"/>
            <a:ext cx="1737360" cy="310896"/>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Arial" pitchFamily="34" charset="0"/>
                <a:ea typeface="Arial" pitchFamily="34" charset="-122"/>
                <a:cs typeface="Arial" pitchFamily="34" charset="-120"/>
              </a:rPr>
              <a:t>INSPECTOR</a:t>
            </a:r>
            <a:endParaRPr lang="en-US" sz="1000" dirty="0"/>
          </a:p>
        </p:txBody>
      </p:sp>
      <p:sp>
        <p:nvSpPr>
          <p:cNvPr id="4" name="Text 2"/>
          <p:cNvSpPr/>
          <p:nvPr/>
        </p:nvSpPr>
        <p:spPr>
          <a:xfrm>
            <a:off x="457200" y="713232"/>
            <a:ext cx="6217920" cy="640080"/>
          </a:xfrm>
          <a:prstGeom prst="rect">
            <a:avLst/>
          </a:prstGeom>
          <a:noFill/>
          <a:ln/>
        </p:spPr>
        <p:txBody>
          <a:bodyPr wrap="square" lIns="0" tIns="0" rIns="0" bIns="0" rtlCol="0" anchor="t">
            <a:normAutofit/>
          </a:bodyPr>
          <a:lstStyle/>
          <a:p>
            <a:pPr indent="0" marL="0">
              <a:buNone/>
            </a:pPr>
            <a:r>
              <a:rPr lang="en-US" sz="2600" b="1" dirty="0">
                <a:solidFill>
                  <a:srgbClr val="0F1F3D"/>
                </a:solidFill>
                <a:latin typeface="Arial" pitchFamily="34" charset="0"/>
                <a:ea typeface="Arial" pitchFamily="34" charset="-122"/>
                <a:cs typeface="Arial" pitchFamily="34" charset="-120"/>
              </a:rPr>
              <a:t>One message to every stand</a:t>
            </a:r>
            <a:endParaRPr lang="en-US" sz="2600" dirty="0"/>
          </a:p>
        </p:txBody>
      </p:sp>
      <p:sp>
        <p:nvSpPr>
          <p:cNvPr id="5" name="Text 3"/>
          <p:cNvSpPr/>
          <p:nvPr/>
        </p:nvSpPr>
        <p:spPr>
          <a:xfrm>
            <a:off x="457200" y="4754880"/>
            <a:ext cx="5486400" cy="228600"/>
          </a:xfrm>
          <a:prstGeom prst="rect">
            <a:avLst/>
          </a:prstGeom>
          <a:noFill/>
          <a:ln/>
        </p:spPr>
        <p:txBody>
          <a:bodyPr wrap="square" lIns="0" tIns="0" rIns="0" bIns="0" rtlCol="0" anchor="ctr"/>
          <a:lstStyle/>
          <a:p>
            <a:pPr indent="0" marL="0">
              <a:buNone/>
            </a:pPr>
            <a:r>
              <a:rPr lang="en-US" sz="900" dirty="0">
                <a:solidFill>
                  <a:srgbClr val="6B7280"/>
                </a:solidFill>
                <a:latin typeface="Calibri" pitchFamily="34" charset="0"/>
                <a:ea typeface="Calibri" pitchFamily="34" charset="-122"/>
                <a:cs typeface="Calibri" pitchFamily="34" charset="-120"/>
              </a:rPr>
              <a:t>SDX Inspect · Inspector · 17</a:t>
            </a:r>
            <a:endParaRPr lang="en-US" sz="900" dirty="0"/>
          </a:p>
        </p:txBody>
      </p:sp>
      <p:sp>
        <p:nvSpPr>
          <p:cNvPr id="6" name="Text 4"/>
          <p:cNvSpPr/>
          <p:nvPr/>
        </p:nvSpPr>
        <p:spPr>
          <a:xfrm>
            <a:off x="457200" y="1508760"/>
            <a:ext cx="5669280" cy="3108960"/>
          </a:xfrm>
          <a:prstGeom prst="rect">
            <a:avLst/>
          </a:prstGeom>
          <a:noFill/>
          <a:ln/>
        </p:spPr>
        <p:txBody>
          <a:bodyPr wrap="square" lIns="0" tIns="0" rIns="0" bIns="0" rtlCol="0" anchor="t">
            <a:normAutofit/>
          </a:bodyPr>
          <a:lstStyle/>
          <a:p>
            <a:pPr marL="177800" indent="-177800">
              <a:spcAft>
                <a:spcPts val="700"/>
              </a:spcAft>
              <a:buSzPct val="100000"/>
              <a:buChar char="•"/>
            </a:pPr>
            <a:r>
              <a:rPr lang="en-US" sz="1500" dirty="0">
                <a:solidFill>
                  <a:srgbClr val="1F2937"/>
                </a:solidFill>
                <a:latin typeface="Calibri" pitchFamily="34" charset="0"/>
                <a:ea typeface="Calibri" pitchFamily="34" charset="-122"/>
                <a:cs typeface="Calibri" pitchFamily="34" charset="-120"/>
              </a:rPr>
              <a:t>Type it; floors, types and stands pre-tick from the text.</a:t>
            </a:r>
            <a:endParaRPr lang="en-US" sz="1500" dirty="0"/>
          </a:p>
          <a:p>
            <a:pPr marL="177800" indent="-177800">
              <a:spcAft>
                <a:spcPts val="700"/>
              </a:spcAft>
              <a:buSzPct val="100000"/>
              <a:buChar char="•"/>
            </a:pPr>
            <a:r>
              <a:rPr lang="en-US" sz="1500" dirty="0">
                <a:solidFill>
                  <a:srgbClr val="1F2937"/>
                </a:solidFill>
                <a:latin typeface="Calibri" pitchFamily="34" charset="0"/>
                <a:ea typeface="Calibri" pitchFamily="34" charset="-122"/>
                <a:cs typeface="Calibri" pitchFamily="34" charset="-120"/>
              </a:rPr>
              <a:t>"all stands", "floor 2", "portables" are understood.</a:t>
            </a:r>
            <a:endParaRPr lang="en-US" sz="1500" dirty="0"/>
          </a:p>
          <a:p>
            <a:pPr marL="177800" indent="-177800">
              <a:spcAft>
                <a:spcPts val="700"/>
              </a:spcAft>
              <a:buSzPct val="100000"/>
              <a:buChar char="•"/>
            </a:pPr>
            <a:r>
              <a:rPr lang="en-US" sz="1500" dirty="0">
                <a:solidFill>
                  <a:srgbClr val="1F2937"/>
                </a:solidFill>
                <a:latin typeface="Calibri" pitchFamily="34" charset="0"/>
                <a:ea typeface="Calibri" pitchFamily="34" charset="-122"/>
                <a:cs typeface="Calibri" pitchFamily="34" charset="-120"/>
              </a:rPr>
              <a:t>Stands see it the next time they scan.</a:t>
            </a:r>
            <a:endParaRPr lang="en-US" sz="1500" dirty="0"/>
          </a:p>
          <a:p>
            <a:pPr marL="177800" indent="-177800">
              <a:spcAft>
                <a:spcPts val="700"/>
              </a:spcAft>
              <a:buSzPct val="100000"/>
              <a:buChar char="•"/>
            </a:pPr>
            <a:r>
              <a:rPr lang="en-US" sz="1500" dirty="0">
                <a:solidFill>
                  <a:srgbClr val="1F2937"/>
                </a:solidFill>
                <a:latin typeface="Calibri" pitchFamily="34" charset="0"/>
                <a:ea typeface="Calibri" pitchFamily="34" charset="-122"/>
                <a:cs typeface="Calibri" pitchFamily="34" charset="-120"/>
              </a:rPr>
              <a:t>Quick Check: a checklist, answers come back per item.</a:t>
            </a:r>
            <a:endParaRPr lang="en-US" sz="1500" dirty="0"/>
          </a:p>
        </p:txBody>
      </p:sp>
      <p:sp>
        <p:nvSpPr>
          <p:cNvPr id="7" name="Shape 5"/>
          <p:cNvSpPr/>
          <p:nvPr/>
        </p:nvSpPr>
        <p:spPr>
          <a:xfrm>
            <a:off x="6848856" y="448056"/>
            <a:ext cx="2032243" cy="4270248"/>
          </a:xfrm>
          <a:prstGeom prst="roundRect">
            <a:avLst>
              <a:gd name="adj" fmla="val 9899"/>
            </a:avLst>
          </a:prstGeom>
          <a:solidFill>
            <a:srgbClr val="1F2937"/>
          </a:solidFill>
          <a:ln w="12700">
            <a:solidFill>
              <a:srgbClr val="1F2937"/>
            </a:solidFill>
            <a:prstDash val="solid"/>
          </a:ln>
        </p:spPr>
      </p:sp>
      <p:pic>
        <p:nvPicPr>
          <p:cNvPr id="8" name="Image 0" descr="/home/user/Claude/docs/training/screens/14-announce-to-stands.png">    </p:cNvPr>
          <p:cNvPicPr>
            <a:picLocks noChangeAspect="1"/>
          </p:cNvPicPr>
          <p:nvPr/>
        </p:nvPicPr>
        <p:blipFill>
          <a:blip r:embed="rId1"/>
          <a:stretch>
            <a:fillRect/>
          </a:stretch>
        </p:blipFill>
        <p:spPr>
          <a:xfrm>
            <a:off x="6903720" y="502920"/>
            <a:ext cx="1922515" cy="4160520"/>
          </a:xfrm>
          <a:prstGeom prst="rect">
            <a:avLst/>
          </a:prstGeom>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0F1F3D"/>
        </a:solidFill>
      </p:bgPr>
    </p:bg>
    <p:spTree>
      <p:nvGrpSpPr>
        <p:cNvPr id="1" name=""/>
        <p:cNvGrpSpPr/>
        <p:nvPr/>
      </p:nvGrpSpPr>
      <p:grpSpPr>
        <a:xfrm>
          <a:off x="0" y="0"/>
          <a:ext cx="0" cy="0"/>
          <a:chOff x="0" y="0"/>
          <a:chExt cx="0" cy="0"/>
        </a:xfrm>
      </p:grpSpPr>
      <p:sp>
        <p:nvSpPr>
          <p:cNvPr id="2" name="Shape 0"/>
          <p:cNvSpPr/>
          <p:nvPr/>
        </p:nvSpPr>
        <p:spPr>
          <a:xfrm>
            <a:off x="640080" y="1463040"/>
            <a:ext cx="2011680" cy="365760"/>
          </a:xfrm>
          <a:prstGeom prst="roundRect">
            <a:avLst>
              <a:gd name="adj" fmla="val 50000"/>
            </a:avLst>
          </a:prstGeom>
          <a:solidFill>
            <a:srgbClr val="FFD166"/>
          </a:solidFill>
          <a:ln w="12700">
            <a:solidFill>
              <a:srgbClr val="FFD166"/>
            </a:solidFill>
            <a:prstDash val="solid"/>
          </a:ln>
        </p:spPr>
      </p:sp>
      <p:sp>
        <p:nvSpPr>
          <p:cNvPr id="3" name="Text 1"/>
          <p:cNvSpPr/>
          <p:nvPr/>
        </p:nvSpPr>
        <p:spPr>
          <a:xfrm>
            <a:off x="640080" y="1463040"/>
            <a:ext cx="2011680" cy="365760"/>
          </a:xfrm>
          <a:prstGeom prst="rect">
            <a:avLst/>
          </a:prstGeom>
          <a:noFill/>
          <a:ln/>
        </p:spPr>
        <p:txBody>
          <a:bodyPr wrap="square" lIns="0" tIns="0" rIns="0" bIns="0" rtlCol="0" anchor="ctr"/>
          <a:lstStyle/>
          <a:p>
            <a:pPr algn="ctr" indent="0" marL="0">
              <a:buNone/>
            </a:pPr>
            <a:r>
              <a:rPr lang="en-US" sz="1200" b="1" spc="100" kern="0" dirty="0">
                <a:solidFill>
                  <a:srgbClr val="0F1F3D"/>
                </a:solidFill>
                <a:latin typeface="Arial" pitchFamily="34" charset="0"/>
                <a:ea typeface="Arial" pitchFamily="34" charset="-122"/>
                <a:cs typeface="Arial" pitchFamily="34" charset="-120"/>
              </a:rPr>
              <a:t>STAND TEAMS</a:t>
            </a:r>
            <a:endParaRPr lang="en-US" sz="1200" dirty="0"/>
          </a:p>
        </p:txBody>
      </p:sp>
      <p:sp>
        <p:nvSpPr>
          <p:cNvPr id="4" name="Text 2"/>
          <p:cNvSpPr/>
          <p:nvPr/>
        </p:nvSpPr>
        <p:spPr>
          <a:xfrm>
            <a:off x="640080" y="1965960"/>
            <a:ext cx="7863840" cy="914400"/>
          </a:xfrm>
          <a:prstGeom prst="rect">
            <a:avLst/>
          </a:prstGeom>
          <a:noFill/>
          <a:ln/>
        </p:spPr>
        <p:txBody>
          <a:bodyPr wrap="square" lIns="0" tIns="0" rIns="0" bIns="0" rtlCol="0" anchor="t">
            <a:normAutofit/>
          </a:bodyPr>
          <a:lstStyle/>
          <a:p>
            <a:pPr indent="0" marL="0">
              <a:buNone/>
            </a:pPr>
            <a:r>
              <a:rPr lang="en-US" sz="3400" b="1" dirty="0">
                <a:solidFill>
                  <a:srgbClr val="FFFFFF"/>
                </a:solidFill>
                <a:latin typeface="Arial" pitchFamily="34" charset="0"/>
                <a:ea typeface="Arial" pitchFamily="34" charset="-122"/>
                <a:cs typeface="Arial" pitchFamily="34" charset="-120"/>
              </a:rPr>
              <a:t>Scan the poster, log temps, report</a:t>
            </a:r>
            <a:endParaRPr lang="en-US" sz="3400" dirty="0"/>
          </a:p>
        </p:txBody>
      </p:sp>
      <p:sp>
        <p:nvSpPr>
          <p:cNvPr id="5" name="Text 3"/>
          <p:cNvSpPr/>
          <p:nvPr/>
        </p:nvSpPr>
        <p:spPr>
          <a:xfrm>
            <a:off x="640080" y="2880360"/>
            <a:ext cx="7863840" cy="548640"/>
          </a:xfrm>
          <a:prstGeom prst="rect">
            <a:avLst/>
          </a:prstGeom>
          <a:noFill/>
          <a:ln/>
        </p:spPr>
        <p:txBody>
          <a:bodyPr wrap="square" lIns="0" tIns="0" rIns="0" bIns="0" rtlCol="0" anchor="ctr"/>
          <a:lstStyle/>
          <a:p>
            <a:pPr indent="0" marL="0">
              <a:buNone/>
            </a:pPr>
            <a:r>
              <a:rPr lang="en-US" sz="2000" dirty="0">
                <a:solidFill>
                  <a:srgbClr val="9FC0FF"/>
                </a:solidFill>
                <a:latin typeface="Calibri" pitchFamily="34" charset="0"/>
                <a:ea typeface="Calibri" pitchFamily="34" charset="-122"/>
                <a:cs typeface="Calibri" pitchFamily="34" charset="-120"/>
              </a:rPr>
              <a:t>Escanea el cartel, registra temperaturas, reporta</a:t>
            </a:r>
            <a:endParaRPr lang="en-US" sz="2000" dirty="0"/>
          </a:p>
        </p:txBody>
      </p:sp>
      <p:sp>
        <p:nvSpPr>
          <p:cNvPr id="6" name="Text 4"/>
          <p:cNvSpPr/>
          <p:nvPr/>
        </p:nvSpPr>
        <p:spPr>
          <a:xfrm>
            <a:off x="640080" y="4023360"/>
            <a:ext cx="7315200" cy="365760"/>
          </a:xfrm>
          <a:prstGeom prst="rect">
            <a:avLst/>
          </a:prstGeom>
          <a:noFill/>
          <a:ln/>
        </p:spPr>
        <p:txBody>
          <a:bodyPr wrap="square" lIns="0" tIns="0" rIns="0" bIns="0" rtlCol="0" anchor="ctr"/>
          <a:lstStyle/>
          <a:p>
            <a:pPr indent="0" marL="0">
              <a:buNone/>
            </a:pPr>
            <a:r>
              <a:rPr lang="en-US" sz="1400" dirty="0">
                <a:solidFill>
                  <a:srgbClr val="FFD166"/>
                </a:solidFill>
                <a:latin typeface="Calibri" pitchFamily="34" charset="0"/>
                <a:ea typeface="Calibri" pitchFamily="34" charset="-122"/>
                <a:cs typeface="Calibri" pitchFamily="34" charset="-120"/>
              </a:rPr>
              <a:t>20 min · everyone scans the demo poster on their own phone</a:t>
            </a:r>
            <a:endParaRPr lang="en-US" sz="14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20040"/>
            <a:ext cx="1737360" cy="310896"/>
          </a:xfrm>
          <a:prstGeom prst="roundRect">
            <a:avLst>
              <a:gd name="adj" fmla="val 50000"/>
            </a:avLst>
          </a:prstGeom>
          <a:solidFill>
            <a:srgbClr val="FFD166"/>
          </a:solidFill>
          <a:ln w="12700">
            <a:solidFill>
              <a:srgbClr val="FFD166"/>
            </a:solidFill>
            <a:prstDash val="solid"/>
          </a:ln>
        </p:spPr>
      </p:sp>
      <p:sp>
        <p:nvSpPr>
          <p:cNvPr id="3" name="Text 1"/>
          <p:cNvSpPr/>
          <p:nvPr/>
        </p:nvSpPr>
        <p:spPr>
          <a:xfrm>
            <a:off x="457200" y="320040"/>
            <a:ext cx="1737360" cy="310896"/>
          </a:xfrm>
          <a:prstGeom prst="rect">
            <a:avLst/>
          </a:prstGeom>
          <a:noFill/>
          <a:ln/>
        </p:spPr>
        <p:txBody>
          <a:bodyPr wrap="square" lIns="0" tIns="0" rIns="0" bIns="0" rtlCol="0" anchor="ctr"/>
          <a:lstStyle/>
          <a:p>
            <a:pPr algn="ctr" indent="0" marL="0">
              <a:buNone/>
            </a:pPr>
            <a:r>
              <a:rPr lang="en-US" sz="1000" b="1" spc="100" kern="0" dirty="0">
                <a:solidFill>
                  <a:srgbClr val="0F1F3D"/>
                </a:solidFill>
                <a:latin typeface="Arial" pitchFamily="34" charset="0"/>
                <a:ea typeface="Arial" pitchFamily="34" charset="-122"/>
                <a:cs typeface="Arial" pitchFamily="34" charset="-120"/>
              </a:rPr>
              <a:t>STAND TEAMS</a:t>
            </a:r>
            <a:endParaRPr lang="en-US" sz="1000" dirty="0"/>
          </a:p>
        </p:txBody>
      </p:sp>
      <p:sp>
        <p:nvSpPr>
          <p:cNvPr id="4" name="Text 2"/>
          <p:cNvSpPr/>
          <p:nvPr/>
        </p:nvSpPr>
        <p:spPr>
          <a:xfrm>
            <a:off x="457200" y="713232"/>
            <a:ext cx="8229600" cy="640080"/>
          </a:xfrm>
          <a:prstGeom prst="rect">
            <a:avLst/>
          </a:prstGeom>
          <a:noFill/>
          <a:ln/>
        </p:spPr>
        <p:txBody>
          <a:bodyPr wrap="square" lIns="0" tIns="0" rIns="0" bIns="0" rtlCol="0" anchor="t">
            <a:normAutofit/>
          </a:bodyPr>
          <a:lstStyle/>
          <a:p>
            <a:pPr indent="0" marL="0">
              <a:buNone/>
            </a:pPr>
            <a:r>
              <a:rPr lang="en-US" sz="2600" b="1" dirty="0">
                <a:solidFill>
                  <a:srgbClr val="0F1F3D"/>
                </a:solidFill>
                <a:latin typeface="Arial" pitchFamily="34" charset="0"/>
                <a:ea typeface="Arial" pitchFamily="34" charset="-122"/>
                <a:cs typeface="Arial" pitchFamily="34" charset="-120"/>
              </a:rPr>
              <a:t>One poster per stand — scan it</a:t>
            </a:r>
            <a:endParaRPr lang="en-US" sz="2600" dirty="0"/>
          </a:p>
        </p:txBody>
      </p:sp>
      <p:sp>
        <p:nvSpPr>
          <p:cNvPr id="5" name="Text 3"/>
          <p:cNvSpPr/>
          <p:nvPr/>
        </p:nvSpPr>
        <p:spPr>
          <a:xfrm>
            <a:off x="457200" y="4754880"/>
            <a:ext cx="5486400" cy="228600"/>
          </a:xfrm>
          <a:prstGeom prst="rect">
            <a:avLst/>
          </a:prstGeom>
          <a:noFill/>
          <a:ln/>
        </p:spPr>
        <p:txBody>
          <a:bodyPr wrap="square" lIns="0" tIns="0" rIns="0" bIns="0" rtlCol="0" anchor="ctr"/>
          <a:lstStyle/>
          <a:p>
            <a:pPr indent="0" marL="0">
              <a:buNone/>
            </a:pPr>
            <a:r>
              <a:rPr lang="en-US" sz="900" dirty="0">
                <a:solidFill>
                  <a:srgbClr val="6B7280"/>
                </a:solidFill>
                <a:latin typeface="Calibri" pitchFamily="34" charset="0"/>
                <a:ea typeface="Calibri" pitchFamily="34" charset="-122"/>
                <a:cs typeface="Calibri" pitchFamily="34" charset="-120"/>
              </a:rPr>
              <a:t>SDX Inspect · Stand teams · 19</a:t>
            </a:r>
            <a:endParaRPr lang="en-US" sz="900" dirty="0"/>
          </a:p>
        </p:txBody>
      </p:sp>
      <p:sp>
        <p:nvSpPr>
          <p:cNvPr id="6" name="Text 4"/>
          <p:cNvSpPr/>
          <p:nvPr/>
        </p:nvSpPr>
        <p:spPr>
          <a:xfrm>
            <a:off x="457200" y="1508760"/>
            <a:ext cx="4114800" cy="3108960"/>
          </a:xfrm>
          <a:prstGeom prst="rect">
            <a:avLst/>
          </a:prstGeom>
          <a:noFill/>
          <a:ln/>
        </p:spPr>
        <p:txBody>
          <a:bodyPr wrap="square" lIns="0" tIns="0" rIns="0" bIns="0" rtlCol="0" anchor="t">
            <a:normAutofit/>
          </a:bodyPr>
          <a:lstStyle/>
          <a:p>
            <a:pPr marL="177800" indent="-177800">
              <a:spcAft>
                <a:spcPts val="700"/>
              </a:spcAft>
              <a:buSzPct val="100000"/>
              <a:buChar char="•"/>
            </a:pPr>
            <a:r>
              <a:rPr lang="en-US" sz="1400" dirty="0">
                <a:solidFill>
                  <a:srgbClr val="1F2937"/>
                </a:solidFill>
                <a:latin typeface="Calibri" pitchFamily="34" charset="0"/>
                <a:ea typeface="Calibri" pitchFamily="34" charset="-122"/>
                <a:cs typeface="Calibri" pitchFamily="34" charset="-120"/>
              </a:rPr>
              <a:t>Taped inside your door. One per stand, not per cooler.</a:t>
            </a:r>
            <a:endParaRPr lang="en-US" sz="1400" dirty="0"/>
          </a:p>
          <a:p>
            <a:pPr marL="177800" indent="-177800">
              <a:spcAft>
                <a:spcPts val="700"/>
              </a:spcAft>
              <a:buSzPct val="100000"/>
              <a:buChar char="•"/>
            </a:pPr>
            <a:r>
              <a:rPr lang="en-US" sz="1400" dirty="0">
                <a:solidFill>
                  <a:srgbClr val="1F2937"/>
                </a:solidFill>
                <a:latin typeface="Calibri" pitchFamily="34" charset="0"/>
                <a:ea typeface="Calibri" pitchFamily="34" charset="-122"/>
                <a:cs typeface="Calibri" pitchFamily="34" charset="-120"/>
              </a:rPr>
              <a:t>Scan with the phone camera. No app, no password.</a:t>
            </a:r>
            <a:endParaRPr lang="en-US" sz="1400" dirty="0"/>
          </a:p>
          <a:p>
            <a:pPr marL="177800" indent="-177800">
              <a:spcAft>
                <a:spcPts val="700"/>
              </a:spcAft>
              <a:buSzPct val="100000"/>
              <a:buChar char="•"/>
            </a:pPr>
            <a:r>
              <a:rPr lang="en-US" sz="1400" dirty="0">
                <a:solidFill>
                  <a:srgbClr val="1F2937"/>
                </a:solidFill>
                <a:latin typeface="Calibri" pitchFamily="34" charset="0"/>
                <a:ea typeface="Calibri" pitchFamily="34" charset="-122"/>
                <a:cs typeface="Calibri" pitchFamily="34" charset="-120"/>
              </a:rPr>
              <a:t>Pick English / Español.</a:t>
            </a:r>
            <a:endParaRPr lang="en-US" sz="1400" dirty="0"/>
          </a:p>
          <a:p>
            <a:pPr marL="177800" indent="-177800">
              <a:spcAft>
                <a:spcPts val="700"/>
              </a:spcAft>
              <a:buSzPct val="100000"/>
              <a:buChar char="•"/>
            </a:pPr>
            <a:r>
              <a:rPr lang="en-US" sz="1400" dirty="0">
                <a:solidFill>
                  <a:srgbClr val="1F2937"/>
                </a:solidFill>
                <a:latin typeface="Calibri" pitchFamily="34" charset="0"/>
                <a:ea typeface="Calibri" pitchFamily="34" charset="-122"/>
                <a:cs typeface="Calibri" pitchFamily="34" charset="-120"/>
              </a:rPr>
              <a:t>Announcements from the inspector show at the top.</a:t>
            </a:r>
            <a:endParaRPr lang="en-US" sz="1400" dirty="0"/>
          </a:p>
        </p:txBody>
      </p:sp>
      <p:sp>
        <p:nvSpPr>
          <p:cNvPr id="7" name="Shape 5"/>
          <p:cNvSpPr/>
          <p:nvPr/>
        </p:nvSpPr>
        <p:spPr>
          <a:xfrm>
            <a:off x="5065776" y="1408176"/>
            <a:ext cx="1609712" cy="3355848"/>
          </a:xfrm>
          <a:prstGeom prst="roundRect">
            <a:avLst>
              <a:gd name="adj" fmla="val 12497"/>
            </a:avLst>
          </a:prstGeom>
          <a:solidFill>
            <a:srgbClr val="1F2937"/>
          </a:solidFill>
          <a:ln w="12700">
            <a:solidFill>
              <a:srgbClr val="1F2937"/>
            </a:solidFill>
            <a:prstDash val="solid"/>
          </a:ln>
        </p:spPr>
      </p:sp>
      <p:pic>
        <p:nvPicPr>
          <p:cNvPr id="8" name="Image 0" descr="/home/user/Claude/docs/training/screens/11-stand-qr-poster.png">    </p:cNvPr>
          <p:cNvPicPr>
            <a:picLocks noChangeAspect="1"/>
          </p:cNvPicPr>
          <p:nvPr/>
        </p:nvPicPr>
        <p:blipFill>
          <a:blip r:embed="rId1"/>
          <a:stretch>
            <a:fillRect/>
          </a:stretch>
        </p:blipFill>
        <p:spPr>
          <a:xfrm>
            <a:off x="5120640" y="1463040"/>
            <a:ext cx="1499984" cy="3246120"/>
          </a:xfrm>
          <a:prstGeom prst="rect">
            <a:avLst/>
          </a:prstGeom>
        </p:spPr>
      </p:pic>
      <p:sp>
        <p:nvSpPr>
          <p:cNvPr id="9" name="Shape 6"/>
          <p:cNvSpPr/>
          <p:nvPr/>
        </p:nvSpPr>
        <p:spPr>
          <a:xfrm>
            <a:off x="6885800" y="1408176"/>
            <a:ext cx="1609712" cy="3355848"/>
          </a:xfrm>
          <a:prstGeom prst="roundRect">
            <a:avLst>
              <a:gd name="adj" fmla="val 12497"/>
            </a:avLst>
          </a:prstGeom>
          <a:solidFill>
            <a:srgbClr val="1F2937"/>
          </a:solidFill>
          <a:ln w="12700">
            <a:solidFill>
              <a:srgbClr val="1F2937"/>
            </a:solidFill>
            <a:prstDash val="solid"/>
          </a:ln>
        </p:spPr>
      </p:sp>
      <p:pic>
        <p:nvPicPr>
          <p:cNvPr id="10" name="Image 1" descr="/home/user/Claude/docs/training/screens/18-portal-language.png">    </p:cNvPr>
          <p:cNvPicPr>
            <a:picLocks noChangeAspect="1"/>
          </p:cNvPicPr>
          <p:nvPr/>
        </p:nvPicPr>
        <p:blipFill>
          <a:blip r:embed="rId2"/>
          <a:stretch>
            <a:fillRect/>
          </a:stretch>
        </p:blipFill>
        <p:spPr>
          <a:xfrm>
            <a:off x="6940664" y="1463040"/>
            <a:ext cx="1499984" cy="3246120"/>
          </a:xfrm>
          <a:prstGeom prst="rect">
            <a:avLst/>
          </a:prstGeom>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20040"/>
            <a:ext cx="1737360" cy="310896"/>
          </a:xfrm>
          <a:prstGeom prst="roundRect">
            <a:avLst>
              <a:gd name="adj" fmla="val 50000"/>
            </a:avLst>
          </a:prstGeom>
          <a:solidFill>
            <a:srgbClr val="FFD166"/>
          </a:solidFill>
          <a:ln w="12700">
            <a:solidFill>
              <a:srgbClr val="FFD166"/>
            </a:solidFill>
            <a:prstDash val="solid"/>
          </a:ln>
        </p:spPr>
      </p:sp>
      <p:sp>
        <p:nvSpPr>
          <p:cNvPr id="3" name="Text 1"/>
          <p:cNvSpPr/>
          <p:nvPr/>
        </p:nvSpPr>
        <p:spPr>
          <a:xfrm>
            <a:off x="457200" y="320040"/>
            <a:ext cx="1737360" cy="310896"/>
          </a:xfrm>
          <a:prstGeom prst="rect">
            <a:avLst/>
          </a:prstGeom>
          <a:noFill/>
          <a:ln/>
        </p:spPr>
        <p:txBody>
          <a:bodyPr wrap="square" lIns="0" tIns="0" rIns="0" bIns="0" rtlCol="0" anchor="ctr"/>
          <a:lstStyle/>
          <a:p>
            <a:pPr algn="ctr" indent="0" marL="0">
              <a:buNone/>
            </a:pPr>
            <a:r>
              <a:rPr lang="en-US" sz="1000" b="1" spc="100" kern="0" dirty="0">
                <a:solidFill>
                  <a:srgbClr val="0F1F3D"/>
                </a:solidFill>
                <a:latin typeface="Arial" pitchFamily="34" charset="0"/>
                <a:ea typeface="Arial" pitchFamily="34" charset="-122"/>
                <a:cs typeface="Arial" pitchFamily="34" charset="-120"/>
              </a:rPr>
              <a:t>STAND TEAMS</a:t>
            </a:r>
            <a:endParaRPr lang="en-US" sz="1000" dirty="0"/>
          </a:p>
        </p:txBody>
      </p:sp>
      <p:sp>
        <p:nvSpPr>
          <p:cNvPr id="4" name="Text 2"/>
          <p:cNvSpPr/>
          <p:nvPr/>
        </p:nvSpPr>
        <p:spPr>
          <a:xfrm>
            <a:off x="457200" y="713232"/>
            <a:ext cx="8229600" cy="640080"/>
          </a:xfrm>
          <a:prstGeom prst="rect">
            <a:avLst/>
          </a:prstGeom>
          <a:noFill/>
          <a:ln/>
        </p:spPr>
        <p:txBody>
          <a:bodyPr wrap="square" lIns="0" tIns="0" rIns="0" bIns="0" rtlCol="0" anchor="t">
            <a:normAutofit/>
          </a:bodyPr>
          <a:lstStyle/>
          <a:p>
            <a:pPr indent="0" marL="0">
              <a:buNone/>
            </a:pPr>
            <a:r>
              <a:rPr lang="en-US" sz="2600" b="1" dirty="0">
                <a:solidFill>
                  <a:srgbClr val="0F1F3D"/>
                </a:solidFill>
                <a:latin typeface="Arial" pitchFamily="34" charset="0"/>
                <a:ea typeface="Arial" pitchFamily="34" charset="-122"/>
                <a:cs typeface="Arial" pitchFamily="34" charset="-120"/>
              </a:rPr>
              <a:t>Say who you are</a:t>
            </a:r>
            <a:endParaRPr lang="en-US" sz="2600" dirty="0"/>
          </a:p>
        </p:txBody>
      </p:sp>
      <p:sp>
        <p:nvSpPr>
          <p:cNvPr id="5" name="Text 3"/>
          <p:cNvSpPr/>
          <p:nvPr/>
        </p:nvSpPr>
        <p:spPr>
          <a:xfrm>
            <a:off x="457200" y="4754880"/>
            <a:ext cx="5486400" cy="228600"/>
          </a:xfrm>
          <a:prstGeom prst="rect">
            <a:avLst/>
          </a:prstGeom>
          <a:noFill/>
          <a:ln/>
        </p:spPr>
        <p:txBody>
          <a:bodyPr wrap="square" lIns="0" tIns="0" rIns="0" bIns="0" rtlCol="0" anchor="ctr"/>
          <a:lstStyle/>
          <a:p>
            <a:pPr indent="0" marL="0">
              <a:buNone/>
            </a:pPr>
            <a:r>
              <a:rPr lang="en-US" sz="900" dirty="0">
                <a:solidFill>
                  <a:srgbClr val="6B7280"/>
                </a:solidFill>
                <a:latin typeface="Calibri" pitchFamily="34" charset="0"/>
                <a:ea typeface="Calibri" pitchFamily="34" charset="-122"/>
                <a:cs typeface="Calibri" pitchFamily="34" charset="-120"/>
              </a:rPr>
              <a:t>SDX Inspect · Stand teams · 20</a:t>
            </a:r>
            <a:endParaRPr lang="en-US" sz="900" dirty="0"/>
          </a:p>
        </p:txBody>
      </p:sp>
      <p:sp>
        <p:nvSpPr>
          <p:cNvPr id="6" name="Text 4"/>
          <p:cNvSpPr/>
          <p:nvPr/>
        </p:nvSpPr>
        <p:spPr>
          <a:xfrm>
            <a:off x="457200" y="1508760"/>
            <a:ext cx="4114800" cy="3108960"/>
          </a:xfrm>
          <a:prstGeom prst="rect">
            <a:avLst/>
          </a:prstGeom>
          <a:noFill/>
          <a:ln/>
        </p:spPr>
        <p:txBody>
          <a:bodyPr wrap="square" lIns="0" tIns="0" rIns="0" bIns="0" rtlCol="0" anchor="t">
            <a:normAutofit/>
          </a:bodyPr>
          <a:lstStyle/>
          <a:p>
            <a:pPr marL="177800" indent="-177800">
              <a:spcAft>
                <a:spcPts val="700"/>
              </a:spcAft>
              <a:buSzPct val="100000"/>
              <a:buChar char="•"/>
            </a:pPr>
            <a:r>
              <a:rPr lang="en-US" sz="1400" dirty="0">
                <a:solidFill>
                  <a:srgbClr val="1F2937"/>
                </a:solidFill>
                <a:latin typeface="Calibri" pitchFamily="34" charset="0"/>
                <a:ea typeface="Calibri" pitchFamily="34" charset="-122"/>
                <a:cs typeface="Calibri" pitchFamily="34" charset="-120"/>
              </a:rPr>
              <a:t>Name + phone → This is my location.</a:t>
            </a:r>
            <a:endParaRPr lang="en-US" sz="1400" dirty="0"/>
          </a:p>
          <a:p>
            <a:pPr marL="177800" indent="-177800">
              <a:spcAft>
                <a:spcPts val="700"/>
              </a:spcAft>
              <a:buSzPct val="100000"/>
              <a:buChar char="•"/>
            </a:pPr>
            <a:r>
              <a:rPr lang="en-US" sz="1400" dirty="0">
                <a:solidFill>
                  <a:srgbClr val="1F2937"/>
                </a:solidFill>
                <a:latin typeface="Calibri" pitchFamily="34" charset="0"/>
                <a:ea typeface="Calibri" pitchFamily="34" charset="-122"/>
                <a:cs typeface="Calibri" pitchFamily="34" charset="-120"/>
              </a:rPr>
              <a:t>Got the inspector's text? You arrive already signed in.</a:t>
            </a:r>
            <a:endParaRPr lang="en-US" sz="1400" dirty="0"/>
          </a:p>
          <a:p>
            <a:pPr marL="177800" indent="-177800">
              <a:spcAft>
                <a:spcPts val="700"/>
              </a:spcAft>
              <a:buSzPct val="100000"/>
              <a:buChar char="•"/>
            </a:pPr>
            <a:r>
              <a:rPr lang="en-US" sz="1400" dirty="0">
                <a:solidFill>
                  <a:srgbClr val="1F2937"/>
                </a:solidFill>
                <a:latin typeface="Calibri" pitchFamily="34" charset="0"/>
                <a:ea typeface="Calibri" pitchFamily="34" charset="-122"/>
                <a:cs typeface="Calibri" pitchFamily="34" charset="-120"/>
              </a:rPr>
              <a:t>"not you?" switches person.</a:t>
            </a:r>
            <a:endParaRPr lang="en-US" sz="1400" dirty="0"/>
          </a:p>
          <a:p>
            <a:pPr marL="177800" indent="-177800">
              <a:spcAft>
                <a:spcPts val="700"/>
              </a:spcAft>
              <a:buSzPct val="100000"/>
              <a:buChar char="•"/>
            </a:pPr>
            <a:r>
              <a:rPr lang="en-US" sz="1400" dirty="0">
                <a:solidFill>
                  <a:srgbClr val="1F2937"/>
                </a:solidFill>
                <a:latin typeface="Calibri" pitchFamily="34" charset="0"/>
                <a:ea typeface="Calibri" pitchFamily="34" charset="-122"/>
                <a:cs typeface="Calibri" pitchFamily="34" charset="-120"/>
              </a:rPr>
              <a:t>Report a problem only skips the temps.</a:t>
            </a:r>
            <a:endParaRPr lang="en-US" sz="1400" dirty="0"/>
          </a:p>
        </p:txBody>
      </p:sp>
      <p:sp>
        <p:nvSpPr>
          <p:cNvPr id="7" name="Shape 5"/>
          <p:cNvSpPr/>
          <p:nvPr/>
        </p:nvSpPr>
        <p:spPr>
          <a:xfrm>
            <a:off x="5065776" y="1408176"/>
            <a:ext cx="1609712" cy="3355848"/>
          </a:xfrm>
          <a:prstGeom prst="roundRect">
            <a:avLst>
              <a:gd name="adj" fmla="val 12497"/>
            </a:avLst>
          </a:prstGeom>
          <a:solidFill>
            <a:srgbClr val="1F2937"/>
          </a:solidFill>
          <a:ln w="12700">
            <a:solidFill>
              <a:srgbClr val="1F2937"/>
            </a:solidFill>
            <a:prstDash val="solid"/>
          </a:ln>
        </p:spPr>
      </p:sp>
      <p:pic>
        <p:nvPicPr>
          <p:cNvPr id="8" name="Image 0" descr="/home/user/Claude/docs/training/screens/19-portal-identify.png">    </p:cNvPr>
          <p:cNvPicPr>
            <a:picLocks noChangeAspect="1"/>
          </p:cNvPicPr>
          <p:nvPr/>
        </p:nvPicPr>
        <p:blipFill>
          <a:blip r:embed="rId1"/>
          <a:stretch>
            <a:fillRect/>
          </a:stretch>
        </p:blipFill>
        <p:spPr>
          <a:xfrm>
            <a:off x="5120640" y="1463040"/>
            <a:ext cx="1499984" cy="3246120"/>
          </a:xfrm>
          <a:prstGeom prst="rect">
            <a:avLst/>
          </a:prstGeom>
        </p:spPr>
      </p:pic>
      <p:sp>
        <p:nvSpPr>
          <p:cNvPr id="9" name="Shape 6"/>
          <p:cNvSpPr/>
          <p:nvPr/>
        </p:nvSpPr>
        <p:spPr>
          <a:xfrm>
            <a:off x="6885800" y="1408176"/>
            <a:ext cx="1609712" cy="3355848"/>
          </a:xfrm>
          <a:prstGeom prst="roundRect">
            <a:avLst>
              <a:gd name="adj" fmla="val 12497"/>
            </a:avLst>
          </a:prstGeom>
          <a:solidFill>
            <a:srgbClr val="1F2937"/>
          </a:solidFill>
          <a:ln w="12700">
            <a:solidFill>
              <a:srgbClr val="1F2937"/>
            </a:solidFill>
            <a:prstDash val="solid"/>
          </a:ln>
        </p:spPr>
      </p:sp>
      <p:pic>
        <p:nvPicPr>
          <p:cNvPr id="10" name="Image 1" descr="/home/user/Claude/docs/training/screens/20-portal-this-is-my-location.png">    </p:cNvPr>
          <p:cNvPicPr>
            <a:picLocks noChangeAspect="1"/>
          </p:cNvPicPr>
          <p:nvPr/>
        </p:nvPicPr>
        <p:blipFill>
          <a:blip r:embed="rId2"/>
          <a:stretch>
            <a:fillRect/>
          </a:stretch>
        </p:blipFill>
        <p:spPr>
          <a:xfrm>
            <a:off x="6940664" y="1463040"/>
            <a:ext cx="1499984" cy="3246120"/>
          </a:xfrm>
          <a:prstGeom prst="rect">
            <a:avLst/>
          </a:prstGeom>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20040"/>
            <a:ext cx="1737360" cy="310896"/>
          </a:xfrm>
          <a:prstGeom prst="roundRect">
            <a:avLst>
              <a:gd name="adj" fmla="val 50000"/>
            </a:avLst>
          </a:prstGeom>
          <a:solidFill>
            <a:srgbClr val="FFD166"/>
          </a:solidFill>
          <a:ln w="12700">
            <a:solidFill>
              <a:srgbClr val="FFD166"/>
            </a:solidFill>
            <a:prstDash val="solid"/>
          </a:ln>
        </p:spPr>
      </p:sp>
      <p:sp>
        <p:nvSpPr>
          <p:cNvPr id="3" name="Text 1"/>
          <p:cNvSpPr/>
          <p:nvPr/>
        </p:nvSpPr>
        <p:spPr>
          <a:xfrm>
            <a:off x="457200" y="320040"/>
            <a:ext cx="1737360" cy="310896"/>
          </a:xfrm>
          <a:prstGeom prst="rect">
            <a:avLst/>
          </a:prstGeom>
          <a:noFill/>
          <a:ln/>
        </p:spPr>
        <p:txBody>
          <a:bodyPr wrap="square" lIns="0" tIns="0" rIns="0" bIns="0" rtlCol="0" anchor="ctr"/>
          <a:lstStyle/>
          <a:p>
            <a:pPr algn="ctr" indent="0" marL="0">
              <a:buNone/>
            </a:pPr>
            <a:r>
              <a:rPr lang="en-US" sz="1000" b="1" spc="100" kern="0" dirty="0">
                <a:solidFill>
                  <a:srgbClr val="0F1F3D"/>
                </a:solidFill>
                <a:latin typeface="Arial" pitchFamily="34" charset="0"/>
                <a:ea typeface="Arial" pitchFamily="34" charset="-122"/>
                <a:cs typeface="Arial" pitchFamily="34" charset="-120"/>
              </a:rPr>
              <a:t>STAND TEAMS</a:t>
            </a:r>
            <a:endParaRPr lang="en-US" sz="1000" dirty="0"/>
          </a:p>
        </p:txBody>
      </p:sp>
      <p:sp>
        <p:nvSpPr>
          <p:cNvPr id="4" name="Text 2"/>
          <p:cNvSpPr/>
          <p:nvPr/>
        </p:nvSpPr>
        <p:spPr>
          <a:xfrm>
            <a:off x="457200" y="713232"/>
            <a:ext cx="8229600" cy="640080"/>
          </a:xfrm>
          <a:prstGeom prst="rect">
            <a:avLst/>
          </a:prstGeom>
          <a:noFill/>
          <a:ln/>
        </p:spPr>
        <p:txBody>
          <a:bodyPr wrap="square" lIns="0" tIns="0" rIns="0" bIns="0" rtlCol="0" anchor="t">
            <a:normAutofit/>
          </a:bodyPr>
          <a:lstStyle/>
          <a:p>
            <a:pPr indent="0" marL="0">
              <a:buNone/>
            </a:pPr>
            <a:r>
              <a:rPr lang="en-US" sz="2600" b="1" dirty="0">
                <a:solidFill>
                  <a:srgbClr val="0F1F3D"/>
                </a:solidFill>
                <a:latin typeface="Arial" pitchFamily="34" charset="0"/>
                <a:ea typeface="Arial" pitchFamily="34" charset="-122"/>
                <a:cs typeface="Arial" pitchFamily="34" charset="-120"/>
              </a:rPr>
              <a:t>Log the temperatures</a:t>
            </a:r>
            <a:endParaRPr lang="en-US" sz="2600" dirty="0"/>
          </a:p>
        </p:txBody>
      </p:sp>
      <p:sp>
        <p:nvSpPr>
          <p:cNvPr id="5" name="Text 3"/>
          <p:cNvSpPr/>
          <p:nvPr/>
        </p:nvSpPr>
        <p:spPr>
          <a:xfrm>
            <a:off x="457200" y="4754880"/>
            <a:ext cx="5486400" cy="228600"/>
          </a:xfrm>
          <a:prstGeom prst="rect">
            <a:avLst/>
          </a:prstGeom>
          <a:noFill/>
          <a:ln/>
        </p:spPr>
        <p:txBody>
          <a:bodyPr wrap="square" lIns="0" tIns="0" rIns="0" bIns="0" rtlCol="0" anchor="ctr"/>
          <a:lstStyle/>
          <a:p>
            <a:pPr indent="0" marL="0">
              <a:buNone/>
            </a:pPr>
            <a:r>
              <a:rPr lang="en-US" sz="900" dirty="0">
                <a:solidFill>
                  <a:srgbClr val="6B7280"/>
                </a:solidFill>
                <a:latin typeface="Calibri" pitchFamily="34" charset="0"/>
                <a:ea typeface="Calibri" pitchFamily="34" charset="-122"/>
                <a:cs typeface="Calibri" pitchFamily="34" charset="-120"/>
              </a:rPr>
              <a:t>SDX Inspect · Stand teams · 21</a:t>
            </a:r>
            <a:endParaRPr lang="en-US" sz="900" dirty="0"/>
          </a:p>
        </p:txBody>
      </p:sp>
      <p:sp>
        <p:nvSpPr>
          <p:cNvPr id="6" name="Text 4"/>
          <p:cNvSpPr/>
          <p:nvPr/>
        </p:nvSpPr>
        <p:spPr>
          <a:xfrm>
            <a:off x="457200" y="1508760"/>
            <a:ext cx="4114800" cy="3108960"/>
          </a:xfrm>
          <a:prstGeom prst="rect">
            <a:avLst/>
          </a:prstGeom>
          <a:noFill/>
          <a:ln/>
        </p:spPr>
        <p:txBody>
          <a:bodyPr wrap="square" lIns="0" tIns="0" rIns="0" bIns="0" rtlCol="0" anchor="t">
            <a:normAutofit/>
          </a:bodyPr>
          <a:lstStyle/>
          <a:p>
            <a:pPr marL="177800" indent="-177800">
              <a:spcAft>
                <a:spcPts val="700"/>
              </a:spcAft>
              <a:buSzPct val="100000"/>
              <a:buChar char="•"/>
            </a:pPr>
            <a:r>
              <a:rPr lang="en-US" sz="1400" dirty="0">
                <a:solidFill>
                  <a:srgbClr val="1F2937"/>
                </a:solidFill>
                <a:latin typeface="Calibri" pitchFamily="34" charset="0"/>
                <a:ea typeface="Calibri" pitchFamily="34" charset="-122"/>
                <a:cs typeface="Calibri" pitchFamily="34" charset="-120"/>
              </a:rPr>
              <a:t>Tap a food item to open its box. Then YOUR coolers underneath.</a:t>
            </a:r>
            <a:endParaRPr lang="en-US" sz="1400" dirty="0"/>
          </a:p>
          <a:p>
            <a:pPr marL="177800" indent="-177800">
              <a:spcAft>
                <a:spcPts val="700"/>
              </a:spcAft>
              <a:buSzPct val="100000"/>
              <a:buChar char="•"/>
            </a:pPr>
            <a:r>
              <a:rPr lang="en-US" sz="1400" dirty="0">
                <a:solidFill>
                  <a:srgbClr val="1F2937"/>
                </a:solidFill>
                <a:latin typeface="Calibri" pitchFamily="34" charset="0"/>
                <a:ea typeface="Calibri" pitchFamily="34" charset="-122"/>
                <a:cs typeface="Calibri" pitchFamily="34" charset="-120"/>
              </a:rPr>
              <a:t>Green = fine. Red = pick a reason and what you did.</a:t>
            </a:r>
            <a:endParaRPr lang="en-US" sz="1400" dirty="0"/>
          </a:p>
          <a:p>
            <a:pPr marL="177800" indent="-177800">
              <a:spcAft>
                <a:spcPts val="700"/>
              </a:spcAft>
              <a:buSzPct val="100000"/>
              <a:buChar char="•"/>
            </a:pPr>
            <a:r>
              <a:rPr lang="en-US" sz="1400" dirty="0">
                <a:solidFill>
                  <a:srgbClr val="1F2937"/>
                </a:solidFill>
                <a:latin typeface="Calibri" pitchFamily="34" charset="0"/>
                <a:ea typeface="Calibri" pitchFamily="34" charset="-122"/>
                <a:cs typeface="Calibri" pitchFamily="34" charset="-120"/>
              </a:rPr>
              <a:t>"The inspector asked you to log every cooler today" — do them all.</a:t>
            </a:r>
            <a:endParaRPr lang="en-US" sz="1400" dirty="0"/>
          </a:p>
          <a:p>
            <a:pPr marL="177800" indent="-177800">
              <a:spcAft>
                <a:spcPts val="700"/>
              </a:spcAft>
              <a:buSzPct val="100000"/>
              <a:buChar char="•"/>
            </a:pPr>
            <a:r>
              <a:rPr lang="en-US" sz="1400" dirty="0">
                <a:solidFill>
                  <a:srgbClr val="1F2937"/>
                </a:solidFill>
                <a:latin typeface="Calibri" pitchFamily="34" charset="0"/>
                <a:ea typeface="Calibri" pitchFamily="34" charset="-122"/>
                <a:cs typeface="Calibri" pitchFamily="34" charset="-120"/>
              </a:rPr>
              <a:t>Food Safety Quick Reference is right above the form.</a:t>
            </a:r>
            <a:endParaRPr lang="en-US" sz="1400" dirty="0"/>
          </a:p>
        </p:txBody>
      </p:sp>
      <p:sp>
        <p:nvSpPr>
          <p:cNvPr id="7" name="Shape 5"/>
          <p:cNvSpPr/>
          <p:nvPr/>
        </p:nvSpPr>
        <p:spPr>
          <a:xfrm>
            <a:off x="5065776" y="1408176"/>
            <a:ext cx="1609712" cy="3355848"/>
          </a:xfrm>
          <a:prstGeom prst="roundRect">
            <a:avLst>
              <a:gd name="adj" fmla="val 12497"/>
            </a:avLst>
          </a:prstGeom>
          <a:solidFill>
            <a:srgbClr val="1F2937"/>
          </a:solidFill>
          <a:ln w="12700">
            <a:solidFill>
              <a:srgbClr val="1F2937"/>
            </a:solidFill>
            <a:prstDash val="solid"/>
          </a:ln>
        </p:spPr>
      </p:sp>
      <p:pic>
        <p:nvPicPr>
          <p:cNvPr id="8" name="Image 0" descr="/home/user/Claude/docs/training/screens/21-portal-temp-log.png">    </p:cNvPr>
          <p:cNvPicPr>
            <a:picLocks noChangeAspect="1"/>
          </p:cNvPicPr>
          <p:nvPr/>
        </p:nvPicPr>
        <p:blipFill>
          <a:blip r:embed="rId1"/>
          <a:stretch>
            <a:fillRect/>
          </a:stretch>
        </p:blipFill>
        <p:spPr>
          <a:xfrm>
            <a:off x="5120640" y="1463040"/>
            <a:ext cx="1499984" cy="3246120"/>
          </a:xfrm>
          <a:prstGeom prst="rect">
            <a:avLst/>
          </a:prstGeom>
        </p:spPr>
      </p:pic>
      <p:sp>
        <p:nvSpPr>
          <p:cNvPr id="9" name="Shape 6"/>
          <p:cNvSpPr/>
          <p:nvPr/>
        </p:nvSpPr>
        <p:spPr>
          <a:xfrm>
            <a:off x="6885800" y="1408176"/>
            <a:ext cx="1609712" cy="3355848"/>
          </a:xfrm>
          <a:prstGeom prst="roundRect">
            <a:avLst>
              <a:gd name="adj" fmla="val 12497"/>
            </a:avLst>
          </a:prstGeom>
          <a:solidFill>
            <a:srgbClr val="1F2937"/>
          </a:solidFill>
          <a:ln w="12700">
            <a:solidFill>
              <a:srgbClr val="1F2937"/>
            </a:solidFill>
            <a:prstDash val="solid"/>
          </a:ln>
        </p:spPr>
      </p:sp>
      <p:pic>
        <p:nvPicPr>
          <p:cNvPr id="10" name="Image 1" descr="/home/user/Claude/docs/training/screens/22-portal-temps-entered.png">    </p:cNvPr>
          <p:cNvPicPr>
            <a:picLocks noChangeAspect="1"/>
          </p:cNvPicPr>
          <p:nvPr/>
        </p:nvPicPr>
        <p:blipFill>
          <a:blip r:embed="rId2"/>
          <a:stretch>
            <a:fillRect/>
          </a:stretch>
        </p:blipFill>
        <p:spPr>
          <a:xfrm>
            <a:off x="6940664" y="1463040"/>
            <a:ext cx="1499984" cy="3246120"/>
          </a:xfrm>
          <a:prstGeom prst="rect">
            <a:avLst/>
          </a:prstGeom>
        </p:spPr>
      </p:pic>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20040"/>
            <a:ext cx="1737360" cy="310896"/>
          </a:xfrm>
          <a:prstGeom prst="roundRect">
            <a:avLst>
              <a:gd name="adj" fmla="val 50000"/>
            </a:avLst>
          </a:prstGeom>
          <a:solidFill>
            <a:srgbClr val="FFD166"/>
          </a:solidFill>
          <a:ln w="12700">
            <a:solidFill>
              <a:srgbClr val="FFD166"/>
            </a:solidFill>
            <a:prstDash val="solid"/>
          </a:ln>
        </p:spPr>
      </p:sp>
      <p:sp>
        <p:nvSpPr>
          <p:cNvPr id="3" name="Text 1"/>
          <p:cNvSpPr/>
          <p:nvPr/>
        </p:nvSpPr>
        <p:spPr>
          <a:xfrm>
            <a:off x="457200" y="320040"/>
            <a:ext cx="1737360" cy="310896"/>
          </a:xfrm>
          <a:prstGeom prst="rect">
            <a:avLst/>
          </a:prstGeom>
          <a:noFill/>
          <a:ln/>
        </p:spPr>
        <p:txBody>
          <a:bodyPr wrap="square" lIns="0" tIns="0" rIns="0" bIns="0" rtlCol="0" anchor="ctr"/>
          <a:lstStyle/>
          <a:p>
            <a:pPr algn="ctr" indent="0" marL="0">
              <a:buNone/>
            </a:pPr>
            <a:r>
              <a:rPr lang="en-US" sz="1000" b="1" spc="100" kern="0" dirty="0">
                <a:solidFill>
                  <a:srgbClr val="0F1F3D"/>
                </a:solidFill>
                <a:latin typeface="Arial" pitchFamily="34" charset="0"/>
                <a:ea typeface="Arial" pitchFamily="34" charset="-122"/>
                <a:cs typeface="Arial" pitchFamily="34" charset="-120"/>
              </a:rPr>
              <a:t>STAND TEAMS</a:t>
            </a:r>
            <a:endParaRPr lang="en-US" sz="1000" dirty="0"/>
          </a:p>
        </p:txBody>
      </p:sp>
      <p:sp>
        <p:nvSpPr>
          <p:cNvPr id="4" name="Text 2"/>
          <p:cNvSpPr/>
          <p:nvPr/>
        </p:nvSpPr>
        <p:spPr>
          <a:xfrm>
            <a:off x="457200" y="713232"/>
            <a:ext cx="8229600" cy="640080"/>
          </a:xfrm>
          <a:prstGeom prst="rect">
            <a:avLst/>
          </a:prstGeom>
          <a:noFill/>
          <a:ln/>
        </p:spPr>
        <p:txBody>
          <a:bodyPr wrap="square" lIns="0" tIns="0" rIns="0" bIns="0" rtlCol="0" anchor="t">
            <a:normAutofit/>
          </a:bodyPr>
          <a:lstStyle/>
          <a:p>
            <a:pPr indent="0" marL="0">
              <a:buNone/>
            </a:pPr>
            <a:r>
              <a:rPr lang="en-US" sz="2600" b="1" dirty="0">
                <a:solidFill>
                  <a:srgbClr val="0F1F3D"/>
                </a:solidFill>
                <a:latin typeface="Arial" pitchFamily="34" charset="0"/>
                <a:ea typeface="Arial" pitchFamily="34" charset="-122"/>
                <a:cs typeface="Arial" pitchFamily="34" charset="-120"/>
              </a:rPr>
              <a:t>Report a problem in your words</a:t>
            </a:r>
            <a:endParaRPr lang="en-US" sz="2600" dirty="0"/>
          </a:p>
        </p:txBody>
      </p:sp>
      <p:sp>
        <p:nvSpPr>
          <p:cNvPr id="5" name="Text 3"/>
          <p:cNvSpPr/>
          <p:nvPr/>
        </p:nvSpPr>
        <p:spPr>
          <a:xfrm>
            <a:off x="457200" y="4754880"/>
            <a:ext cx="5486400" cy="228600"/>
          </a:xfrm>
          <a:prstGeom prst="rect">
            <a:avLst/>
          </a:prstGeom>
          <a:noFill/>
          <a:ln/>
        </p:spPr>
        <p:txBody>
          <a:bodyPr wrap="square" lIns="0" tIns="0" rIns="0" bIns="0" rtlCol="0" anchor="ctr"/>
          <a:lstStyle/>
          <a:p>
            <a:pPr indent="0" marL="0">
              <a:buNone/>
            </a:pPr>
            <a:r>
              <a:rPr lang="en-US" sz="900" dirty="0">
                <a:solidFill>
                  <a:srgbClr val="6B7280"/>
                </a:solidFill>
                <a:latin typeface="Calibri" pitchFamily="34" charset="0"/>
                <a:ea typeface="Calibri" pitchFamily="34" charset="-122"/>
                <a:cs typeface="Calibri" pitchFamily="34" charset="-120"/>
              </a:rPr>
              <a:t>SDX Inspect · Stand teams · 22</a:t>
            </a:r>
            <a:endParaRPr lang="en-US" sz="900" dirty="0"/>
          </a:p>
        </p:txBody>
      </p:sp>
      <p:sp>
        <p:nvSpPr>
          <p:cNvPr id="6" name="Text 4"/>
          <p:cNvSpPr/>
          <p:nvPr/>
        </p:nvSpPr>
        <p:spPr>
          <a:xfrm>
            <a:off x="457200" y="1508760"/>
            <a:ext cx="4114800" cy="3108960"/>
          </a:xfrm>
          <a:prstGeom prst="rect">
            <a:avLst/>
          </a:prstGeom>
          <a:noFill/>
          <a:ln/>
        </p:spPr>
        <p:txBody>
          <a:bodyPr wrap="square" lIns="0" tIns="0" rIns="0" bIns="0" rtlCol="0" anchor="t">
            <a:normAutofit/>
          </a:bodyPr>
          <a:lstStyle/>
          <a:p>
            <a:pPr marL="177800" indent="-177800">
              <a:spcAft>
                <a:spcPts val="700"/>
              </a:spcAft>
              <a:buSzPct val="100000"/>
              <a:buChar char="•"/>
            </a:pPr>
            <a:r>
              <a:rPr lang="en-US" sz="1400" dirty="0">
                <a:solidFill>
                  <a:srgbClr val="1F2937"/>
                </a:solidFill>
                <a:latin typeface="Calibri" pitchFamily="34" charset="0"/>
                <a:ea typeface="Calibri" pitchFamily="34" charset="-122"/>
                <a:cs typeface="Calibri" pitchFamily="34" charset="-120"/>
              </a:rPr>
              <a:t>Write what is wrong and where. The app picks category and unit.</a:t>
            </a:r>
            <a:endParaRPr lang="en-US" sz="1400" dirty="0"/>
          </a:p>
          <a:p>
            <a:pPr marL="177800" indent="-177800">
              <a:spcAft>
                <a:spcPts val="700"/>
              </a:spcAft>
              <a:buSzPct val="100000"/>
              <a:buChar char="•"/>
            </a:pPr>
            <a:r>
              <a:rPr lang="en-US" sz="1400" dirty="0">
                <a:solidFill>
                  <a:srgbClr val="1F2937"/>
                </a:solidFill>
                <a:latin typeface="Calibri" pitchFamily="34" charset="0"/>
                <a:ea typeface="Calibri" pitchFamily="34" charset="-122"/>
                <a:cs typeface="Calibri" pitchFamily="34" charset="-120"/>
              </a:rPr>
              <a:t>✕ any chip that is wrong. ＋ Add details is optional.</a:t>
            </a:r>
            <a:endParaRPr lang="en-US" sz="1400" dirty="0"/>
          </a:p>
          <a:p>
            <a:pPr marL="177800" indent="-177800">
              <a:spcAft>
                <a:spcPts val="700"/>
              </a:spcAft>
              <a:buSzPct val="100000"/>
              <a:buChar char="•"/>
            </a:pPr>
            <a:r>
              <a:rPr lang="en-US" sz="1400" dirty="0">
                <a:solidFill>
                  <a:srgbClr val="1F2937"/>
                </a:solidFill>
                <a:latin typeface="Calibri" pitchFamily="34" charset="0"/>
                <a:ea typeface="Calibri" pitchFamily="34" charset="-122"/>
                <a:cs typeface="Calibri" pitchFamily="34" charset="-120"/>
              </a:rPr>
              <a:t>Photo required. Corrective action. ＋ Add another problem.</a:t>
            </a:r>
            <a:endParaRPr lang="en-US" sz="1400" dirty="0"/>
          </a:p>
          <a:p>
            <a:pPr marL="177800" indent="-177800">
              <a:spcAft>
                <a:spcPts val="700"/>
              </a:spcAft>
              <a:buSzPct val="100000"/>
              <a:buChar char="•"/>
            </a:pPr>
            <a:r>
              <a:rPr lang="en-US" sz="1400" dirty="0">
                <a:solidFill>
                  <a:srgbClr val="1F2937"/>
                </a:solidFill>
                <a:latin typeface="Calibri" pitchFamily="34" charset="0"/>
                <a:ea typeface="Calibri" pitchFamily="34" charset="-122"/>
                <a:cs typeface="Calibri" pitchFamily="34" charset="-120"/>
              </a:rPr>
              <a:t>Send → Submitted! — it goes straight to the crew.</a:t>
            </a:r>
            <a:endParaRPr lang="en-US" sz="1400" dirty="0"/>
          </a:p>
        </p:txBody>
      </p:sp>
      <p:sp>
        <p:nvSpPr>
          <p:cNvPr id="7" name="Shape 5"/>
          <p:cNvSpPr/>
          <p:nvPr/>
        </p:nvSpPr>
        <p:spPr>
          <a:xfrm>
            <a:off x="5065776" y="1408176"/>
            <a:ext cx="1609712" cy="3355848"/>
          </a:xfrm>
          <a:prstGeom prst="roundRect">
            <a:avLst>
              <a:gd name="adj" fmla="val 12497"/>
            </a:avLst>
          </a:prstGeom>
          <a:solidFill>
            <a:srgbClr val="1F2937"/>
          </a:solidFill>
          <a:ln w="12700">
            <a:solidFill>
              <a:srgbClr val="1F2937"/>
            </a:solidFill>
            <a:prstDash val="solid"/>
          </a:ln>
        </p:spPr>
      </p:sp>
      <p:pic>
        <p:nvPicPr>
          <p:cNvPr id="8" name="Image 0" descr="/home/user/Claude/docs/training/screens/23-portal-report-problem.png">    </p:cNvPr>
          <p:cNvPicPr>
            <a:picLocks noChangeAspect="1"/>
          </p:cNvPicPr>
          <p:nvPr/>
        </p:nvPicPr>
        <p:blipFill>
          <a:blip r:embed="rId1"/>
          <a:stretch>
            <a:fillRect/>
          </a:stretch>
        </p:blipFill>
        <p:spPr>
          <a:xfrm>
            <a:off x="5120640" y="1463040"/>
            <a:ext cx="1499984" cy="3246120"/>
          </a:xfrm>
          <a:prstGeom prst="rect">
            <a:avLst/>
          </a:prstGeom>
        </p:spPr>
      </p:pic>
      <p:sp>
        <p:nvSpPr>
          <p:cNvPr id="9" name="Shape 6"/>
          <p:cNvSpPr/>
          <p:nvPr/>
        </p:nvSpPr>
        <p:spPr>
          <a:xfrm>
            <a:off x="6885800" y="1408176"/>
            <a:ext cx="1609712" cy="3355848"/>
          </a:xfrm>
          <a:prstGeom prst="roundRect">
            <a:avLst>
              <a:gd name="adj" fmla="val 12497"/>
            </a:avLst>
          </a:prstGeom>
          <a:solidFill>
            <a:srgbClr val="1F2937"/>
          </a:solidFill>
          <a:ln w="12700">
            <a:solidFill>
              <a:srgbClr val="1F2937"/>
            </a:solidFill>
            <a:prstDash val="solid"/>
          </a:ln>
        </p:spPr>
      </p:sp>
      <p:pic>
        <p:nvPicPr>
          <p:cNvPr id="10" name="Image 1" descr="/home/user/Claude/docs/training/screens/25-portal-report-sent.png">    </p:cNvPr>
          <p:cNvPicPr>
            <a:picLocks noChangeAspect="1"/>
          </p:cNvPicPr>
          <p:nvPr/>
        </p:nvPicPr>
        <p:blipFill>
          <a:blip r:embed="rId2"/>
          <a:stretch>
            <a:fillRect/>
          </a:stretch>
        </p:blipFill>
        <p:spPr>
          <a:xfrm>
            <a:off x="6940664" y="1463040"/>
            <a:ext cx="1499984" cy="3246120"/>
          </a:xfrm>
          <a:prstGeom prst="rect">
            <a:avLst/>
          </a:prstGeom>
        </p:spPr>
      </p:pic>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20040"/>
            <a:ext cx="1737360" cy="310896"/>
          </a:xfrm>
          <a:prstGeom prst="roundRect">
            <a:avLst>
              <a:gd name="adj" fmla="val 50000"/>
            </a:avLst>
          </a:prstGeom>
          <a:solidFill>
            <a:srgbClr val="FFD166"/>
          </a:solidFill>
          <a:ln w="12700">
            <a:solidFill>
              <a:srgbClr val="FFD166"/>
            </a:solidFill>
            <a:prstDash val="solid"/>
          </a:ln>
        </p:spPr>
      </p:sp>
      <p:sp>
        <p:nvSpPr>
          <p:cNvPr id="3" name="Text 1"/>
          <p:cNvSpPr/>
          <p:nvPr/>
        </p:nvSpPr>
        <p:spPr>
          <a:xfrm>
            <a:off x="457200" y="320040"/>
            <a:ext cx="1737360" cy="310896"/>
          </a:xfrm>
          <a:prstGeom prst="rect">
            <a:avLst/>
          </a:prstGeom>
          <a:noFill/>
          <a:ln/>
        </p:spPr>
        <p:txBody>
          <a:bodyPr wrap="square" lIns="0" tIns="0" rIns="0" bIns="0" rtlCol="0" anchor="ctr"/>
          <a:lstStyle/>
          <a:p>
            <a:pPr algn="ctr" indent="0" marL="0">
              <a:buNone/>
            </a:pPr>
            <a:r>
              <a:rPr lang="en-US" sz="1000" b="1" spc="100" kern="0" dirty="0">
                <a:solidFill>
                  <a:srgbClr val="0F1F3D"/>
                </a:solidFill>
                <a:latin typeface="Arial" pitchFamily="34" charset="0"/>
                <a:ea typeface="Arial" pitchFamily="34" charset="-122"/>
                <a:cs typeface="Arial" pitchFamily="34" charset="-120"/>
              </a:rPr>
              <a:t>STAND TEAMS</a:t>
            </a:r>
            <a:endParaRPr lang="en-US" sz="1000" dirty="0"/>
          </a:p>
        </p:txBody>
      </p:sp>
      <p:sp>
        <p:nvSpPr>
          <p:cNvPr id="4" name="Text 2"/>
          <p:cNvSpPr/>
          <p:nvPr/>
        </p:nvSpPr>
        <p:spPr>
          <a:xfrm>
            <a:off x="457200" y="713232"/>
            <a:ext cx="8229600" cy="640080"/>
          </a:xfrm>
          <a:prstGeom prst="rect">
            <a:avLst/>
          </a:prstGeom>
          <a:noFill/>
          <a:ln/>
        </p:spPr>
        <p:txBody>
          <a:bodyPr wrap="square" lIns="0" tIns="0" rIns="0" bIns="0" rtlCol="0" anchor="t">
            <a:normAutofit/>
          </a:bodyPr>
          <a:lstStyle/>
          <a:p>
            <a:pPr indent="0" marL="0">
              <a:buNone/>
            </a:pPr>
            <a:r>
              <a:rPr lang="en-US" sz="2600" b="1" dirty="0">
                <a:solidFill>
                  <a:srgbClr val="0F1F3D"/>
                </a:solidFill>
                <a:latin typeface="Arial" pitchFamily="34" charset="0"/>
                <a:ea typeface="Arial" pitchFamily="34" charset="-122"/>
                <a:cs typeface="Arial" pitchFamily="34" charset="-120"/>
              </a:rPr>
              <a:t>Keep your equipment list right — it is your report</a:t>
            </a:r>
            <a:endParaRPr lang="en-US" sz="2600" dirty="0"/>
          </a:p>
        </p:txBody>
      </p:sp>
      <p:sp>
        <p:nvSpPr>
          <p:cNvPr id="5" name="Text 3"/>
          <p:cNvSpPr/>
          <p:nvPr/>
        </p:nvSpPr>
        <p:spPr>
          <a:xfrm>
            <a:off x="457200" y="4754880"/>
            <a:ext cx="5486400" cy="228600"/>
          </a:xfrm>
          <a:prstGeom prst="rect">
            <a:avLst/>
          </a:prstGeom>
          <a:noFill/>
          <a:ln/>
        </p:spPr>
        <p:txBody>
          <a:bodyPr wrap="square" lIns="0" tIns="0" rIns="0" bIns="0" rtlCol="0" anchor="ctr"/>
          <a:lstStyle/>
          <a:p>
            <a:pPr indent="0" marL="0">
              <a:buNone/>
            </a:pPr>
            <a:r>
              <a:rPr lang="en-US" sz="900" dirty="0">
                <a:solidFill>
                  <a:srgbClr val="6B7280"/>
                </a:solidFill>
                <a:latin typeface="Calibri" pitchFamily="34" charset="0"/>
                <a:ea typeface="Calibri" pitchFamily="34" charset="-122"/>
                <a:cs typeface="Calibri" pitchFamily="34" charset="-120"/>
              </a:rPr>
              <a:t>SDX Inspect · Stand teams · 23</a:t>
            </a:r>
            <a:endParaRPr lang="en-US" sz="900" dirty="0"/>
          </a:p>
        </p:txBody>
      </p:sp>
      <p:sp>
        <p:nvSpPr>
          <p:cNvPr id="6" name="Shape 4"/>
          <p:cNvSpPr/>
          <p:nvPr/>
        </p:nvSpPr>
        <p:spPr>
          <a:xfrm>
            <a:off x="457200" y="1463040"/>
            <a:ext cx="3977640" cy="3154680"/>
          </a:xfrm>
          <a:prstGeom prst="roundRect">
            <a:avLst>
              <a:gd name="adj" fmla="val 3478"/>
            </a:avLst>
          </a:prstGeom>
          <a:solidFill>
            <a:srgbClr val="F5F7FB"/>
          </a:solidFill>
          <a:ln w="12700">
            <a:solidFill>
              <a:srgbClr val="F5F7FB"/>
            </a:solidFill>
            <a:prstDash val="solid"/>
          </a:ln>
        </p:spPr>
      </p:sp>
      <p:sp>
        <p:nvSpPr>
          <p:cNvPr id="7" name="Shape 5"/>
          <p:cNvSpPr/>
          <p:nvPr/>
        </p:nvSpPr>
        <p:spPr>
          <a:xfrm>
            <a:off x="4709160" y="1463040"/>
            <a:ext cx="3977640" cy="3154680"/>
          </a:xfrm>
          <a:prstGeom prst="roundRect">
            <a:avLst>
              <a:gd name="adj" fmla="val 3478"/>
            </a:avLst>
          </a:prstGeom>
          <a:solidFill>
            <a:srgbClr val="F5F7FB"/>
          </a:solidFill>
          <a:ln w="12700">
            <a:solidFill>
              <a:srgbClr val="F5F7FB"/>
            </a:solidFill>
            <a:prstDash val="solid"/>
          </a:ln>
        </p:spPr>
      </p:sp>
      <p:sp>
        <p:nvSpPr>
          <p:cNvPr id="8" name="Text 6"/>
          <p:cNvSpPr/>
          <p:nvPr/>
        </p:nvSpPr>
        <p:spPr>
          <a:xfrm>
            <a:off x="685800" y="1572768"/>
            <a:ext cx="2743200" cy="274320"/>
          </a:xfrm>
          <a:prstGeom prst="rect">
            <a:avLst/>
          </a:prstGeom>
          <a:noFill/>
          <a:ln/>
        </p:spPr>
        <p:txBody>
          <a:bodyPr wrap="square" lIns="0" tIns="0" rIns="0" bIns="0" rtlCol="0" anchor="ctr"/>
          <a:lstStyle/>
          <a:p>
            <a:pPr indent="0" marL="0">
              <a:buNone/>
            </a:pPr>
            <a:r>
              <a:rPr lang="en-US" sz="1000" b="1" spc="100" kern="0" dirty="0">
                <a:solidFill>
                  <a:srgbClr val="6B7280"/>
                </a:solidFill>
                <a:latin typeface="Arial" pitchFamily="34" charset="0"/>
                <a:ea typeface="Arial" pitchFamily="34" charset="-122"/>
                <a:cs typeface="Arial" pitchFamily="34" charset="-120"/>
              </a:rPr>
              <a:t>ENGLISH</a:t>
            </a:r>
            <a:endParaRPr lang="en-US" sz="1000" dirty="0"/>
          </a:p>
        </p:txBody>
      </p:sp>
      <p:sp>
        <p:nvSpPr>
          <p:cNvPr id="9" name="Text 7"/>
          <p:cNvSpPr/>
          <p:nvPr/>
        </p:nvSpPr>
        <p:spPr>
          <a:xfrm>
            <a:off x="4937760" y="1572768"/>
            <a:ext cx="2743200" cy="274320"/>
          </a:xfrm>
          <a:prstGeom prst="rect">
            <a:avLst/>
          </a:prstGeom>
          <a:noFill/>
          <a:ln/>
        </p:spPr>
        <p:txBody>
          <a:bodyPr wrap="square" lIns="0" tIns="0" rIns="0" bIns="0" rtlCol="0" anchor="ctr"/>
          <a:lstStyle/>
          <a:p>
            <a:pPr indent="0" marL="0">
              <a:buNone/>
            </a:pPr>
            <a:r>
              <a:rPr lang="en-US" sz="1000" b="1" spc="100" kern="0" dirty="0">
                <a:solidFill>
                  <a:srgbClr val="6B7280"/>
                </a:solidFill>
                <a:latin typeface="Arial" pitchFamily="34" charset="0"/>
                <a:ea typeface="Arial" pitchFamily="34" charset="-122"/>
                <a:cs typeface="Arial" pitchFamily="34" charset="-120"/>
              </a:rPr>
              <a:t>ESPAÑOL</a:t>
            </a:r>
            <a:endParaRPr lang="en-US" sz="1000" dirty="0"/>
          </a:p>
        </p:txBody>
      </p:sp>
      <p:sp>
        <p:nvSpPr>
          <p:cNvPr id="10" name="Text 8"/>
          <p:cNvSpPr/>
          <p:nvPr/>
        </p:nvSpPr>
        <p:spPr>
          <a:xfrm>
            <a:off x="685800" y="1874520"/>
            <a:ext cx="3566160" cy="2651760"/>
          </a:xfrm>
          <a:prstGeom prst="rect">
            <a:avLst/>
          </a:prstGeom>
          <a:noFill/>
          <a:ln/>
        </p:spPr>
        <p:txBody>
          <a:bodyPr wrap="square" lIns="0" tIns="0" rIns="0" bIns="0" rtlCol="0" anchor="t">
            <a:normAutofit/>
          </a:bodyPr>
          <a:lstStyle/>
          <a:p>
            <a:pPr marL="228600" indent="-228600">
              <a:spcAft>
                <a:spcPts val="600"/>
              </a:spcAft>
              <a:buSzPct val="100000"/>
              <a:buFont typeface="+mj-lt"/>
              <a:buAutoNum type="arabicPeriod" startAt="1"/>
            </a:pPr>
            <a:r>
              <a:rPr lang="en-US" sz="1300" dirty="0">
                <a:solidFill>
                  <a:srgbClr val="1F2937"/>
                </a:solidFill>
                <a:latin typeface="Calibri" pitchFamily="34" charset="0"/>
                <a:ea typeface="Calibri" pitchFamily="34" charset="-122"/>
                <a:cs typeface="Calibri" pitchFamily="34" charset="-120"/>
              </a:rPr>
              <a:t>✎ Edit this unit → Fix name / location.</a:t>
            </a:r>
            <a:endParaRPr lang="en-US" sz="1300" dirty="0"/>
          </a:p>
          <a:p>
            <a:pPr marL="228600" indent="-228600">
              <a:spcAft>
                <a:spcPts val="600"/>
              </a:spcAft>
              <a:buSzPct val="100000"/>
              <a:buFont typeface="+mj-lt"/>
              <a:buAutoNum type="arabicPeriod" startAt="1"/>
            </a:pPr>
            <a:r>
              <a:rPr lang="en-US" sz="1300" dirty="0">
                <a:solidFill>
                  <a:srgbClr val="1F2937"/>
                </a:solidFill>
                <a:latin typeface="Calibri" pitchFamily="34" charset="0"/>
                <a:ea typeface="Calibri" pitchFamily="34" charset="-122"/>
                <a:cs typeface="Calibri" pitchFamily="34" charset="-120"/>
              </a:rPr>
              <a:t>Moved to another stand → search, tap.</a:t>
            </a:r>
            <a:endParaRPr lang="en-US" sz="1300" dirty="0"/>
          </a:p>
          <a:p>
            <a:pPr marL="228600" indent="-228600">
              <a:spcAft>
                <a:spcPts val="600"/>
              </a:spcAft>
              <a:buSzPct val="100000"/>
              <a:buFont typeface="+mj-lt"/>
              <a:buAutoNum type="arabicPeriod" startAt="1"/>
            </a:pPr>
            <a:r>
              <a:rPr lang="en-US" sz="1300" dirty="0">
                <a:solidFill>
                  <a:srgbClr val="1F2937"/>
                </a:solidFill>
                <a:latin typeface="Calibri" pitchFamily="34" charset="0"/>
                <a:ea typeface="Calibri" pitchFamily="34" charset="-122"/>
                <a:cs typeface="Calibri" pitchFamily="34" charset="-120"/>
              </a:rPr>
              <a:t>Not here anymore → it leaves your list.</a:t>
            </a:r>
            <a:endParaRPr lang="en-US" sz="1300" dirty="0"/>
          </a:p>
          <a:p>
            <a:pPr marL="228600" indent="-228600">
              <a:spcAft>
                <a:spcPts val="600"/>
              </a:spcAft>
              <a:buSzPct val="100000"/>
              <a:buFont typeface="+mj-lt"/>
              <a:buAutoNum type="arabicPeriod" startAt="1"/>
            </a:pPr>
            <a:r>
              <a:rPr lang="en-US" sz="1300" dirty="0">
                <a:solidFill>
                  <a:srgbClr val="1F2937"/>
                </a:solidFill>
                <a:latin typeface="Calibri" pitchFamily="34" charset="0"/>
                <a:ea typeface="Calibri" pitchFamily="34" charset="-122"/>
                <a:cs typeface="Calibri" pitchFamily="34" charset="-120"/>
              </a:rPr>
              <a:t>＋ Add a cooler / freezer that is missing.</a:t>
            </a:r>
            <a:endParaRPr lang="en-US" sz="1300" dirty="0"/>
          </a:p>
          <a:p>
            <a:pPr marL="228600" indent="-228600">
              <a:spcAft>
                <a:spcPts val="600"/>
              </a:spcAft>
              <a:buSzPct val="100000"/>
              <a:buFont typeface="+mj-lt"/>
              <a:buAutoNum type="arabicPeriod" startAt="1"/>
            </a:pPr>
            <a:r>
              <a:rPr lang="en-US" sz="1300" dirty="0">
                <a:solidFill>
                  <a:srgbClr val="1F2937"/>
                </a:solidFill>
                <a:latin typeface="Calibri" pitchFamily="34" charset="0"/>
                <a:ea typeface="Calibri" pitchFamily="34" charset="-122"/>
                <a:cs typeface="Calibri" pitchFamily="34" charset="-120"/>
              </a:rPr>
              <a:t>Your log is saved as the stand's own report — the inspector is notified.</a:t>
            </a:r>
            <a:endParaRPr lang="en-US" sz="1300" dirty="0"/>
          </a:p>
        </p:txBody>
      </p:sp>
      <p:sp>
        <p:nvSpPr>
          <p:cNvPr id="11" name="Text 9"/>
          <p:cNvSpPr/>
          <p:nvPr/>
        </p:nvSpPr>
        <p:spPr>
          <a:xfrm>
            <a:off x="4937760" y="1874520"/>
            <a:ext cx="3566160" cy="2651760"/>
          </a:xfrm>
          <a:prstGeom prst="rect">
            <a:avLst/>
          </a:prstGeom>
          <a:noFill/>
          <a:ln/>
        </p:spPr>
        <p:txBody>
          <a:bodyPr wrap="square" lIns="0" tIns="0" rIns="0" bIns="0" rtlCol="0" anchor="t">
            <a:normAutofit/>
          </a:bodyPr>
          <a:lstStyle/>
          <a:p>
            <a:pPr marL="228600" indent="-228600">
              <a:spcAft>
                <a:spcPts val="600"/>
              </a:spcAft>
              <a:buSzPct val="100000"/>
              <a:buFont typeface="+mj-lt"/>
              <a:buAutoNum type="arabicPeriod" startAt="1"/>
            </a:pPr>
            <a:r>
              <a:rPr lang="en-US" sz="1300" dirty="0">
                <a:solidFill>
                  <a:srgbClr val="1F2937"/>
                </a:solidFill>
                <a:latin typeface="Calibri" pitchFamily="34" charset="0"/>
                <a:ea typeface="Calibri" pitchFamily="34" charset="-122"/>
                <a:cs typeface="Calibri" pitchFamily="34" charset="-120"/>
              </a:rPr>
              <a:t>✎ Editar → Corregir nombre / ubicación.</a:t>
            </a:r>
            <a:endParaRPr lang="en-US" sz="1300" dirty="0"/>
          </a:p>
          <a:p>
            <a:pPr marL="228600" indent="-228600">
              <a:spcAft>
                <a:spcPts val="600"/>
              </a:spcAft>
              <a:buSzPct val="100000"/>
              <a:buFont typeface="+mj-lt"/>
              <a:buAutoNum type="arabicPeriod" startAt="1"/>
            </a:pPr>
            <a:r>
              <a:rPr lang="en-US" sz="1300" dirty="0">
                <a:solidFill>
                  <a:srgbClr val="1F2937"/>
                </a:solidFill>
                <a:latin typeface="Calibri" pitchFamily="34" charset="0"/>
                <a:ea typeface="Calibri" pitchFamily="34" charset="-122"/>
                <a:cs typeface="Calibri" pitchFamily="34" charset="-120"/>
              </a:rPr>
              <a:t>Se movió a otro puesto → busca, toca.</a:t>
            </a:r>
            <a:endParaRPr lang="en-US" sz="1300" dirty="0"/>
          </a:p>
          <a:p>
            <a:pPr marL="228600" indent="-228600">
              <a:spcAft>
                <a:spcPts val="600"/>
              </a:spcAft>
              <a:buSzPct val="100000"/>
              <a:buFont typeface="+mj-lt"/>
              <a:buAutoNum type="arabicPeriod" startAt="1"/>
            </a:pPr>
            <a:r>
              <a:rPr lang="en-US" sz="1300" dirty="0">
                <a:solidFill>
                  <a:srgbClr val="1F2937"/>
                </a:solidFill>
                <a:latin typeface="Calibri" pitchFamily="34" charset="0"/>
                <a:ea typeface="Calibri" pitchFamily="34" charset="-122"/>
                <a:cs typeface="Calibri" pitchFamily="34" charset="-120"/>
              </a:rPr>
              <a:t>Ya no está aquí → sale de tu lista.</a:t>
            </a:r>
            <a:endParaRPr lang="en-US" sz="1300" dirty="0"/>
          </a:p>
          <a:p>
            <a:pPr marL="228600" indent="-228600">
              <a:spcAft>
                <a:spcPts val="600"/>
              </a:spcAft>
              <a:buSzPct val="100000"/>
              <a:buFont typeface="+mj-lt"/>
              <a:buAutoNum type="arabicPeriod" startAt="1"/>
            </a:pPr>
            <a:r>
              <a:rPr lang="en-US" sz="1300" dirty="0">
                <a:solidFill>
                  <a:srgbClr val="1F2937"/>
                </a:solidFill>
                <a:latin typeface="Calibri" pitchFamily="34" charset="0"/>
                <a:ea typeface="Calibri" pitchFamily="34" charset="-122"/>
                <a:cs typeface="Calibri" pitchFamily="34" charset="-120"/>
              </a:rPr>
              <a:t>＋ Agregar nevera / congelador que falta.</a:t>
            </a:r>
            <a:endParaRPr lang="en-US" sz="1300" dirty="0"/>
          </a:p>
          <a:p>
            <a:pPr marL="228600" indent="-228600">
              <a:spcAft>
                <a:spcPts val="600"/>
              </a:spcAft>
              <a:buSzPct val="100000"/>
              <a:buFont typeface="+mj-lt"/>
              <a:buAutoNum type="arabicPeriod" startAt="1"/>
            </a:pPr>
            <a:r>
              <a:rPr lang="en-US" sz="1300" dirty="0">
                <a:solidFill>
                  <a:srgbClr val="1F2937"/>
                </a:solidFill>
                <a:latin typeface="Calibri" pitchFamily="34" charset="0"/>
                <a:ea typeface="Calibri" pitchFamily="34" charset="-122"/>
                <a:cs typeface="Calibri" pitchFamily="34" charset="-120"/>
              </a:rPr>
              <a:t>Tu registro se guarda como reporte del puesto — el inspector recibe aviso.</a:t>
            </a:r>
            <a:endParaRPr lang="en-US" sz="13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0F1F3D"/>
        </a:solidFill>
      </p:bgPr>
    </p:bg>
    <p:spTree>
      <p:nvGrpSpPr>
        <p:cNvPr id="1" name=""/>
        <p:cNvGrpSpPr/>
        <p:nvPr/>
      </p:nvGrpSpPr>
      <p:grpSpPr>
        <a:xfrm>
          <a:off x="0" y="0"/>
          <a:ext cx="0" cy="0"/>
          <a:chOff x="0" y="0"/>
          <a:chExt cx="0" cy="0"/>
        </a:xfrm>
      </p:grpSpPr>
      <p:sp>
        <p:nvSpPr>
          <p:cNvPr id="2" name="Shape 0"/>
          <p:cNvSpPr/>
          <p:nvPr/>
        </p:nvSpPr>
        <p:spPr>
          <a:xfrm>
            <a:off x="640080" y="1463040"/>
            <a:ext cx="2011680" cy="365760"/>
          </a:xfrm>
          <a:prstGeom prst="roundRect">
            <a:avLst>
              <a:gd name="adj" fmla="val 50000"/>
            </a:avLst>
          </a:prstGeom>
          <a:solidFill>
            <a:srgbClr val="2563EB"/>
          </a:solidFill>
          <a:ln w="12700">
            <a:solidFill>
              <a:srgbClr val="2563EB"/>
            </a:solidFill>
            <a:prstDash val="solid"/>
          </a:ln>
        </p:spPr>
      </p:sp>
      <p:sp>
        <p:nvSpPr>
          <p:cNvPr id="3" name="Text 1"/>
          <p:cNvSpPr/>
          <p:nvPr/>
        </p:nvSpPr>
        <p:spPr>
          <a:xfrm>
            <a:off x="640080" y="1463040"/>
            <a:ext cx="2011680" cy="365760"/>
          </a:xfrm>
          <a:prstGeom prst="rect">
            <a:avLst/>
          </a:prstGeom>
          <a:noFill/>
          <a:ln/>
        </p:spPr>
        <p:txBody>
          <a:bodyPr wrap="square" lIns="0" tIns="0" rIns="0" bIns="0" rtlCol="0" anchor="ctr"/>
          <a:lstStyle/>
          <a:p>
            <a:pPr algn="ctr" indent="0" marL="0">
              <a:buNone/>
            </a:pPr>
            <a:r>
              <a:rPr lang="en-US" sz="1200" b="1" spc="100" kern="0" dirty="0">
                <a:solidFill>
                  <a:srgbClr val="FFFFFF"/>
                </a:solidFill>
                <a:latin typeface="Arial" pitchFamily="34" charset="0"/>
                <a:ea typeface="Arial" pitchFamily="34" charset="-122"/>
                <a:cs typeface="Arial" pitchFamily="34" charset="-120"/>
              </a:rPr>
              <a:t>MAINTENANCE</a:t>
            </a:r>
            <a:endParaRPr lang="en-US" sz="1200" dirty="0"/>
          </a:p>
        </p:txBody>
      </p:sp>
      <p:sp>
        <p:nvSpPr>
          <p:cNvPr id="4" name="Text 2"/>
          <p:cNvSpPr/>
          <p:nvPr/>
        </p:nvSpPr>
        <p:spPr>
          <a:xfrm>
            <a:off x="640080" y="1965960"/>
            <a:ext cx="7863840" cy="914400"/>
          </a:xfrm>
          <a:prstGeom prst="rect">
            <a:avLst/>
          </a:prstGeom>
          <a:noFill/>
          <a:ln/>
        </p:spPr>
        <p:txBody>
          <a:bodyPr wrap="square" lIns="0" tIns="0" rIns="0" bIns="0" rtlCol="0" anchor="t">
            <a:normAutofit/>
          </a:bodyPr>
          <a:lstStyle/>
          <a:p>
            <a:pPr indent="0" marL="0">
              <a:buNone/>
            </a:pPr>
            <a:r>
              <a:rPr lang="en-US" sz="3400" b="1" dirty="0">
                <a:solidFill>
                  <a:srgbClr val="FFFFFF"/>
                </a:solidFill>
                <a:latin typeface="Arial" pitchFamily="34" charset="0"/>
                <a:ea typeface="Arial" pitchFamily="34" charset="-122"/>
                <a:cs typeface="Arial" pitchFamily="34" charset="-120"/>
              </a:rPr>
              <a:t>Your board: In process, After photo, Fixed</a:t>
            </a:r>
            <a:endParaRPr lang="en-US" sz="3400" dirty="0"/>
          </a:p>
        </p:txBody>
      </p:sp>
      <p:sp>
        <p:nvSpPr>
          <p:cNvPr id="5" name="Text 3"/>
          <p:cNvSpPr/>
          <p:nvPr/>
        </p:nvSpPr>
        <p:spPr>
          <a:xfrm>
            <a:off x="640080" y="2880360"/>
            <a:ext cx="7863840" cy="548640"/>
          </a:xfrm>
          <a:prstGeom prst="rect">
            <a:avLst/>
          </a:prstGeom>
          <a:noFill/>
          <a:ln/>
        </p:spPr>
        <p:txBody>
          <a:bodyPr wrap="square" lIns="0" tIns="0" rIns="0" bIns="0" rtlCol="0" anchor="ctr"/>
          <a:lstStyle/>
          <a:p>
            <a:pPr indent="0" marL="0">
              <a:buNone/>
            </a:pPr>
            <a:r>
              <a:rPr lang="en-US" sz="2000" dirty="0">
                <a:solidFill>
                  <a:srgbClr val="9FC0FF"/>
                </a:solidFill>
                <a:latin typeface="Calibri" pitchFamily="34" charset="0"/>
                <a:ea typeface="Calibri" pitchFamily="34" charset="-122"/>
                <a:cs typeface="Calibri" pitchFamily="34" charset="-120"/>
              </a:rPr>
              <a:t>Tu tablero: En proceso, foto Después, Arreglado</a:t>
            </a:r>
            <a:endParaRPr lang="en-US" sz="2000" dirty="0"/>
          </a:p>
        </p:txBody>
      </p:sp>
      <p:sp>
        <p:nvSpPr>
          <p:cNvPr id="6" name="Text 4"/>
          <p:cNvSpPr/>
          <p:nvPr/>
        </p:nvSpPr>
        <p:spPr>
          <a:xfrm>
            <a:off x="640080" y="4023360"/>
            <a:ext cx="7315200" cy="365760"/>
          </a:xfrm>
          <a:prstGeom prst="rect">
            <a:avLst/>
          </a:prstGeom>
          <a:noFill/>
          <a:ln/>
        </p:spPr>
        <p:txBody>
          <a:bodyPr wrap="square" lIns="0" tIns="0" rIns="0" bIns="0" rtlCol="0" anchor="ctr"/>
          <a:lstStyle/>
          <a:p>
            <a:pPr indent="0" marL="0">
              <a:buNone/>
            </a:pPr>
            <a:r>
              <a:rPr lang="en-US" sz="1400" dirty="0">
                <a:solidFill>
                  <a:srgbClr val="FFD166"/>
                </a:solidFill>
                <a:latin typeface="Calibri" pitchFamily="34" charset="0"/>
                <a:ea typeface="Calibri" pitchFamily="34" charset="-122"/>
                <a:cs typeface="Calibri" pitchFamily="34" charset="-120"/>
              </a:rPr>
              <a:t>20 min · close the demo card on your own phone</a:t>
            </a:r>
            <a:endParaRPr lang="en-US" sz="14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20040"/>
            <a:ext cx="1737360" cy="310896"/>
          </a:xfrm>
          <a:prstGeom prst="roundRect">
            <a:avLst>
              <a:gd name="adj" fmla="val 50000"/>
            </a:avLst>
          </a:prstGeom>
          <a:solidFill>
            <a:srgbClr val="2563EB"/>
          </a:solidFill>
          <a:ln w="12700">
            <a:solidFill>
              <a:srgbClr val="2563EB"/>
            </a:solidFill>
            <a:prstDash val="solid"/>
          </a:ln>
        </p:spPr>
      </p:sp>
      <p:sp>
        <p:nvSpPr>
          <p:cNvPr id="3" name="Text 1"/>
          <p:cNvSpPr/>
          <p:nvPr/>
        </p:nvSpPr>
        <p:spPr>
          <a:xfrm>
            <a:off x="457200" y="320040"/>
            <a:ext cx="1737360" cy="310896"/>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Arial" pitchFamily="34" charset="0"/>
                <a:ea typeface="Arial" pitchFamily="34" charset="-122"/>
                <a:cs typeface="Arial" pitchFamily="34" charset="-120"/>
              </a:rPr>
              <a:t>MAINTENANCE</a:t>
            </a:r>
            <a:endParaRPr lang="en-US" sz="1000" dirty="0"/>
          </a:p>
        </p:txBody>
      </p:sp>
      <p:sp>
        <p:nvSpPr>
          <p:cNvPr id="4" name="Text 2"/>
          <p:cNvSpPr/>
          <p:nvPr/>
        </p:nvSpPr>
        <p:spPr>
          <a:xfrm>
            <a:off x="457200" y="713232"/>
            <a:ext cx="8229600" cy="640080"/>
          </a:xfrm>
          <a:prstGeom prst="rect">
            <a:avLst/>
          </a:prstGeom>
          <a:noFill/>
          <a:ln/>
        </p:spPr>
        <p:txBody>
          <a:bodyPr wrap="square" lIns="0" tIns="0" rIns="0" bIns="0" rtlCol="0" anchor="t">
            <a:normAutofit/>
          </a:bodyPr>
          <a:lstStyle/>
          <a:p>
            <a:pPr indent="0" marL="0">
              <a:buNone/>
            </a:pPr>
            <a:r>
              <a:rPr lang="en-US" sz="2600" b="1" dirty="0">
                <a:solidFill>
                  <a:srgbClr val="0F1F3D"/>
                </a:solidFill>
                <a:latin typeface="Arial" pitchFamily="34" charset="0"/>
                <a:ea typeface="Arial" pitchFamily="34" charset="-122"/>
                <a:cs typeface="Arial" pitchFamily="34" charset="-120"/>
              </a:rPr>
              <a:t>Get in, pick your language</a:t>
            </a:r>
            <a:endParaRPr lang="en-US" sz="2600" dirty="0"/>
          </a:p>
        </p:txBody>
      </p:sp>
      <p:sp>
        <p:nvSpPr>
          <p:cNvPr id="5" name="Text 3"/>
          <p:cNvSpPr/>
          <p:nvPr/>
        </p:nvSpPr>
        <p:spPr>
          <a:xfrm>
            <a:off x="457200" y="4754880"/>
            <a:ext cx="5486400" cy="228600"/>
          </a:xfrm>
          <a:prstGeom prst="rect">
            <a:avLst/>
          </a:prstGeom>
          <a:noFill/>
          <a:ln/>
        </p:spPr>
        <p:txBody>
          <a:bodyPr wrap="square" lIns="0" tIns="0" rIns="0" bIns="0" rtlCol="0" anchor="ctr"/>
          <a:lstStyle/>
          <a:p>
            <a:pPr indent="0" marL="0">
              <a:buNone/>
            </a:pPr>
            <a:r>
              <a:rPr lang="en-US" sz="900" dirty="0">
                <a:solidFill>
                  <a:srgbClr val="6B7280"/>
                </a:solidFill>
                <a:latin typeface="Calibri" pitchFamily="34" charset="0"/>
                <a:ea typeface="Calibri" pitchFamily="34" charset="-122"/>
                <a:cs typeface="Calibri" pitchFamily="34" charset="-120"/>
              </a:rPr>
              <a:t>SDX Inspect · Maintenance · 25</a:t>
            </a:r>
            <a:endParaRPr lang="en-US" sz="900" dirty="0"/>
          </a:p>
        </p:txBody>
      </p:sp>
      <p:sp>
        <p:nvSpPr>
          <p:cNvPr id="6" name="Text 4"/>
          <p:cNvSpPr/>
          <p:nvPr/>
        </p:nvSpPr>
        <p:spPr>
          <a:xfrm>
            <a:off x="457200" y="1508760"/>
            <a:ext cx="4114800" cy="3108960"/>
          </a:xfrm>
          <a:prstGeom prst="rect">
            <a:avLst/>
          </a:prstGeom>
          <a:noFill/>
          <a:ln/>
        </p:spPr>
        <p:txBody>
          <a:bodyPr wrap="square" lIns="0" tIns="0" rIns="0" bIns="0" rtlCol="0" anchor="t">
            <a:normAutofit/>
          </a:bodyPr>
          <a:lstStyle/>
          <a:p>
            <a:pPr marL="177800" indent="-177800">
              <a:spcAft>
                <a:spcPts val="700"/>
              </a:spcAft>
              <a:buSzPct val="100000"/>
              <a:buChar char="•"/>
            </a:pPr>
            <a:r>
              <a:rPr lang="en-US" sz="1400" dirty="0">
                <a:solidFill>
                  <a:srgbClr val="1F2937"/>
                </a:solidFill>
                <a:latin typeface="Calibri" pitchFamily="34" charset="0"/>
                <a:ea typeface="Calibri" pitchFamily="34" charset="-122"/>
                <a:cs typeface="Calibri" pitchFamily="34" charset="-120"/>
              </a:rPr>
              <a:t>Tap the invite link → badge number + name → Join.</a:t>
            </a:r>
            <a:endParaRPr lang="en-US" sz="1400" dirty="0"/>
          </a:p>
          <a:p>
            <a:pPr marL="177800" indent="-177800">
              <a:spcAft>
                <a:spcPts val="700"/>
              </a:spcAft>
              <a:buSzPct val="100000"/>
              <a:buChar char="•"/>
            </a:pPr>
            <a:r>
              <a:rPr lang="en-US" sz="1400" dirty="0">
                <a:solidFill>
                  <a:srgbClr val="1F2937"/>
                </a:solidFill>
                <a:latin typeface="Calibri" pitchFamily="34" charset="0"/>
                <a:ea typeface="Calibri" pitchFamily="34" charset="-122"/>
                <a:cs typeface="Calibri" pitchFamily="34" charset="-120"/>
              </a:rPr>
              <a:t>That badge signs you in from now on.</a:t>
            </a:r>
            <a:endParaRPr lang="en-US" sz="1400" dirty="0"/>
          </a:p>
          <a:p>
            <a:pPr marL="177800" indent="-177800">
              <a:spcAft>
                <a:spcPts val="700"/>
              </a:spcAft>
              <a:buSzPct val="100000"/>
              <a:buChar char="•"/>
            </a:pPr>
            <a:r>
              <a:rPr lang="en-US" sz="1400" dirty="0">
                <a:solidFill>
                  <a:srgbClr val="1F2937"/>
                </a:solidFill>
                <a:latin typeface="Calibri" pitchFamily="34" charset="0"/>
                <a:ea typeface="Calibri" pitchFamily="34" charset="-122"/>
                <a:cs typeface="Calibri" pitchFamily="34" charset="-120"/>
              </a:rPr>
              <a:t>English / Español / Kreyòl pills above the tabs.</a:t>
            </a:r>
            <a:endParaRPr lang="en-US" sz="1400" dirty="0"/>
          </a:p>
          <a:p>
            <a:pPr marL="177800" indent="-177800">
              <a:spcAft>
                <a:spcPts val="700"/>
              </a:spcAft>
              <a:buSzPct val="100000"/>
              <a:buChar char="•"/>
            </a:pPr>
            <a:r>
              <a:rPr lang="en-US" sz="1400" dirty="0">
                <a:solidFill>
                  <a:srgbClr val="1F2937"/>
                </a:solidFill>
                <a:latin typeface="Calibri" pitchFamily="34" charset="0"/>
                <a:ea typeface="Calibri" pitchFamily="34" charset="-122"/>
                <a:cs typeface="Calibri" pitchFamily="34" charset="-120"/>
              </a:rPr>
              <a:t>The problem text translates too.</a:t>
            </a:r>
            <a:endParaRPr lang="en-US" sz="1400" dirty="0"/>
          </a:p>
        </p:txBody>
      </p:sp>
      <p:sp>
        <p:nvSpPr>
          <p:cNvPr id="7" name="Shape 5"/>
          <p:cNvSpPr/>
          <p:nvPr/>
        </p:nvSpPr>
        <p:spPr>
          <a:xfrm>
            <a:off x="5065776" y="1408176"/>
            <a:ext cx="1609712" cy="3355848"/>
          </a:xfrm>
          <a:prstGeom prst="roundRect">
            <a:avLst>
              <a:gd name="adj" fmla="val 12497"/>
            </a:avLst>
          </a:prstGeom>
          <a:solidFill>
            <a:srgbClr val="1F2937"/>
          </a:solidFill>
          <a:ln w="12700">
            <a:solidFill>
              <a:srgbClr val="1F2937"/>
            </a:solidFill>
            <a:prstDash val="solid"/>
          </a:ln>
        </p:spPr>
      </p:sp>
      <p:pic>
        <p:nvPicPr>
          <p:cNvPr id="8" name="Image 0" descr="/home/user/Claude/docs/training/screens/16-crew-overview.png">    </p:cNvPr>
          <p:cNvPicPr>
            <a:picLocks noChangeAspect="1"/>
          </p:cNvPicPr>
          <p:nvPr/>
        </p:nvPicPr>
        <p:blipFill>
          <a:blip r:embed="rId1"/>
          <a:stretch>
            <a:fillRect/>
          </a:stretch>
        </p:blipFill>
        <p:spPr>
          <a:xfrm>
            <a:off x="5120640" y="1463040"/>
            <a:ext cx="1499984" cy="3246120"/>
          </a:xfrm>
          <a:prstGeom prst="rect">
            <a:avLst/>
          </a:prstGeom>
        </p:spPr>
      </p:pic>
      <p:sp>
        <p:nvSpPr>
          <p:cNvPr id="9" name="Shape 6"/>
          <p:cNvSpPr/>
          <p:nvPr/>
        </p:nvSpPr>
        <p:spPr>
          <a:xfrm>
            <a:off x="6885800" y="1408176"/>
            <a:ext cx="1609712" cy="3355848"/>
          </a:xfrm>
          <a:prstGeom prst="roundRect">
            <a:avLst>
              <a:gd name="adj" fmla="val 12497"/>
            </a:avLst>
          </a:prstGeom>
          <a:solidFill>
            <a:srgbClr val="1F2937"/>
          </a:solidFill>
          <a:ln w="12700">
            <a:solidFill>
              <a:srgbClr val="1F2937"/>
            </a:solidFill>
            <a:prstDash val="solid"/>
          </a:ln>
        </p:spPr>
      </p:sp>
      <p:pic>
        <p:nvPicPr>
          <p:cNvPr id="10" name="Image 1" descr="/home/user/Claude/docs/training/screens/26-maintenance-board.png">    </p:cNvPr>
          <p:cNvPicPr>
            <a:picLocks noChangeAspect="1"/>
          </p:cNvPicPr>
          <p:nvPr/>
        </p:nvPicPr>
        <p:blipFill>
          <a:blip r:embed="rId2"/>
          <a:stretch>
            <a:fillRect/>
          </a:stretch>
        </p:blipFill>
        <p:spPr>
          <a:xfrm>
            <a:off x="6940664" y="1463040"/>
            <a:ext cx="1499984" cy="3246120"/>
          </a:xfrm>
          <a:prstGeom prst="rect">
            <a:avLst/>
          </a:prstGeom>
        </p:spPr>
      </p:pic>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20040"/>
            <a:ext cx="1737360" cy="310896"/>
          </a:xfrm>
          <a:prstGeom prst="roundRect">
            <a:avLst>
              <a:gd name="adj" fmla="val 50000"/>
            </a:avLst>
          </a:prstGeom>
          <a:solidFill>
            <a:srgbClr val="2563EB"/>
          </a:solidFill>
          <a:ln w="12700">
            <a:solidFill>
              <a:srgbClr val="2563EB"/>
            </a:solidFill>
            <a:prstDash val="solid"/>
          </a:ln>
        </p:spPr>
      </p:sp>
      <p:sp>
        <p:nvSpPr>
          <p:cNvPr id="3" name="Text 1"/>
          <p:cNvSpPr/>
          <p:nvPr/>
        </p:nvSpPr>
        <p:spPr>
          <a:xfrm>
            <a:off x="457200" y="320040"/>
            <a:ext cx="1737360" cy="310896"/>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Arial" pitchFamily="34" charset="0"/>
                <a:ea typeface="Arial" pitchFamily="34" charset="-122"/>
                <a:cs typeface="Arial" pitchFamily="34" charset="-120"/>
              </a:rPr>
              <a:t>MAINTENANCE</a:t>
            </a:r>
            <a:endParaRPr lang="en-US" sz="1000" dirty="0"/>
          </a:p>
        </p:txBody>
      </p:sp>
      <p:sp>
        <p:nvSpPr>
          <p:cNvPr id="4" name="Text 2"/>
          <p:cNvSpPr/>
          <p:nvPr/>
        </p:nvSpPr>
        <p:spPr>
          <a:xfrm>
            <a:off x="457200" y="713232"/>
            <a:ext cx="8229600" cy="640080"/>
          </a:xfrm>
          <a:prstGeom prst="rect">
            <a:avLst/>
          </a:prstGeom>
          <a:noFill/>
          <a:ln/>
        </p:spPr>
        <p:txBody>
          <a:bodyPr wrap="square" lIns="0" tIns="0" rIns="0" bIns="0" rtlCol="0" anchor="t">
            <a:normAutofit/>
          </a:bodyPr>
          <a:lstStyle/>
          <a:p>
            <a:pPr indent="0" marL="0">
              <a:buNone/>
            </a:pPr>
            <a:r>
              <a:rPr lang="en-US" sz="2600" b="1" dirty="0">
                <a:solidFill>
                  <a:srgbClr val="0F1F3D"/>
                </a:solidFill>
                <a:latin typeface="Arial" pitchFamily="34" charset="0"/>
                <a:ea typeface="Arial" pitchFamily="34" charset="-122"/>
                <a:cs typeface="Arial" pitchFamily="34" charset="-120"/>
              </a:rPr>
              <a:t>The card: what, where, and the BEFORE photo</a:t>
            </a:r>
            <a:endParaRPr lang="en-US" sz="2600" dirty="0"/>
          </a:p>
        </p:txBody>
      </p:sp>
      <p:sp>
        <p:nvSpPr>
          <p:cNvPr id="5" name="Text 3"/>
          <p:cNvSpPr/>
          <p:nvPr/>
        </p:nvSpPr>
        <p:spPr>
          <a:xfrm>
            <a:off x="457200" y="4754880"/>
            <a:ext cx="5486400" cy="228600"/>
          </a:xfrm>
          <a:prstGeom prst="rect">
            <a:avLst/>
          </a:prstGeom>
          <a:noFill/>
          <a:ln/>
        </p:spPr>
        <p:txBody>
          <a:bodyPr wrap="square" lIns="0" tIns="0" rIns="0" bIns="0" rtlCol="0" anchor="ctr"/>
          <a:lstStyle/>
          <a:p>
            <a:pPr indent="0" marL="0">
              <a:buNone/>
            </a:pPr>
            <a:r>
              <a:rPr lang="en-US" sz="900" dirty="0">
                <a:solidFill>
                  <a:srgbClr val="6B7280"/>
                </a:solidFill>
                <a:latin typeface="Calibri" pitchFamily="34" charset="0"/>
                <a:ea typeface="Calibri" pitchFamily="34" charset="-122"/>
                <a:cs typeface="Calibri" pitchFamily="34" charset="-120"/>
              </a:rPr>
              <a:t>SDX Inspect · Maintenance · 26</a:t>
            </a:r>
            <a:endParaRPr lang="en-US" sz="900" dirty="0"/>
          </a:p>
        </p:txBody>
      </p:sp>
      <p:sp>
        <p:nvSpPr>
          <p:cNvPr id="6" name="Text 4"/>
          <p:cNvSpPr/>
          <p:nvPr/>
        </p:nvSpPr>
        <p:spPr>
          <a:xfrm>
            <a:off x="457200" y="1508760"/>
            <a:ext cx="4114800" cy="3108960"/>
          </a:xfrm>
          <a:prstGeom prst="rect">
            <a:avLst/>
          </a:prstGeom>
          <a:noFill/>
          <a:ln/>
        </p:spPr>
        <p:txBody>
          <a:bodyPr wrap="square" lIns="0" tIns="0" rIns="0" bIns="0" rtlCol="0" anchor="t">
            <a:normAutofit/>
          </a:bodyPr>
          <a:lstStyle/>
          <a:p>
            <a:pPr marL="177800" indent="-177800">
              <a:spcAft>
                <a:spcPts val="700"/>
              </a:spcAft>
              <a:buSzPct val="100000"/>
              <a:buChar char="•"/>
            </a:pPr>
            <a:r>
              <a:rPr lang="en-US" sz="1400" dirty="0">
                <a:solidFill>
                  <a:srgbClr val="1F2937"/>
                </a:solidFill>
                <a:latin typeface="Calibri" pitchFamily="34" charset="0"/>
                <a:ea typeface="Calibri" pitchFamily="34" charset="-122"/>
                <a:cs typeface="Calibri" pitchFamily="34" charset="-120"/>
              </a:rPr>
              <a:t>Stand + unit + type · the problem · flagged when · days open · who reported.</a:t>
            </a:r>
            <a:endParaRPr lang="en-US" sz="1400" dirty="0"/>
          </a:p>
          <a:p>
            <a:pPr marL="177800" indent="-177800">
              <a:spcAft>
                <a:spcPts val="700"/>
              </a:spcAft>
              <a:buSzPct val="100000"/>
              <a:buChar char="•"/>
            </a:pPr>
            <a:r>
              <a:rPr lang="en-US" sz="1400" dirty="0">
                <a:solidFill>
                  <a:srgbClr val="1F2937"/>
                </a:solidFill>
                <a:latin typeface="Calibri" pitchFamily="34" charset="0"/>
                <a:ea typeface="Calibri" pitchFamily="34" charset="-122"/>
                <a:cs typeface="Calibri" pitchFamily="34" charset="-120"/>
              </a:rPr>
              <a:t>🔴 BEFORE photos from the report.</a:t>
            </a:r>
            <a:endParaRPr lang="en-US" sz="1400" dirty="0"/>
          </a:p>
          <a:p>
            <a:pPr marL="177800" indent="-177800">
              <a:spcAft>
                <a:spcPts val="700"/>
              </a:spcAft>
              <a:buSzPct val="100000"/>
              <a:buChar char="•"/>
            </a:pPr>
            <a:r>
              <a:rPr lang="en-US" sz="1400" dirty="0">
                <a:solidFill>
                  <a:srgbClr val="1F2937"/>
                </a:solidFill>
                <a:latin typeface="Calibri" pitchFamily="34" charset="0"/>
                <a:ea typeface="Calibri" pitchFamily="34" charset="-122"/>
                <a:cs typeface="Calibri" pitchFamily="34" charset="-120"/>
              </a:rPr>
              <a:t>🔧 In process starts the clock → 📨 Send.</a:t>
            </a:r>
            <a:endParaRPr lang="en-US" sz="1400" dirty="0"/>
          </a:p>
          <a:p>
            <a:pPr marL="177800" indent="-177800">
              <a:spcAft>
                <a:spcPts val="700"/>
              </a:spcAft>
              <a:buSzPct val="100000"/>
              <a:buChar char="•"/>
            </a:pPr>
            <a:r>
              <a:rPr lang="en-US" sz="1400" dirty="0">
                <a:solidFill>
                  <a:srgbClr val="1F2937"/>
                </a:solidFill>
                <a:latin typeface="Calibri" pitchFamily="34" charset="0"/>
                <a:ea typeface="Calibri" pitchFamily="34" charset="-122"/>
                <a:cs typeface="Calibri" pitchFamily="34" charset="-120"/>
              </a:rPr>
              <a:t>⏳ Waiting on… part, vendor, empty stand.</a:t>
            </a:r>
            <a:endParaRPr lang="en-US" sz="1400" dirty="0"/>
          </a:p>
        </p:txBody>
      </p:sp>
      <p:sp>
        <p:nvSpPr>
          <p:cNvPr id="7" name="Shape 5"/>
          <p:cNvSpPr/>
          <p:nvPr/>
        </p:nvSpPr>
        <p:spPr>
          <a:xfrm>
            <a:off x="5065776" y="1408176"/>
            <a:ext cx="1609712" cy="3355848"/>
          </a:xfrm>
          <a:prstGeom prst="roundRect">
            <a:avLst>
              <a:gd name="adj" fmla="val 12497"/>
            </a:avLst>
          </a:prstGeom>
          <a:solidFill>
            <a:srgbClr val="1F2937"/>
          </a:solidFill>
          <a:ln w="12700">
            <a:solidFill>
              <a:srgbClr val="1F2937"/>
            </a:solidFill>
            <a:prstDash val="solid"/>
          </a:ln>
        </p:spPr>
      </p:sp>
      <p:pic>
        <p:nvPicPr>
          <p:cNvPr id="8" name="Image 0" descr="/home/user/Claude/docs/training/screens/27-maintenance-card-before-photo.png">    </p:cNvPr>
          <p:cNvPicPr>
            <a:picLocks noChangeAspect="1"/>
          </p:cNvPicPr>
          <p:nvPr/>
        </p:nvPicPr>
        <p:blipFill>
          <a:blip r:embed="rId1"/>
          <a:stretch>
            <a:fillRect/>
          </a:stretch>
        </p:blipFill>
        <p:spPr>
          <a:xfrm>
            <a:off x="5120640" y="1463040"/>
            <a:ext cx="1499984" cy="3246120"/>
          </a:xfrm>
          <a:prstGeom prst="rect">
            <a:avLst/>
          </a:prstGeom>
        </p:spPr>
      </p:pic>
      <p:sp>
        <p:nvSpPr>
          <p:cNvPr id="9" name="Shape 6"/>
          <p:cNvSpPr/>
          <p:nvPr/>
        </p:nvSpPr>
        <p:spPr>
          <a:xfrm>
            <a:off x="6885800" y="1408176"/>
            <a:ext cx="1609712" cy="3355848"/>
          </a:xfrm>
          <a:prstGeom prst="roundRect">
            <a:avLst>
              <a:gd name="adj" fmla="val 12497"/>
            </a:avLst>
          </a:prstGeom>
          <a:solidFill>
            <a:srgbClr val="1F2937"/>
          </a:solidFill>
          <a:ln w="12700">
            <a:solidFill>
              <a:srgbClr val="1F2937"/>
            </a:solidFill>
            <a:prstDash val="solid"/>
          </a:ln>
        </p:spPr>
      </p:sp>
      <p:pic>
        <p:nvPicPr>
          <p:cNvPr id="10" name="Image 1" descr="/home/user/Claude/docs/training/screens/28-maintenance-card-in-process.png">    </p:cNvPr>
          <p:cNvPicPr>
            <a:picLocks noChangeAspect="1"/>
          </p:cNvPicPr>
          <p:nvPr/>
        </p:nvPicPr>
        <p:blipFill>
          <a:blip r:embed="rId2"/>
          <a:stretch>
            <a:fillRect/>
          </a:stretch>
        </p:blipFill>
        <p:spPr>
          <a:xfrm>
            <a:off x="6940664" y="1463040"/>
            <a:ext cx="1499984" cy="3246120"/>
          </a:xfrm>
          <a:prstGeom prst="rect">
            <a:avLst/>
          </a:prstGeom>
        </p:spPr>
      </p:pic>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20040"/>
            <a:ext cx="1737360" cy="310896"/>
          </a:xfrm>
          <a:prstGeom prst="roundRect">
            <a:avLst>
              <a:gd name="adj" fmla="val 50000"/>
            </a:avLst>
          </a:prstGeom>
          <a:solidFill>
            <a:srgbClr val="2563EB"/>
          </a:solidFill>
          <a:ln w="12700">
            <a:solidFill>
              <a:srgbClr val="2563EB"/>
            </a:solidFill>
            <a:prstDash val="solid"/>
          </a:ln>
        </p:spPr>
      </p:sp>
      <p:sp>
        <p:nvSpPr>
          <p:cNvPr id="3" name="Text 1"/>
          <p:cNvSpPr/>
          <p:nvPr/>
        </p:nvSpPr>
        <p:spPr>
          <a:xfrm>
            <a:off x="457200" y="320040"/>
            <a:ext cx="1737360" cy="310896"/>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Arial" pitchFamily="34" charset="0"/>
                <a:ea typeface="Arial" pitchFamily="34" charset="-122"/>
                <a:cs typeface="Arial" pitchFamily="34" charset="-120"/>
              </a:rPr>
              <a:t>MAINTENANCE</a:t>
            </a:r>
            <a:endParaRPr lang="en-US" sz="1000" dirty="0"/>
          </a:p>
        </p:txBody>
      </p:sp>
      <p:sp>
        <p:nvSpPr>
          <p:cNvPr id="4" name="Text 2"/>
          <p:cNvSpPr/>
          <p:nvPr/>
        </p:nvSpPr>
        <p:spPr>
          <a:xfrm>
            <a:off x="457200" y="713232"/>
            <a:ext cx="8229600" cy="640080"/>
          </a:xfrm>
          <a:prstGeom prst="rect">
            <a:avLst/>
          </a:prstGeom>
          <a:noFill/>
          <a:ln/>
        </p:spPr>
        <p:txBody>
          <a:bodyPr wrap="square" lIns="0" tIns="0" rIns="0" bIns="0" rtlCol="0" anchor="t">
            <a:normAutofit/>
          </a:bodyPr>
          <a:lstStyle/>
          <a:p>
            <a:pPr indent="0" marL="0">
              <a:buNone/>
            </a:pPr>
            <a:r>
              <a:rPr lang="en-US" sz="2600" b="1" dirty="0">
                <a:solidFill>
                  <a:srgbClr val="0F1F3D"/>
                </a:solidFill>
                <a:latin typeface="Arial" pitchFamily="34" charset="0"/>
                <a:ea typeface="Arial" pitchFamily="34" charset="-122"/>
                <a:cs typeface="Arial" pitchFamily="34" charset="-120"/>
              </a:rPr>
              <a:t>AFTER photo, then ✅ Fixed</a:t>
            </a:r>
            <a:endParaRPr lang="en-US" sz="2600" dirty="0"/>
          </a:p>
        </p:txBody>
      </p:sp>
      <p:sp>
        <p:nvSpPr>
          <p:cNvPr id="5" name="Text 3"/>
          <p:cNvSpPr/>
          <p:nvPr/>
        </p:nvSpPr>
        <p:spPr>
          <a:xfrm>
            <a:off x="457200" y="4754880"/>
            <a:ext cx="5486400" cy="228600"/>
          </a:xfrm>
          <a:prstGeom prst="rect">
            <a:avLst/>
          </a:prstGeom>
          <a:noFill/>
          <a:ln/>
        </p:spPr>
        <p:txBody>
          <a:bodyPr wrap="square" lIns="0" tIns="0" rIns="0" bIns="0" rtlCol="0" anchor="ctr"/>
          <a:lstStyle/>
          <a:p>
            <a:pPr indent="0" marL="0">
              <a:buNone/>
            </a:pPr>
            <a:r>
              <a:rPr lang="en-US" sz="900" dirty="0">
                <a:solidFill>
                  <a:srgbClr val="6B7280"/>
                </a:solidFill>
                <a:latin typeface="Calibri" pitchFamily="34" charset="0"/>
                <a:ea typeface="Calibri" pitchFamily="34" charset="-122"/>
                <a:cs typeface="Calibri" pitchFamily="34" charset="-120"/>
              </a:rPr>
              <a:t>SDX Inspect · Maintenance · 27</a:t>
            </a:r>
            <a:endParaRPr lang="en-US" sz="900" dirty="0"/>
          </a:p>
        </p:txBody>
      </p:sp>
      <p:sp>
        <p:nvSpPr>
          <p:cNvPr id="6" name="Text 4"/>
          <p:cNvSpPr/>
          <p:nvPr/>
        </p:nvSpPr>
        <p:spPr>
          <a:xfrm>
            <a:off x="457200" y="1508760"/>
            <a:ext cx="4114800" cy="3108960"/>
          </a:xfrm>
          <a:prstGeom prst="rect">
            <a:avLst/>
          </a:prstGeom>
          <a:noFill/>
          <a:ln/>
        </p:spPr>
        <p:txBody>
          <a:bodyPr wrap="square" lIns="0" tIns="0" rIns="0" bIns="0" rtlCol="0" anchor="t">
            <a:normAutofit/>
          </a:bodyPr>
          <a:lstStyle/>
          <a:p>
            <a:pPr marL="177800" indent="-177800">
              <a:spcAft>
                <a:spcPts val="700"/>
              </a:spcAft>
              <a:buSzPct val="100000"/>
              <a:buChar char="•"/>
            </a:pPr>
            <a:r>
              <a:rPr lang="en-US" sz="1400" dirty="0">
                <a:solidFill>
                  <a:srgbClr val="1F2937"/>
                </a:solidFill>
                <a:latin typeface="Calibri" pitchFamily="34" charset="0"/>
                <a:ea typeface="Calibri" pitchFamily="34" charset="-122"/>
                <a:cs typeface="Calibri" pitchFamily="34" charset="-120"/>
              </a:rPr>
              <a:t>📷 Take photo or 🖼 Upload the AFTER photo — required.</a:t>
            </a:r>
            <a:endParaRPr lang="en-US" sz="1400" dirty="0"/>
          </a:p>
          <a:p>
            <a:pPr marL="177800" indent="-177800">
              <a:spcAft>
                <a:spcPts val="700"/>
              </a:spcAft>
              <a:buSzPct val="100000"/>
              <a:buChar char="•"/>
            </a:pPr>
            <a:r>
              <a:rPr lang="en-US" sz="1400" dirty="0">
                <a:solidFill>
                  <a:srgbClr val="1F2937"/>
                </a:solidFill>
                <a:latin typeface="Calibri" pitchFamily="34" charset="0"/>
                <a:ea typeface="Calibri" pitchFamily="34" charset="-122"/>
                <a:cs typeface="Calibri" pitchFamily="34" charset="-120"/>
              </a:rPr>
              <a:t>One line: "replaced the cartridge, tested, no leak".</a:t>
            </a:r>
            <a:endParaRPr lang="en-US" sz="1400" dirty="0"/>
          </a:p>
          <a:p>
            <a:pPr marL="177800" indent="-177800">
              <a:spcAft>
                <a:spcPts val="700"/>
              </a:spcAft>
              <a:buSzPct val="100000"/>
              <a:buChar char="•"/>
            </a:pPr>
            <a:r>
              <a:rPr lang="en-US" sz="1400" dirty="0">
                <a:solidFill>
                  <a:srgbClr val="1F2937"/>
                </a:solidFill>
                <a:latin typeface="Calibri" pitchFamily="34" charset="0"/>
                <a:ea typeface="Calibri" pitchFamily="34" charset="-122"/>
                <a:cs typeface="Calibri" pitchFamily="34" charset="-120"/>
              </a:rPr>
              <a:t>Send → minutes on the job are recorded, card leaves your list.</a:t>
            </a:r>
            <a:endParaRPr lang="en-US" sz="1400" dirty="0"/>
          </a:p>
          <a:p>
            <a:pPr marL="177800" indent="-177800">
              <a:spcAft>
                <a:spcPts val="700"/>
              </a:spcAft>
              <a:buSzPct val="100000"/>
              <a:buChar char="•"/>
            </a:pPr>
            <a:r>
              <a:rPr lang="en-US" sz="1400" dirty="0">
                <a:solidFill>
                  <a:srgbClr val="1F2937"/>
                </a:solidFill>
                <a:latin typeface="Calibri" pitchFamily="34" charset="0"/>
                <a:ea typeface="Calibri" pitchFamily="34" charset="-122"/>
                <a:cs typeface="Calibri" pitchFamily="34" charset="-120"/>
              </a:rPr>
              <a:t>The inspector gets the alert with your photo.</a:t>
            </a:r>
            <a:endParaRPr lang="en-US" sz="1400" dirty="0"/>
          </a:p>
        </p:txBody>
      </p:sp>
      <p:sp>
        <p:nvSpPr>
          <p:cNvPr id="7" name="Shape 5"/>
          <p:cNvSpPr/>
          <p:nvPr/>
        </p:nvSpPr>
        <p:spPr>
          <a:xfrm>
            <a:off x="5065776" y="1408176"/>
            <a:ext cx="1609712" cy="3355848"/>
          </a:xfrm>
          <a:prstGeom prst="roundRect">
            <a:avLst>
              <a:gd name="adj" fmla="val 12497"/>
            </a:avLst>
          </a:prstGeom>
          <a:solidFill>
            <a:srgbClr val="1F2937"/>
          </a:solidFill>
          <a:ln w="12700">
            <a:solidFill>
              <a:srgbClr val="1F2937"/>
            </a:solidFill>
            <a:prstDash val="solid"/>
          </a:ln>
        </p:spPr>
      </p:sp>
      <p:pic>
        <p:nvPicPr>
          <p:cNvPr id="8" name="Image 0" descr="/home/user/Claude/docs/training/screens/29-maintenance-card-after-photo-fixed.png">    </p:cNvPr>
          <p:cNvPicPr>
            <a:picLocks noChangeAspect="1"/>
          </p:cNvPicPr>
          <p:nvPr/>
        </p:nvPicPr>
        <p:blipFill>
          <a:blip r:embed="rId1"/>
          <a:stretch>
            <a:fillRect/>
          </a:stretch>
        </p:blipFill>
        <p:spPr>
          <a:xfrm>
            <a:off x="5120640" y="1463040"/>
            <a:ext cx="1499984" cy="3246120"/>
          </a:xfrm>
          <a:prstGeom prst="rect">
            <a:avLst/>
          </a:prstGeom>
        </p:spPr>
      </p:pic>
      <p:sp>
        <p:nvSpPr>
          <p:cNvPr id="9" name="Shape 6"/>
          <p:cNvSpPr/>
          <p:nvPr/>
        </p:nvSpPr>
        <p:spPr>
          <a:xfrm>
            <a:off x="6885800" y="1408176"/>
            <a:ext cx="1609712" cy="3355848"/>
          </a:xfrm>
          <a:prstGeom prst="roundRect">
            <a:avLst>
              <a:gd name="adj" fmla="val 12497"/>
            </a:avLst>
          </a:prstGeom>
          <a:solidFill>
            <a:srgbClr val="1F2937"/>
          </a:solidFill>
          <a:ln w="12700">
            <a:solidFill>
              <a:srgbClr val="1F2937"/>
            </a:solidFill>
            <a:prstDash val="solid"/>
          </a:ln>
        </p:spPr>
      </p:sp>
      <p:pic>
        <p:nvPicPr>
          <p:cNvPr id="10" name="Image 1" descr="/home/user/Claude/docs/training/screens/30-maintenance-card-done.png">    </p:cNvPr>
          <p:cNvPicPr>
            <a:picLocks noChangeAspect="1"/>
          </p:cNvPicPr>
          <p:nvPr/>
        </p:nvPicPr>
        <p:blipFill>
          <a:blip r:embed="rId2"/>
          <a:stretch>
            <a:fillRect/>
          </a:stretch>
        </p:blipFill>
        <p:spPr>
          <a:xfrm>
            <a:off x="6940664" y="1463040"/>
            <a:ext cx="1499984" cy="3246120"/>
          </a:xfrm>
          <a:prstGeom prst="rect">
            <a:avLst/>
          </a:prstGeom>
        </p:spPr>
      </p:pic>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20040"/>
            <a:ext cx="1737360" cy="310896"/>
          </a:xfrm>
          <a:prstGeom prst="roundRect">
            <a:avLst>
              <a:gd name="adj" fmla="val 50000"/>
            </a:avLst>
          </a:prstGeom>
          <a:solidFill>
            <a:srgbClr val="2563EB"/>
          </a:solidFill>
          <a:ln w="12700">
            <a:solidFill>
              <a:srgbClr val="2563EB"/>
            </a:solidFill>
            <a:prstDash val="solid"/>
          </a:ln>
        </p:spPr>
      </p:sp>
      <p:sp>
        <p:nvSpPr>
          <p:cNvPr id="3" name="Text 1"/>
          <p:cNvSpPr/>
          <p:nvPr/>
        </p:nvSpPr>
        <p:spPr>
          <a:xfrm>
            <a:off x="457200" y="320040"/>
            <a:ext cx="1737360" cy="310896"/>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Arial" pitchFamily="34" charset="0"/>
                <a:ea typeface="Arial" pitchFamily="34" charset="-122"/>
                <a:cs typeface="Arial" pitchFamily="34" charset="-120"/>
              </a:rPr>
              <a:t>MAINTENANCE</a:t>
            </a:r>
            <a:endParaRPr lang="en-US" sz="1000" dirty="0"/>
          </a:p>
        </p:txBody>
      </p:sp>
      <p:sp>
        <p:nvSpPr>
          <p:cNvPr id="4" name="Text 2"/>
          <p:cNvSpPr/>
          <p:nvPr/>
        </p:nvSpPr>
        <p:spPr>
          <a:xfrm>
            <a:off x="457200" y="713232"/>
            <a:ext cx="8229600" cy="640080"/>
          </a:xfrm>
          <a:prstGeom prst="rect">
            <a:avLst/>
          </a:prstGeom>
          <a:noFill/>
          <a:ln/>
        </p:spPr>
        <p:txBody>
          <a:bodyPr wrap="square" lIns="0" tIns="0" rIns="0" bIns="0" rtlCol="0" anchor="t">
            <a:normAutofit/>
          </a:bodyPr>
          <a:lstStyle/>
          <a:p>
            <a:pPr indent="0" marL="0">
              <a:buNone/>
            </a:pPr>
            <a:r>
              <a:rPr lang="en-US" sz="2600" b="1" dirty="0">
                <a:solidFill>
                  <a:srgbClr val="0F1F3D"/>
                </a:solidFill>
                <a:latin typeface="Arial" pitchFamily="34" charset="0"/>
                <a:ea typeface="Arial" pitchFamily="34" charset="-122"/>
                <a:cs typeface="Arial" pitchFamily="34" charset="-120"/>
              </a:rPr>
              <a:t>Not yours? Move it</a:t>
            </a:r>
            <a:endParaRPr lang="en-US" sz="2600" dirty="0"/>
          </a:p>
        </p:txBody>
      </p:sp>
      <p:sp>
        <p:nvSpPr>
          <p:cNvPr id="5" name="Text 3"/>
          <p:cNvSpPr/>
          <p:nvPr/>
        </p:nvSpPr>
        <p:spPr>
          <a:xfrm>
            <a:off x="457200" y="4754880"/>
            <a:ext cx="5486400" cy="228600"/>
          </a:xfrm>
          <a:prstGeom prst="rect">
            <a:avLst/>
          </a:prstGeom>
          <a:noFill/>
          <a:ln/>
        </p:spPr>
        <p:txBody>
          <a:bodyPr wrap="square" lIns="0" tIns="0" rIns="0" bIns="0" rtlCol="0" anchor="ctr"/>
          <a:lstStyle/>
          <a:p>
            <a:pPr indent="0" marL="0">
              <a:buNone/>
            </a:pPr>
            <a:r>
              <a:rPr lang="en-US" sz="900" dirty="0">
                <a:solidFill>
                  <a:srgbClr val="6B7280"/>
                </a:solidFill>
                <a:latin typeface="Calibri" pitchFamily="34" charset="0"/>
                <a:ea typeface="Calibri" pitchFamily="34" charset="-122"/>
                <a:cs typeface="Calibri" pitchFamily="34" charset="-120"/>
              </a:rPr>
              <a:t>SDX Inspect · Maintenance · 28</a:t>
            </a:r>
            <a:endParaRPr lang="en-US" sz="900" dirty="0"/>
          </a:p>
        </p:txBody>
      </p:sp>
      <p:sp>
        <p:nvSpPr>
          <p:cNvPr id="6" name="Text 4"/>
          <p:cNvSpPr/>
          <p:nvPr/>
        </p:nvSpPr>
        <p:spPr>
          <a:xfrm>
            <a:off x="457200" y="1508760"/>
            <a:ext cx="4114800" cy="3108960"/>
          </a:xfrm>
          <a:prstGeom prst="rect">
            <a:avLst/>
          </a:prstGeom>
          <a:noFill/>
          <a:ln/>
        </p:spPr>
        <p:txBody>
          <a:bodyPr wrap="square" lIns="0" tIns="0" rIns="0" bIns="0" rtlCol="0" anchor="t">
            <a:normAutofit/>
          </a:bodyPr>
          <a:lstStyle/>
          <a:p>
            <a:pPr marL="177800" indent="-177800">
              <a:spcAft>
                <a:spcPts val="700"/>
              </a:spcAft>
              <a:buSzPct val="100000"/>
              <a:buChar char="•"/>
            </a:pPr>
            <a:r>
              <a:rPr lang="en-US" sz="1400" dirty="0">
                <a:solidFill>
                  <a:srgbClr val="1F2937"/>
                </a:solidFill>
                <a:latin typeface="Calibri" pitchFamily="34" charset="0"/>
                <a:ea typeface="Calibri" pitchFamily="34" charset="-122"/>
                <a:cs typeface="Calibri" pitchFamily="34" charset="-120"/>
              </a:rPr>
              <a:t>Pest, cleaning or Ecolab job on your board?</a:t>
            </a:r>
            <a:endParaRPr lang="en-US" sz="1400" dirty="0"/>
          </a:p>
          <a:p>
            <a:pPr marL="177800" indent="-177800">
              <a:spcAft>
                <a:spcPts val="700"/>
              </a:spcAft>
              <a:buSzPct val="100000"/>
              <a:buChar char="•"/>
            </a:pPr>
            <a:r>
              <a:rPr lang="en-US" sz="1400" dirty="0">
                <a:solidFill>
                  <a:srgbClr val="1F2937"/>
                </a:solidFill>
                <a:latin typeface="Calibri" pitchFamily="34" charset="0"/>
                <a:ea typeface="Calibri" pitchFamily="34" charset="-122"/>
                <a:cs typeface="Calibri" pitchFamily="34" charset="-120"/>
              </a:rPr>
              <a:t>Not mine → move → pick who it belongs to.</a:t>
            </a:r>
            <a:endParaRPr lang="en-US" sz="1400" dirty="0"/>
          </a:p>
          <a:p>
            <a:pPr marL="177800" indent="-177800">
              <a:spcAft>
                <a:spcPts val="700"/>
              </a:spcAft>
              <a:buSzPct val="100000"/>
              <a:buChar char="•"/>
            </a:pPr>
            <a:r>
              <a:rPr lang="en-US" sz="1400" dirty="0">
                <a:solidFill>
                  <a:srgbClr val="1F2937"/>
                </a:solidFill>
                <a:latin typeface="Calibri" pitchFamily="34" charset="0"/>
                <a:ea typeface="Calibri" pitchFamily="34" charset="-122"/>
                <a:cs typeface="Calibri" pitchFamily="34" charset="-120"/>
              </a:rPr>
              <a:t>It leaves your board; the inspector is told.</a:t>
            </a:r>
            <a:endParaRPr lang="en-US" sz="1400" dirty="0"/>
          </a:p>
          <a:p>
            <a:pPr marL="177800" indent="-177800">
              <a:spcAft>
                <a:spcPts val="700"/>
              </a:spcAft>
              <a:buSzPct val="100000"/>
              <a:buChar char="•"/>
            </a:pPr>
            <a:r>
              <a:rPr lang="en-US" sz="1400" dirty="0">
                <a:solidFill>
                  <a:srgbClr val="1F2937"/>
                </a:solidFill>
                <a:latin typeface="Calibri" pitchFamily="34" charset="0"/>
                <a:ea typeface="Calibri" pitchFamily="34" charset="-122"/>
                <a:cs typeface="Calibri" pitchFamily="34" charset="-120"/>
              </a:rPr>
              <a:t>📄 Reports tab: the full inspection behind each card, 60 days.</a:t>
            </a:r>
            <a:endParaRPr lang="en-US" sz="1400" dirty="0"/>
          </a:p>
        </p:txBody>
      </p:sp>
      <p:sp>
        <p:nvSpPr>
          <p:cNvPr id="7" name="Shape 5"/>
          <p:cNvSpPr/>
          <p:nvPr/>
        </p:nvSpPr>
        <p:spPr>
          <a:xfrm>
            <a:off x="5065776" y="1408176"/>
            <a:ext cx="1609712" cy="3355848"/>
          </a:xfrm>
          <a:prstGeom prst="roundRect">
            <a:avLst>
              <a:gd name="adj" fmla="val 12497"/>
            </a:avLst>
          </a:prstGeom>
          <a:solidFill>
            <a:srgbClr val="1F2937"/>
          </a:solidFill>
          <a:ln w="12700">
            <a:solidFill>
              <a:srgbClr val="1F2937"/>
            </a:solidFill>
            <a:prstDash val="solid"/>
          </a:ln>
        </p:spPr>
      </p:sp>
      <p:pic>
        <p:nvPicPr>
          <p:cNvPr id="8" name="Image 0" descr="/home/user/Claude/docs/training/screens/32-not-mine-move.png">    </p:cNvPr>
          <p:cNvPicPr>
            <a:picLocks noChangeAspect="1"/>
          </p:cNvPicPr>
          <p:nvPr/>
        </p:nvPicPr>
        <p:blipFill>
          <a:blip r:embed="rId1"/>
          <a:stretch>
            <a:fillRect/>
          </a:stretch>
        </p:blipFill>
        <p:spPr>
          <a:xfrm>
            <a:off x="5120640" y="1463040"/>
            <a:ext cx="1499984" cy="3246120"/>
          </a:xfrm>
          <a:prstGeom prst="rect">
            <a:avLst/>
          </a:prstGeom>
        </p:spPr>
      </p:pic>
      <p:sp>
        <p:nvSpPr>
          <p:cNvPr id="9" name="Shape 6"/>
          <p:cNvSpPr/>
          <p:nvPr/>
        </p:nvSpPr>
        <p:spPr>
          <a:xfrm>
            <a:off x="6885800" y="1408176"/>
            <a:ext cx="1609712" cy="3355848"/>
          </a:xfrm>
          <a:prstGeom prst="roundRect">
            <a:avLst>
              <a:gd name="adj" fmla="val 12497"/>
            </a:avLst>
          </a:prstGeom>
          <a:solidFill>
            <a:srgbClr val="1F2937"/>
          </a:solidFill>
          <a:ln w="12700">
            <a:solidFill>
              <a:srgbClr val="1F2937"/>
            </a:solidFill>
            <a:prstDash val="solid"/>
          </a:ln>
        </p:spPr>
      </p:sp>
      <p:pic>
        <p:nvPicPr>
          <p:cNvPr id="10" name="Image 1" descr="/home/user/Claude/docs/training/screens/31-maintenance-by-problem.png">    </p:cNvPr>
          <p:cNvPicPr>
            <a:picLocks noChangeAspect="1"/>
          </p:cNvPicPr>
          <p:nvPr/>
        </p:nvPicPr>
        <p:blipFill>
          <a:blip r:embed="rId2"/>
          <a:stretch>
            <a:fillRect/>
          </a:stretch>
        </p:blipFill>
        <p:spPr>
          <a:xfrm>
            <a:off x="6940664" y="1463040"/>
            <a:ext cx="1499984" cy="3246120"/>
          </a:xfrm>
          <a:prstGeom prst="rect">
            <a:avLst/>
          </a:prstGeom>
        </p:spPr>
      </p:pic>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0F1F3D"/>
        </a:solidFill>
      </p:bgPr>
    </p:bg>
    <p:spTree>
      <p:nvGrpSpPr>
        <p:cNvPr id="1" name=""/>
        <p:cNvGrpSpPr/>
        <p:nvPr/>
      </p:nvGrpSpPr>
      <p:grpSpPr>
        <a:xfrm>
          <a:off x="0" y="0"/>
          <a:ext cx="0" cy="0"/>
          <a:chOff x="0" y="0"/>
          <a:chExt cx="0" cy="0"/>
        </a:xfrm>
      </p:grpSpPr>
      <p:sp>
        <p:nvSpPr>
          <p:cNvPr id="2" name="Shape 0"/>
          <p:cNvSpPr/>
          <p:nvPr/>
        </p:nvSpPr>
        <p:spPr>
          <a:xfrm>
            <a:off x="640080" y="1463040"/>
            <a:ext cx="2011680" cy="365760"/>
          </a:xfrm>
          <a:prstGeom prst="roundRect">
            <a:avLst>
              <a:gd name="adj" fmla="val 50000"/>
            </a:avLst>
          </a:prstGeom>
          <a:solidFill>
            <a:srgbClr val="15803D"/>
          </a:solidFill>
          <a:ln w="12700">
            <a:solidFill>
              <a:srgbClr val="15803D"/>
            </a:solidFill>
            <a:prstDash val="solid"/>
          </a:ln>
        </p:spPr>
      </p:sp>
      <p:sp>
        <p:nvSpPr>
          <p:cNvPr id="3" name="Text 1"/>
          <p:cNvSpPr/>
          <p:nvPr/>
        </p:nvSpPr>
        <p:spPr>
          <a:xfrm>
            <a:off x="640080" y="1463040"/>
            <a:ext cx="2011680" cy="365760"/>
          </a:xfrm>
          <a:prstGeom prst="rect">
            <a:avLst/>
          </a:prstGeom>
          <a:noFill/>
          <a:ln/>
        </p:spPr>
        <p:txBody>
          <a:bodyPr wrap="square" lIns="0" tIns="0" rIns="0" bIns="0" rtlCol="0" anchor="ctr"/>
          <a:lstStyle/>
          <a:p>
            <a:pPr algn="ctr" indent="0" marL="0">
              <a:buNone/>
            </a:pPr>
            <a:r>
              <a:rPr lang="en-US" sz="1200" b="1" spc="100" kern="0" dirty="0">
                <a:solidFill>
                  <a:srgbClr val="FFFFFF"/>
                </a:solidFill>
                <a:latin typeface="Arial" pitchFamily="34" charset="0"/>
                <a:ea typeface="Arial" pitchFamily="34" charset="-122"/>
                <a:cs typeface="Arial" pitchFamily="34" charset="-120"/>
              </a:rPr>
              <a:t>CLEANING</a:t>
            </a:r>
            <a:endParaRPr lang="en-US" sz="1200" dirty="0"/>
          </a:p>
        </p:txBody>
      </p:sp>
      <p:sp>
        <p:nvSpPr>
          <p:cNvPr id="4" name="Text 2"/>
          <p:cNvSpPr/>
          <p:nvPr/>
        </p:nvSpPr>
        <p:spPr>
          <a:xfrm>
            <a:off x="640080" y="1965960"/>
            <a:ext cx="7863840" cy="914400"/>
          </a:xfrm>
          <a:prstGeom prst="rect">
            <a:avLst/>
          </a:prstGeom>
          <a:noFill/>
          <a:ln/>
        </p:spPr>
        <p:txBody>
          <a:bodyPr wrap="square" lIns="0" tIns="0" rIns="0" bIns="0" rtlCol="0" anchor="t">
            <a:normAutofit/>
          </a:bodyPr>
          <a:lstStyle/>
          <a:p>
            <a:pPr indent="0" marL="0">
              <a:buNone/>
            </a:pPr>
            <a:r>
              <a:rPr lang="en-US" sz="3400" b="1" dirty="0">
                <a:solidFill>
                  <a:srgbClr val="FFFFFF"/>
                </a:solidFill>
                <a:latin typeface="Arial" pitchFamily="34" charset="0"/>
                <a:ea typeface="Arial" pitchFamily="34" charset="-122"/>
                <a:cs typeface="Arial" pitchFamily="34" charset="-120"/>
              </a:rPr>
              <a:t>Same board, plus who pays</a:t>
            </a:r>
            <a:endParaRPr lang="en-US" sz="3400" dirty="0"/>
          </a:p>
        </p:txBody>
      </p:sp>
      <p:sp>
        <p:nvSpPr>
          <p:cNvPr id="5" name="Text 3"/>
          <p:cNvSpPr/>
          <p:nvPr/>
        </p:nvSpPr>
        <p:spPr>
          <a:xfrm>
            <a:off x="640080" y="2880360"/>
            <a:ext cx="7863840" cy="548640"/>
          </a:xfrm>
          <a:prstGeom prst="rect">
            <a:avLst/>
          </a:prstGeom>
          <a:noFill/>
          <a:ln/>
        </p:spPr>
        <p:txBody>
          <a:bodyPr wrap="square" lIns="0" tIns="0" rIns="0" bIns="0" rtlCol="0" anchor="ctr"/>
          <a:lstStyle/>
          <a:p>
            <a:pPr indent="0" marL="0">
              <a:buNone/>
            </a:pPr>
            <a:r>
              <a:rPr lang="en-US" sz="2000" dirty="0">
                <a:solidFill>
                  <a:srgbClr val="9FC0FF"/>
                </a:solidFill>
                <a:latin typeface="Calibri" pitchFamily="34" charset="0"/>
                <a:ea typeface="Calibri" pitchFamily="34" charset="-122"/>
                <a:cs typeface="Calibri" pitchFamily="34" charset="-120"/>
              </a:rPr>
              <a:t>Mismo tablero, más quién paga</a:t>
            </a:r>
            <a:endParaRPr lang="en-US" sz="2000" dirty="0"/>
          </a:p>
        </p:txBody>
      </p:sp>
      <p:sp>
        <p:nvSpPr>
          <p:cNvPr id="6" name="Text 4"/>
          <p:cNvSpPr/>
          <p:nvPr/>
        </p:nvSpPr>
        <p:spPr>
          <a:xfrm>
            <a:off x="640080" y="4023360"/>
            <a:ext cx="7315200" cy="365760"/>
          </a:xfrm>
          <a:prstGeom prst="rect">
            <a:avLst/>
          </a:prstGeom>
          <a:noFill/>
          <a:ln/>
        </p:spPr>
        <p:txBody>
          <a:bodyPr wrap="square" lIns="0" tIns="0" rIns="0" bIns="0" rtlCol="0" anchor="ctr"/>
          <a:lstStyle/>
          <a:p>
            <a:pPr indent="0" marL="0">
              <a:buNone/>
            </a:pPr>
            <a:r>
              <a:rPr lang="en-US" sz="1400" dirty="0">
                <a:solidFill>
                  <a:srgbClr val="FFD166"/>
                </a:solidFill>
                <a:latin typeface="Calibri" pitchFamily="34" charset="0"/>
                <a:ea typeface="Calibri" pitchFamily="34" charset="-122"/>
                <a:cs typeface="Calibri" pitchFamily="34" charset="-120"/>
              </a:rPr>
              <a:t>20 min · same taps as maintenance · close one demo cleaning card</a:t>
            </a:r>
            <a:endParaRPr lang="en-US" sz="14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20040"/>
            <a:ext cx="1737360" cy="310896"/>
          </a:xfrm>
          <a:prstGeom prst="roundRect">
            <a:avLst>
              <a:gd name="adj" fmla="val 50000"/>
            </a:avLst>
          </a:prstGeom>
          <a:solidFill>
            <a:srgbClr val="15803D"/>
          </a:solidFill>
          <a:ln w="12700">
            <a:solidFill>
              <a:srgbClr val="15803D"/>
            </a:solidFill>
            <a:prstDash val="solid"/>
          </a:ln>
        </p:spPr>
      </p:sp>
      <p:sp>
        <p:nvSpPr>
          <p:cNvPr id="3" name="Text 1"/>
          <p:cNvSpPr/>
          <p:nvPr/>
        </p:nvSpPr>
        <p:spPr>
          <a:xfrm>
            <a:off x="457200" y="320040"/>
            <a:ext cx="1737360" cy="310896"/>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Arial" pitchFamily="34" charset="0"/>
                <a:ea typeface="Arial" pitchFamily="34" charset="-122"/>
                <a:cs typeface="Arial" pitchFamily="34" charset="-120"/>
              </a:rPr>
              <a:t>CLEANING</a:t>
            </a:r>
            <a:endParaRPr lang="en-US" sz="1000" dirty="0"/>
          </a:p>
        </p:txBody>
      </p:sp>
      <p:sp>
        <p:nvSpPr>
          <p:cNvPr id="4" name="Text 2"/>
          <p:cNvSpPr/>
          <p:nvPr/>
        </p:nvSpPr>
        <p:spPr>
          <a:xfrm>
            <a:off x="457200" y="713232"/>
            <a:ext cx="6217920" cy="640080"/>
          </a:xfrm>
          <a:prstGeom prst="rect">
            <a:avLst/>
          </a:prstGeom>
          <a:noFill/>
          <a:ln/>
        </p:spPr>
        <p:txBody>
          <a:bodyPr wrap="square" lIns="0" tIns="0" rIns="0" bIns="0" rtlCol="0" anchor="t">
            <a:normAutofit/>
          </a:bodyPr>
          <a:lstStyle/>
          <a:p>
            <a:pPr indent="0" marL="0">
              <a:buNone/>
            </a:pPr>
            <a:r>
              <a:rPr lang="en-US" sz="2600" b="1" dirty="0">
                <a:solidFill>
                  <a:srgbClr val="0F1F3D"/>
                </a:solidFill>
                <a:latin typeface="Arial" pitchFamily="34" charset="0"/>
                <a:ea typeface="Arial" pitchFamily="34" charset="-122"/>
                <a:cs typeface="Arial" pitchFamily="34" charset="-120"/>
              </a:rPr>
              <a:t>We cleaned it / it was already clean</a:t>
            </a:r>
            <a:endParaRPr lang="en-US" sz="2600" dirty="0"/>
          </a:p>
        </p:txBody>
      </p:sp>
      <p:sp>
        <p:nvSpPr>
          <p:cNvPr id="5" name="Text 3"/>
          <p:cNvSpPr/>
          <p:nvPr/>
        </p:nvSpPr>
        <p:spPr>
          <a:xfrm>
            <a:off x="457200" y="4754880"/>
            <a:ext cx="5486400" cy="228600"/>
          </a:xfrm>
          <a:prstGeom prst="rect">
            <a:avLst/>
          </a:prstGeom>
          <a:noFill/>
          <a:ln/>
        </p:spPr>
        <p:txBody>
          <a:bodyPr wrap="square" lIns="0" tIns="0" rIns="0" bIns="0" rtlCol="0" anchor="ctr"/>
          <a:lstStyle/>
          <a:p>
            <a:pPr indent="0" marL="0">
              <a:buNone/>
            </a:pPr>
            <a:r>
              <a:rPr lang="en-US" sz="900" dirty="0">
                <a:solidFill>
                  <a:srgbClr val="6B7280"/>
                </a:solidFill>
                <a:latin typeface="Calibri" pitchFamily="34" charset="0"/>
                <a:ea typeface="Calibri" pitchFamily="34" charset="-122"/>
                <a:cs typeface="Calibri" pitchFamily="34" charset="-120"/>
              </a:rPr>
              <a:t>SDX Inspect · Cleaning · 30</a:t>
            </a:r>
            <a:endParaRPr lang="en-US" sz="900" dirty="0"/>
          </a:p>
        </p:txBody>
      </p:sp>
      <p:sp>
        <p:nvSpPr>
          <p:cNvPr id="6" name="Text 4"/>
          <p:cNvSpPr/>
          <p:nvPr/>
        </p:nvSpPr>
        <p:spPr>
          <a:xfrm>
            <a:off x="457200" y="1508760"/>
            <a:ext cx="5669280" cy="3108960"/>
          </a:xfrm>
          <a:prstGeom prst="rect">
            <a:avLst/>
          </a:prstGeom>
          <a:noFill/>
          <a:ln/>
        </p:spPr>
        <p:txBody>
          <a:bodyPr wrap="square" lIns="0" tIns="0" rIns="0" bIns="0" rtlCol="0" anchor="t">
            <a:normAutofit/>
          </a:bodyPr>
          <a:lstStyle/>
          <a:p>
            <a:pPr marL="177800" indent="-177800">
              <a:spcAft>
                <a:spcPts val="700"/>
              </a:spcAft>
              <a:buSzPct val="100000"/>
              <a:buChar char="•"/>
            </a:pPr>
            <a:r>
              <a:rPr lang="en-US" sz="1500" dirty="0">
                <a:solidFill>
                  <a:srgbClr val="1F2937"/>
                </a:solidFill>
                <a:latin typeface="Calibri" pitchFamily="34" charset="0"/>
                <a:ea typeface="Calibri" pitchFamily="34" charset="-122"/>
                <a:cs typeface="Calibri" pitchFamily="34" charset="-120"/>
              </a:rPr>
              <a:t>Same board and same taps as Maintenance.</a:t>
            </a:r>
            <a:endParaRPr lang="en-US" sz="1500" dirty="0"/>
          </a:p>
          <a:p>
            <a:pPr marL="177800" indent="-177800">
              <a:spcAft>
                <a:spcPts val="700"/>
              </a:spcAft>
              <a:buSzPct val="100000"/>
              <a:buChar char="•"/>
            </a:pPr>
            <a:r>
              <a:rPr lang="en-US" sz="1500" dirty="0">
                <a:solidFill>
                  <a:srgbClr val="1F2937"/>
                </a:solidFill>
                <a:latin typeface="Calibri" pitchFamily="34" charset="0"/>
                <a:ea typeface="Calibri" pitchFamily="34" charset="-122"/>
                <a:cs typeface="Calibri" pitchFamily="34" charset="-120"/>
              </a:rPr>
              <a:t>On ✅ Fixed: 🧹 We cleaned it / 👍 Already clean. Typing it pre-picks.</a:t>
            </a:r>
            <a:endParaRPr lang="en-US" sz="1500" dirty="0"/>
          </a:p>
          <a:p>
            <a:pPr marL="177800" indent="-177800">
              <a:spcAft>
                <a:spcPts val="700"/>
              </a:spcAft>
              <a:buSzPct val="100000"/>
              <a:buChar char="•"/>
            </a:pPr>
            <a:r>
              <a:rPr lang="en-US" sz="1500" dirty="0">
                <a:solidFill>
                  <a:srgbClr val="1F2937"/>
                </a:solidFill>
                <a:latin typeface="Calibri" pitchFamily="34" charset="0"/>
                <a:ea typeface="Calibri" pitchFamily="34" charset="-122"/>
                <a:cs typeface="Calibri" pitchFamily="34" charset="-120"/>
              </a:rPr>
              <a:t>The stand type is stamped: CONCESSION problem / SUBCONTRACTOR problem.</a:t>
            </a:r>
            <a:endParaRPr lang="en-US" sz="1500" dirty="0"/>
          </a:p>
          <a:p>
            <a:pPr marL="177800" indent="-177800">
              <a:spcAft>
                <a:spcPts val="700"/>
              </a:spcAft>
              <a:buSzPct val="100000"/>
              <a:buChar char="•"/>
            </a:pPr>
            <a:r>
              <a:rPr lang="en-US" sz="1500" dirty="0">
                <a:solidFill>
                  <a:srgbClr val="1F2937"/>
                </a:solidFill>
                <a:latin typeface="Calibri" pitchFamily="34" charset="0"/>
                <a:ea typeface="Calibri" pitchFamily="34" charset="-122"/>
                <a:cs typeface="Calibri" pitchFamily="34" charset="-120"/>
              </a:rPr>
              <a:t>Subcontractor jobs are billable — the cleaning log and PDF use it.</a:t>
            </a:r>
            <a:endParaRPr lang="en-US" sz="1500" dirty="0"/>
          </a:p>
        </p:txBody>
      </p:sp>
      <p:sp>
        <p:nvSpPr>
          <p:cNvPr id="7" name="Shape 5"/>
          <p:cNvSpPr/>
          <p:nvPr/>
        </p:nvSpPr>
        <p:spPr>
          <a:xfrm>
            <a:off x="6848856" y="448056"/>
            <a:ext cx="2032243" cy="4270248"/>
          </a:xfrm>
          <a:prstGeom prst="roundRect">
            <a:avLst>
              <a:gd name="adj" fmla="val 9899"/>
            </a:avLst>
          </a:prstGeom>
          <a:solidFill>
            <a:srgbClr val="1F2937"/>
          </a:solidFill>
          <a:ln w="12700">
            <a:solidFill>
              <a:srgbClr val="1F2937"/>
            </a:solidFill>
            <a:prstDash val="solid"/>
          </a:ln>
        </p:spPr>
      </p:sp>
      <p:pic>
        <p:nvPicPr>
          <p:cNvPr id="8" name="Image 0" descr="/home/user/Claude/docs/training/screens/33-cleaning-board.png">    </p:cNvPr>
          <p:cNvPicPr>
            <a:picLocks noChangeAspect="1"/>
          </p:cNvPicPr>
          <p:nvPr/>
        </p:nvPicPr>
        <p:blipFill>
          <a:blip r:embed="rId1"/>
          <a:stretch>
            <a:fillRect/>
          </a:stretch>
        </p:blipFill>
        <p:spPr>
          <a:xfrm>
            <a:off x="6903720" y="502920"/>
            <a:ext cx="1922515" cy="4160520"/>
          </a:xfrm>
          <a:prstGeom prst="rect">
            <a:avLst/>
          </a:prstGeom>
        </p:spPr>
      </p:pic>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0F1F3D"/>
        </a:solidFill>
      </p:bgPr>
    </p:bg>
    <p:spTree>
      <p:nvGrpSpPr>
        <p:cNvPr id="1" name=""/>
        <p:cNvGrpSpPr/>
        <p:nvPr/>
      </p:nvGrpSpPr>
      <p:grpSpPr>
        <a:xfrm>
          <a:off x="0" y="0"/>
          <a:ext cx="0" cy="0"/>
          <a:chOff x="0" y="0"/>
          <a:chExt cx="0" cy="0"/>
        </a:xfrm>
      </p:grpSpPr>
      <p:sp>
        <p:nvSpPr>
          <p:cNvPr id="2" name="Shape 0"/>
          <p:cNvSpPr/>
          <p:nvPr/>
        </p:nvSpPr>
        <p:spPr>
          <a:xfrm>
            <a:off x="640080" y="1463040"/>
            <a:ext cx="2011680" cy="365760"/>
          </a:xfrm>
          <a:prstGeom prst="roundRect">
            <a:avLst>
              <a:gd name="adj" fmla="val 50000"/>
            </a:avLst>
          </a:prstGeom>
          <a:solidFill>
            <a:srgbClr val="0F766E"/>
          </a:solidFill>
          <a:ln w="12700">
            <a:solidFill>
              <a:srgbClr val="0F766E"/>
            </a:solidFill>
            <a:prstDash val="solid"/>
          </a:ln>
        </p:spPr>
      </p:sp>
      <p:sp>
        <p:nvSpPr>
          <p:cNvPr id="3" name="Text 1"/>
          <p:cNvSpPr/>
          <p:nvPr/>
        </p:nvSpPr>
        <p:spPr>
          <a:xfrm>
            <a:off x="640080" y="1463040"/>
            <a:ext cx="2011680" cy="365760"/>
          </a:xfrm>
          <a:prstGeom prst="rect">
            <a:avLst/>
          </a:prstGeom>
          <a:noFill/>
          <a:ln/>
        </p:spPr>
        <p:txBody>
          <a:bodyPr wrap="square" lIns="0" tIns="0" rIns="0" bIns="0" rtlCol="0" anchor="ctr"/>
          <a:lstStyle/>
          <a:p>
            <a:pPr algn="ctr" indent="0" marL="0">
              <a:buNone/>
            </a:pPr>
            <a:r>
              <a:rPr lang="en-US" sz="1200" b="1" spc="100" kern="0" dirty="0">
                <a:solidFill>
                  <a:srgbClr val="FFFFFF"/>
                </a:solidFill>
                <a:latin typeface="Arial" pitchFamily="34" charset="0"/>
                <a:ea typeface="Arial" pitchFamily="34" charset="-122"/>
                <a:cs typeface="Arial" pitchFamily="34" charset="-120"/>
              </a:rPr>
              <a:t>ECOLAB</a:t>
            </a:r>
            <a:endParaRPr lang="en-US" sz="1200" dirty="0"/>
          </a:p>
        </p:txBody>
      </p:sp>
      <p:sp>
        <p:nvSpPr>
          <p:cNvPr id="4" name="Text 2"/>
          <p:cNvSpPr/>
          <p:nvPr/>
        </p:nvSpPr>
        <p:spPr>
          <a:xfrm>
            <a:off x="640080" y="1965960"/>
            <a:ext cx="7863840" cy="914400"/>
          </a:xfrm>
          <a:prstGeom prst="rect">
            <a:avLst/>
          </a:prstGeom>
          <a:noFill/>
          <a:ln/>
        </p:spPr>
        <p:txBody>
          <a:bodyPr wrap="square" lIns="0" tIns="0" rIns="0" bIns="0" rtlCol="0" anchor="t">
            <a:normAutofit/>
          </a:bodyPr>
          <a:lstStyle/>
          <a:p>
            <a:pPr indent="0" marL="0">
              <a:buNone/>
            </a:pPr>
            <a:r>
              <a:rPr lang="en-US" sz="3400" b="1" dirty="0">
                <a:solidFill>
                  <a:srgbClr val="FFFFFF"/>
                </a:solidFill>
                <a:latin typeface="Arial" pitchFamily="34" charset="0"/>
                <a:ea typeface="Arial" pitchFamily="34" charset="-122"/>
                <a:cs typeface="Arial" pitchFamily="34" charset="-120"/>
              </a:rPr>
              <a:t>Same board, chemicals and sanitizer</a:t>
            </a:r>
            <a:endParaRPr lang="en-US" sz="3400" dirty="0"/>
          </a:p>
        </p:txBody>
      </p:sp>
      <p:sp>
        <p:nvSpPr>
          <p:cNvPr id="5" name="Text 3"/>
          <p:cNvSpPr/>
          <p:nvPr/>
        </p:nvSpPr>
        <p:spPr>
          <a:xfrm>
            <a:off x="640080" y="2880360"/>
            <a:ext cx="7863840" cy="548640"/>
          </a:xfrm>
          <a:prstGeom prst="rect">
            <a:avLst/>
          </a:prstGeom>
          <a:noFill/>
          <a:ln/>
        </p:spPr>
        <p:txBody>
          <a:bodyPr wrap="square" lIns="0" tIns="0" rIns="0" bIns="0" rtlCol="0" anchor="ctr"/>
          <a:lstStyle/>
          <a:p>
            <a:pPr indent="0" marL="0">
              <a:buNone/>
            </a:pPr>
            <a:r>
              <a:rPr lang="en-US" sz="2000" dirty="0">
                <a:solidFill>
                  <a:srgbClr val="9FC0FF"/>
                </a:solidFill>
                <a:latin typeface="Calibri" pitchFamily="34" charset="0"/>
                <a:ea typeface="Calibri" pitchFamily="34" charset="-122"/>
                <a:cs typeface="Calibri" pitchFamily="34" charset="-120"/>
              </a:rPr>
              <a:t>Mismo tablero, químicos y sanitizante</a:t>
            </a:r>
            <a:endParaRPr lang="en-US" sz="2000" dirty="0"/>
          </a:p>
        </p:txBody>
      </p:sp>
      <p:sp>
        <p:nvSpPr>
          <p:cNvPr id="6" name="Text 4"/>
          <p:cNvSpPr/>
          <p:nvPr/>
        </p:nvSpPr>
        <p:spPr>
          <a:xfrm>
            <a:off x="640080" y="4023360"/>
            <a:ext cx="7315200" cy="365760"/>
          </a:xfrm>
          <a:prstGeom prst="rect">
            <a:avLst/>
          </a:prstGeom>
          <a:noFill/>
          <a:ln/>
        </p:spPr>
        <p:txBody>
          <a:bodyPr wrap="square" lIns="0" tIns="0" rIns="0" bIns="0" rtlCol="0" anchor="ctr"/>
          <a:lstStyle/>
          <a:p>
            <a:pPr indent="0" marL="0">
              <a:buNone/>
            </a:pPr>
            <a:r>
              <a:rPr lang="en-US" sz="1400" dirty="0">
                <a:solidFill>
                  <a:srgbClr val="FFD166"/>
                </a:solidFill>
                <a:latin typeface="Calibri" pitchFamily="34" charset="0"/>
                <a:ea typeface="Calibri" pitchFamily="34" charset="-122"/>
                <a:cs typeface="Calibri" pitchFamily="34" charset="-120"/>
              </a:rPr>
              <a:t>20 min · close one demo Ecolab card · move a leak to Maintenance</a:t>
            </a:r>
            <a:endParaRPr lang="en-US" sz="140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20040"/>
            <a:ext cx="1737360" cy="310896"/>
          </a:xfrm>
          <a:prstGeom prst="roundRect">
            <a:avLst>
              <a:gd name="adj" fmla="val 50000"/>
            </a:avLst>
          </a:prstGeom>
          <a:solidFill>
            <a:srgbClr val="0F766E"/>
          </a:solidFill>
          <a:ln w="12700">
            <a:solidFill>
              <a:srgbClr val="0F766E"/>
            </a:solidFill>
            <a:prstDash val="solid"/>
          </a:ln>
        </p:spPr>
      </p:sp>
      <p:sp>
        <p:nvSpPr>
          <p:cNvPr id="3" name="Text 1"/>
          <p:cNvSpPr/>
          <p:nvPr/>
        </p:nvSpPr>
        <p:spPr>
          <a:xfrm>
            <a:off x="457200" y="320040"/>
            <a:ext cx="1737360" cy="310896"/>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Arial" pitchFamily="34" charset="0"/>
                <a:ea typeface="Arial" pitchFamily="34" charset="-122"/>
                <a:cs typeface="Arial" pitchFamily="34" charset="-120"/>
              </a:rPr>
              <a:t>ECOLAB</a:t>
            </a:r>
            <a:endParaRPr lang="en-US" sz="1000" dirty="0"/>
          </a:p>
        </p:txBody>
      </p:sp>
      <p:sp>
        <p:nvSpPr>
          <p:cNvPr id="4" name="Text 2"/>
          <p:cNvSpPr/>
          <p:nvPr/>
        </p:nvSpPr>
        <p:spPr>
          <a:xfrm>
            <a:off x="457200" y="713232"/>
            <a:ext cx="6217920" cy="640080"/>
          </a:xfrm>
          <a:prstGeom prst="rect">
            <a:avLst/>
          </a:prstGeom>
          <a:noFill/>
          <a:ln/>
        </p:spPr>
        <p:txBody>
          <a:bodyPr wrap="square" lIns="0" tIns="0" rIns="0" bIns="0" rtlCol="0" anchor="t">
            <a:normAutofit/>
          </a:bodyPr>
          <a:lstStyle/>
          <a:p>
            <a:pPr indent="0" marL="0">
              <a:buNone/>
            </a:pPr>
            <a:r>
              <a:rPr lang="en-US" sz="2600" b="1" dirty="0">
                <a:solidFill>
                  <a:srgbClr val="0F1F3D"/>
                </a:solidFill>
                <a:latin typeface="Arial" pitchFamily="34" charset="0"/>
                <a:ea typeface="Arial" pitchFamily="34" charset="-122"/>
                <a:cs typeface="Arial" pitchFamily="34" charset="-120"/>
              </a:rPr>
              <a:t>Your cards, your standard</a:t>
            </a:r>
            <a:endParaRPr lang="en-US" sz="2600" dirty="0"/>
          </a:p>
        </p:txBody>
      </p:sp>
      <p:sp>
        <p:nvSpPr>
          <p:cNvPr id="5" name="Text 3"/>
          <p:cNvSpPr/>
          <p:nvPr/>
        </p:nvSpPr>
        <p:spPr>
          <a:xfrm>
            <a:off x="457200" y="4754880"/>
            <a:ext cx="5486400" cy="228600"/>
          </a:xfrm>
          <a:prstGeom prst="rect">
            <a:avLst/>
          </a:prstGeom>
          <a:noFill/>
          <a:ln/>
        </p:spPr>
        <p:txBody>
          <a:bodyPr wrap="square" lIns="0" tIns="0" rIns="0" bIns="0" rtlCol="0" anchor="ctr"/>
          <a:lstStyle/>
          <a:p>
            <a:pPr indent="0" marL="0">
              <a:buNone/>
            </a:pPr>
            <a:r>
              <a:rPr lang="en-US" sz="900" dirty="0">
                <a:solidFill>
                  <a:srgbClr val="6B7280"/>
                </a:solidFill>
                <a:latin typeface="Calibri" pitchFamily="34" charset="0"/>
                <a:ea typeface="Calibri" pitchFamily="34" charset="-122"/>
                <a:cs typeface="Calibri" pitchFamily="34" charset="-120"/>
              </a:rPr>
              <a:t>SDX Inspect · Ecolab · 32</a:t>
            </a:r>
            <a:endParaRPr lang="en-US" sz="900" dirty="0"/>
          </a:p>
        </p:txBody>
      </p:sp>
      <p:sp>
        <p:nvSpPr>
          <p:cNvPr id="6" name="Text 4"/>
          <p:cNvSpPr/>
          <p:nvPr/>
        </p:nvSpPr>
        <p:spPr>
          <a:xfrm>
            <a:off x="457200" y="1508760"/>
            <a:ext cx="5669280" cy="3108960"/>
          </a:xfrm>
          <a:prstGeom prst="rect">
            <a:avLst/>
          </a:prstGeom>
          <a:noFill/>
          <a:ln/>
        </p:spPr>
        <p:txBody>
          <a:bodyPr wrap="square" lIns="0" tIns="0" rIns="0" bIns="0" rtlCol="0" anchor="t">
            <a:normAutofit/>
          </a:bodyPr>
          <a:lstStyle/>
          <a:p>
            <a:pPr marL="177800" indent="-177800">
              <a:spcAft>
                <a:spcPts val="700"/>
              </a:spcAft>
              <a:buSzPct val="100000"/>
              <a:buChar char="•"/>
            </a:pPr>
            <a:r>
              <a:rPr lang="en-US" sz="1500" dirty="0">
                <a:solidFill>
                  <a:srgbClr val="1F2937"/>
                </a:solidFill>
                <a:latin typeface="Calibri" pitchFamily="34" charset="0"/>
                <a:ea typeface="Calibri" pitchFamily="34" charset="-122"/>
                <a:cs typeface="Calibri" pitchFamily="34" charset="-120"/>
              </a:rPr>
              <a:t>Sanitizer concentration, dish machine, dispensers, test strips, storage.</a:t>
            </a:r>
            <a:endParaRPr lang="en-US" sz="1500" dirty="0"/>
          </a:p>
          <a:p>
            <a:pPr marL="177800" indent="-177800">
              <a:spcAft>
                <a:spcPts val="700"/>
              </a:spcAft>
              <a:buSzPct val="100000"/>
              <a:buChar char="•"/>
            </a:pPr>
            <a:r>
              <a:rPr lang="en-US" sz="1500" dirty="0">
                <a:solidFill>
                  <a:srgbClr val="1F2937"/>
                </a:solidFill>
                <a:latin typeface="Calibri" pitchFamily="34" charset="0"/>
                <a:ea typeface="Calibri" pitchFamily="34" charset="-122"/>
                <a:cs typeface="Calibri" pitchFamily="34" charset="-120"/>
              </a:rPr>
              <a:t>"Sanitizer too weak" or "no hay químico" route to you automatically.</a:t>
            </a:r>
            <a:endParaRPr lang="en-US" sz="1500" dirty="0"/>
          </a:p>
          <a:p>
            <a:pPr marL="177800" indent="-177800">
              <a:spcAft>
                <a:spcPts val="700"/>
              </a:spcAft>
              <a:buSzPct val="100000"/>
              <a:buChar char="•"/>
            </a:pPr>
            <a:r>
              <a:rPr lang="en-US" sz="1500" dirty="0">
                <a:solidFill>
                  <a:srgbClr val="1F2937"/>
                </a:solidFill>
                <a:latin typeface="Calibri" pitchFamily="34" charset="0"/>
                <a:ea typeface="Calibri" pitchFamily="34" charset="-122"/>
                <a:cs typeface="Calibri" pitchFamily="34" charset="-120"/>
              </a:rPr>
              <a:t>The Food Safety reference sanitizer tab is the standard everyone sees.</a:t>
            </a:r>
            <a:endParaRPr lang="en-US" sz="1500" dirty="0"/>
          </a:p>
          <a:p>
            <a:pPr marL="177800" indent="-177800">
              <a:spcAft>
                <a:spcPts val="700"/>
              </a:spcAft>
              <a:buSzPct val="100000"/>
              <a:buChar char="•"/>
            </a:pPr>
            <a:r>
              <a:rPr lang="en-US" sz="1500" dirty="0">
                <a:solidFill>
                  <a:srgbClr val="1F2937"/>
                </a:solidFill>
                <a:latin typeface="Calibri" pitchFamily="34" charset="0"/>
                <a:ea typeface="Calibri" pitchFamily="34" charset="-122"/>
                <a:cs typeface="Calibri" pitchFamily="34" charset="-120"/>
              </a:rPr>
              <a:t>A leak or grease? Not mine → move.</a:t>
            </a:r>
            <a:endParaRPr lang="en-US" sz="1500" dirty="0"/>
          </a:p>
        </p:txBody>
      </p:sp>
      <p:sp>
        <p:nvSpPr>
          <p:cNvPr id="7" name="Shape 5"/>
          <p:cNvSpPr/>
          <p:nvPr/>
        </p:nvSpPr>
        <p:spPr>
          <a:xfrm>
            <a:off x="6848856" y="448056"/>
            <a:ext cx="2032243" cy="4270248"/>
          </a:xfrm>
          <a:prstGeom prst="roundRect">
            <a:avLst>
              <a:gd name="adj" fmla="val 9899"/>
            </a:avLst>
          </a:prstGeom>
          <a:solidFill>
            <a:srgbClr val="1F2937"/>
          </a:solidFill>
          <a:ln w="12700">
            <a:solidFill>
              <a:srgbClr val="1F2937"/>
            </a:solidFill>
            <a:prstDash val="solid"/>
          </a:ln>
        </p:spPr>
      </p:sp>
      <p:pic>
        <p:nvPicPr>
          <p:cNvPr id="8" name="Image 0" descr="/home/user/Claude/docs/training/screens/34-ecolab-board.png">    </p:cNvPr>
          <p:cNvPicPr>
            <a:picLocks noChangeAspect="1"/>
          </p:cNvPicPr>
          <p:nvPr/>
        </p:nvPicPr>
        <p:blipFill>
          <a:blip r:embed="rId1"/>
          <a:stretch>
            <a:fillRect/>
          </a:stretch>
        </p:blipFill>
        <p:spPr>
          <a:xfrm>
            <a:off x="6903720" y="502920"/>
            <a:ext cx="1922515" cy="4160520"/>
          </a:xfrm>
          <a:prstGeom prst="rect">
            <a:avLst/>
          </a:prstGeom>
        </p:spPr>
      </p:pic>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0F1F3D"/>
        </a:solidFill>
      </p:bgPr>
    </p:bg>
    <p:spTree>
      <p:nvGrpSpPr>
        <p:cNvPr id="1" name=""/>
        <p:cNvGrpSpPr/>
        <p:nvPr/>
      </p:nvGrpSpPr>
      <p:grpSpPr>
        <a:xfrm>
          <a:off x="0" y="0"/>
          <a:ext cx="0" cy="0"/>
          <a:chOff x="0" y="0"/>
          <a:chExt cx="0" cy="0"/>
        </a:xfrm>
      </p:grpSpPr>
      <p:sp>
        <p:nvSpPr>
          <p:cNvPr id="2" name="Shape 0"/>
          <p:cNvSpPr/>
          <p:nvPr/>
        </p:nvSpPr>
        <p:spPr>
          <a:xfrm>
            <a:off x="640080" y="1463040"/>
            <a:ext cx="2011680" cy="365760"/>
          </a:xfrm>
          <a:prstGeom prst="roundRect">
            <a:avLst>
              <a:gd name="adj" fmla="val 50000"/>
            </a:avLst>
          </a:prstGeom>
          <a:solidFill>
            <a:srgbClr val="4B5563"/>
          </a:solidFill>
          <a:ln w="12700">
            <a:solidFill>
              <a:srgbClr val="4B5563"/>
            </a:solidFill>
            <a:prstDash val="solid"/>
          </a:ln>
        </p:spPr>
      </p:sp>
      <p:sp>
        <p:nvSpPr>
          <p:cNvPr id="3" name="Text 1"/>
          <p:cNvSpPr/>
          <p:nvPr/>
        </p:nvSpPr>
        <p:spPr>
          <a:xfrm>
            <a:off x="640080" y="1463040"/>
            <a:ext cx="2011680" cy="365760"/>
          </a:xfrm>
          <a:prstGeom prst="rect">
            <a:avLst/>
          </a:prstGeom>
          <a:noFill/>
          <a:ln/>
        </p:spPr>
        <p:txBody>
          <a:bodyPr wrap="square" lIns="0" tIns="0" rIns="0" bIns="0" rtlCol="0" anchor="ctr"/>
          <a:lstStyle/>
          <a:p>
            <a:pPr algn="ctr" indent="0" marL="0">
              <a:buNone/>
            </a:pPr>
            <a:r>
              <a:rPr lang="en-US" sz="1200" b="1" spc="100" kern="0" dirty="0">
                <a:solidFill>
                  <a:srgbClr val="FFFFFF"/>
                </a:solidFill>
                <a:latin typeface="Arial" pitchFamily="34" charset="0"/>
                <a:ea typeface="Arial" pitchFamily="34" charset="-122"/>
                <a:cs typeface="Arial" pitchFamily="34" charset="-120"/>
              </a:rPr>
              <a:t>ADMIN</a:t>
            </a:r>
            <a:endParaRPr lang="en-US" sz="1200" dirty="0"/>
          </a:p>
        </p:txBody>
      </p:sp>
      <p:sp>
        <p:nvSpPr>
          <p:cNvPr id="4" name="Text 2"/>
          <p:cNvSpPr/>
          <p:nvPr/>
        </p:nvSpPr>
        <p:spPr>
          <a:xfrm>
            <a:off x="640080" y="1965960"/>
            <a:ext cx="7863840" cy="914400"/>
          </a:xfrm>
          <a:prstGeom prst="rect">
            <a:avLst/>
          </a:prstGeom>
          <a:noFill/>
          <a:ln/>
        </p:spPr>
        <p:txBody>
          <a:bodyPr wrap="square" lIns="0" tIns="0" rIns="0" bIns="0" rtlCol="0" anchor="t">
            <a:normAutofit/>
          </a:bodyPr>
          <a:lstStyle/>
          <a:p>
            <a:pPr indent="0" marL="0">
              <a:buNone/>
            </a:pPr>
            <a:r>
              <a:rPr lang="en-US" sz="3400" b="1" dirty="0">
                <a:solidFill>
                  <a:srgbClr val="FFFFFF"/>
                </a:solidFill>
                <a:latin typeface="Arial" pitchFamily="34" charset="0"/>
                <a:ea typeface="Arial" pitchFamily="34" charset="-122"/>
                <a:cs typeface="Arial" pitchFamily="34" charset="-120"/>
              </a:rPr>
              <a:t>Users, links, licenses, dashboard</a:t>
            </a:r>
            <a:endParaRPr lang="en-US" sz="3400" dirty="0"/>
          </a:p>
        </p:txBody>
      </p:sp>
      <p:sp>
        <p:nvSpPr>
          <p:cNvPr id="5" name="Text 3"/>
          <p:cNvSpPr/>
          <p:nvPr/>
        </p:nvSpPr>
        <p:spPr>
          <a:xfrm>
            <a:off x="640080" y="2880360"/>
            <a:ext cx="7863840" cy="548640"/>
          </a:xfrm>
          <a:prstGeom prst="rect">
            <a:avLst/>
          </a:prstGeom>
          <a:noFill/>
          <a:ln/>
        </p:spPr>
        <p:txBody>
          <a:bodyPr wrap="square" lIns="0" tIns="0" rIns="0" bIns="0" rtlCol="0" anchor="ctr"/>
          <a:lstStyle/>
          <a:p>
            <a:pPr indent="0" marL="0">
              <a:buNone/>
            </a:pPr>
            <a:r>
              <a:rPr lang="en-US" sz="2000" dirty="0">
                <a:solidFill>
                  <a:srgbClr val="9FC0FF"/>
                </a:solidFill>
                <a:latin typeface="Calibri" pitchFamily="34" charset="0"/>
                <a:ea typeface="Calibri" pitchFamily="34" charset="-122"/>
                <a:cs typeface="Calibri" pitchFamily="34" charset="-120"/>
              </a:rPr>
              <a:t>Usuarios, enlaces, licencias, tablero</a:t>
            </a:r>
            <a:endParaRPr lang="en-US" sz="2000" dirty="0"/>
          </a:p>
        </p:txBody>
      </p:sp>
      <p:sp>
        <p:nvSpPr>
          <p:cNvPr id="6" name="Text 4"/>
          <p:cNvSpPr/>
          <p:nvPr/>
        </p:nvSpPr>
        <p:spPr>
          <a:xfrm>
            <a:off x="640080" y="4023360"/>
            <a:ext cx="7315200" cy="365760"/>
          </a:xfrm>
          <a:prstGeom prst="rect">
            <a:avLst/>
          </a:prstGeom>
          <a:noFill/>
          <a:ln/>
        </p:spPr>
        <p:txBody>
          <a:bodyPr wrap="square" lIns="0" tIns="0" rIns="0" bIns="0" rtlCol="0" anchor="ctr"/>
          <a:lstStyle/>
          <a:p>
            <a:pPr indent="0" marL="0">
              <a:buNone/>
            </a:pPr>
            <a:r>
              <a:rPr lang="en-US" sz="1400" dirty="0">
                <a:solidFill>
                  <a:srgbClr val="FFD166"/>
                </a:solidFill>
                <a:latin typeface="Calibri" pitchFamily="34" charset="0"/>
                <a:ea typeface="Calibri" pitchFamily="34" charset="-122"/>
                <a:cs typeface="Calibri" pitchFamily="34" charset="-120"/>
              </a:rPr>
              <a:t>20 min · create a test invite link · mark one license requested</a:t>
            </a:r>
            <a:endParaRPr lang="en-US" sz="140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20040"/>
            <a:ext cx="1737360" cy="310896"/>
          </a:xfrm>
          <a:prstGeom prst="roundRect">
            <a:avLst>
              <a:gd name="adj" fmla="val 50000"/>
            </a:avLst>
          </a:prstGeom>
          <a:solidFill>
            <a:srgbClr val="4B5563"/>
          </a:solidFill>
          <a:ln w="12700">
            <a:solidFill>
              <a:srgbClr val="4B5563"/>
            </a:solidFill>
            <a:prstDash val="solid"/>
          </a:ln>
        </p:spPr>
      </p:sp>
      <p:sp>
        <p:nvSpPr>
          <p:cNvPr id="3" name="Text 1"/>
          <p:cNvSpPr/>
          <p:nvPr/>
        </p:nvSpPr>
        <p:spPr>
          <a:xfrm>
            <a:off x="457200" y="320040"/>
            <a:ext cx="1737360" cy="310896"/>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Arial" pitchFamily="34" charset="0"/>
                <a:ea typeface="Arial" pitchFamily="34" charset="-122"/>
                <a:cs typeface="Arial" pitchFamily="34" charset="-120"/>
              </a:rPr>
              <a:t>ADMIN</a:t>
            </a:r>
            <a:endParaRPr lang="en-US" sz="1000" dirty="0"/>
          </a:p>
        </p:txBody>
      </p:sp>
      <p:sp>
        <p:nvSpPr>
          <p:cNvPr id="4" name="Text 2"/>
          <p:cNvSpPr/>
          <p:nvPr/>
        </p:nvSpPr>
        <p:spPr>
          <a:xfrm>
            <a:off x="457200" y="713232"/>
            <a:ext cx="8229600" cy="640080"/>
          </a:xfrm>
          <a:prstGeom prst="rect">
            <a:avLst/>
          </a:prstGeom>
          <a:noFill/>
          <a:ln/>
        </p:spPr>
        <p:txBody>
          <a:bodyPr wrap="square" lIns="0" tIns="0" rIns="0" bIns="0" rtlCol="0" anchor="t">
            <a:normAutofit/>
          </a:bodyPr>
          <a:lstStyle/>
          <a:p>
            <a:pPr indent="0" marL="0">
              <a:buNone/>
            </a:pPr>
            <a:r>
              <a:rPr lang="en-US" sz="2600" b="1" dirty="0">
                <a:solidFill>
                  <a:srgbClr val="0F1F3D"/>
                </a:solidFill>
                <a:latin typeface="Arial" pitchFamily="34" charset="0"/>
                <a:ea typeface="Arial" pitchFamily="34" charset="-122"/>
                <a:cs typeface="Arial" pitchFamily="34" charset="-120"/>
              </a:rPr>
              <a:t>Dashboard and schedule</a:t>
            </a:r>
            <a:endParaRPr lang="en-US" sz="2600" dirty="0"/>
          </a:p>
        </p:txBody>
      </p:sp>
      <p:sp>
        <p:nvSpPr>
          <p:cNvPr id="5" name="Text 3"/>
          <p:cNvSpPr/>
          <p:nvPr/>
        </p:nvSpPr>
        <p:spPr>
          <a:xfrm>
            <a:off x="457200" y="4754880"/>
            <a:ext cx="5486400" cy="228600"/>
          </a:xfrm>
          <a:prstGeom prst="rect">
            <a:avLst/>
          </a:prstGeom>
          <a:noFill/>
          <a:ln/>
        </p:spPr>
        <p:txBody>
          <a:bodyPr wrap="square" lIns="0" tIns="0" rIns="0" bIns="0" rtlCol="0" anchor="ctr"/>
          <a:lstStyle/>
          <a:p>
            <a:pPr indent="0" marL="0">
              <a:buNone/>
            </a:pPr>
            <a:r>
              <a:rPr lang="en-US" sz="900" dirty="0">
                <a:solidFill>
                  <a:srgbClr val="6B7280"/>
                </a:solidFill>
                <a:latin typeface="Calibri" pitchFamily="34" charset="0"/>
                <a:ea typeface="Calibri" pitchFamily="34" charset="-122"/>
                <a:cs typeface="Calibri" pitchFamily="34" charset="-120"/>
              </a:rPr>
              <a:t>SDX Inspect · Admin · 34</a:t>
            </a:r>
            <a:endParaRPr lang="en-US" sz="900" dirty="0"/>
          </a:p>
        </p:txBody>
      </p:sp>
      <p:sp>
        <p:nvSpPr>
          <p:cNvPr id="6" name="Text 4"/>
          <p:cNvSpPr/>
          <p:nvPr/>
        </p:nvSpPr>
        <p:spPr>
          <a:xfrm>
            <a:off x="457200" y="1508760"/>
            <a:ext cx="3840480" cy="3108960"/>
          </a:xfrm>
          <a:prstGeom prst="rect">
            <a:avLst/>
          </a:prstGeom>
          <a:noFill/>
          <a:ln/>
        </p:spPr>
        <p:txBody>
          <a:bodyPr wrap="square" lIns="0" tIns="0" rIns="0" bIns="0" rtlCol="0" anchor="t">
            <a:normAutofit/>
          </a:bodyPr>
          <a:lstStyle/>
          <a:p>
            <a:pPr marL="177800" indent="-177800">
              <a:spcAft>
                <a:spcPts val="700"/>
              </a:spcAft>
              <a:buSzPct val="100000"/>
              <a:buChar char="•"/>
            </a:pPr>
            <a:r>
              <a:rPr lang="en-US" sz="1400" dirty="0">
                <a:solidFill>
                  <a:srgbClr val="1F2937"/>
                </a:solidFill>
                <a:latin typeface="Calibri" pitchFamily="34" charset="0"/>
                <a:ea typeface="Calibri" pitchFamily="34" charset="-122"/>
                <a:cs typeface="Calibri" pitchFamily="34" charset="-120"/>
              </a:rPr>
              <a:t>Performance: inspections, pass rate, open problems, fixes.</a:t>
            </a:r>
            <a:endParaRPr lang="en-US" sz="1400" dirty="0"/>
          </a:p>
          <a:p>
            <a:pPr marL="177800" indent="-177800">
              <a:spcAft>
                <a:spcPts val="700"/>
              </a:spcAft>
              <a:buSzPct val="100000"/>
              <a:buChar char="•"/>
            </a:pPr>
            <a:r>
              <a:rPr lang="en-US" sz="1400" dirty="0">
                <a:solidFill>
                  <a:srgbClr val="1F2937"/>
                </a:solidFill>
                <a:latin typeface="Calibri" pitchFamily="34" charset="0"/>
                <a:ea typeface="Calibri" pitchFamily="34" charset="-122"/>
                <a:cs typeface="Calibri" pitchFamily="34" charset="-120"/>
              </a:rPr>
              <a:t>By inspector and by stand.</a:t>
            </a:r>
            <a:endParaRPr lang="en-US" sz="1400" dirty="0"/>
          </a:p>
          <a:p>
            <a:pPr marL="177800" indent="-177800">
              <a:spcAft>
                <a:spcPts val="700"/>
              </a:spcAft>
              <a:buSzPct val="100000"/>
              <a:buChar char="•"/>
            </a:pPr>
            <a:r>
              <a:rPr lang="en-US" sz="1400" dirty="0">
                <a:solidFill>
                  <a:srgbClr val="1F2937"/>
                </a:solidFill>
                <a:latin typeface="Calibri" pitchFamily="34" charset="0"/>
                <a:ea typeface="Calibri" pitchFamily="34" charset="-122"/>
                <a:cs typeface="Calibri" pitchFamily="34" charset="-120"/>
              </a:rPr>
              <a:t>Month calendar of planned inspections.</a:t>
            </a:r>
            <a:endParaRPr lang="en-US" sz="1400" dirty="0"/>
          </a:p>
          <a:p>
            <a:pPr marL="177800" indent="-177800">
              <a:spcAft>
                <a:spcPts val="700"/>
              </a:spcAft>
              <a:buSzPct val="100000"/>
              <a:buChar char="•"/>
            </a:pPr>
            <a:r>
              <a:rPr lang="en-US" sz="1400" dirty="0">
                <a:solidFill>
                  <a:srgbClr val="1F2937"/>
                </a:solidFill>
                <a:latin typeface="Calibri" pitchFamily="34" charset="0"/>
                <a:ea typeface="Calibri" pitchFamily="34" charset="-122"/>
                <a:cs typeface="Calibri" pitchFamily="34" charset="-120"/>
              </a:rPr>
              <a:t>Global admins: "Viewing reports for" venue banner.</a:t>
            </a:r>
            <a:endParaRPr lang="en-US" sz="1400" dirty="0"/>
          </a:p>
        </p:txBody>
      </p:sp>
      <p:sp>
        <p:nvSpPr>
          <p:cNvPr id="7" name="Shape 5"/>
          <p:cNvSpPr/>
          <p:nvPr/>
        </p:nvSpPr>
        <p:spPr>
          <a:xfrm>
            <a:off x="4480560" y="1463040"/>
            <a:ext cx="4572000" cy="2912290"/>
          </a:xfrm>
          <a:prstGeom prst="roundRect">
            <a:avLst>
              <a:gd name="adj" fmla="val 3140"/>
            </a:avLst>
          </a:prstGeom>
          <a:solidFill>
            <a:srgbClr val="1F2937"/>
          </a:solidFill>
          <a:ln w="12700">
            <a:solidFill>
              <a:srgbClr val="1F2937"/>
            </a:solidFill>
            <a:prstDash val="solid"/>
          </a:ln>
        </p:spPr>
      </p:sp>
      <p:pic>
        <p:nvPicPr>
          <p:cNvPr id="8" name="Image 0" descr="/home/user/Claude/docs/training/screens/48-desktop-admin-dashboard.png">    </p:cNvPr>
          <p:cNvPicPr>
            <a:picLocks noChangeAspect="1"/>
          </p:cNvPicPr>
          <p:nvPr/>
        </p:nvPicPr>
        <p:blipFill>
          <a:blip r:embed="rId1"/>
          <a:stretch>
            <a:fillRect/>
          </a:stretch>
        </p:blipFill>
        <p:spPr>
          <a:xfrm>
            <a:off x="4526280" y="1508760"/>
            <a:ext cx="4480560" cy="2820850"/>
          </a:xfrm>
          <a:prstGeom prst="rect">
            <a:avLst/>
          </a:prstGeom>
        </p:spPr>
      </p:pic>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20040"/>
            <a:ext cx="1737360" cy="310896"/>
          </a:xfrm>
          <a:prstGeom prst="roundRect">
            <a:avLst>
              <a:gd name="adj" fmla="val 50000"/>
            </a:avLst>
          </a:prstGeom>
          <a:solidFill>
            <a:srgbClr val="4B5563"/>
          </a:solidFill>
          <a:ln w="12700">
            <a:solidFill>
              <a:srgbClr val="4B5563"/>
            </a:solidFill>
            <a:prstDash val="solid"/>
          </a:ln>
        </p:spPr>
      </p:sp>
      <p:sp>
        <p:nvSpPr>
          <p:cNvPr id="3" name="Text 1"/>
          <p:cNvSpPr/>
          <p:nvPr/>
        </p:nvSpPr>
        <p:spPr>
          <a:xfrm>
            <a:off x="457200" y="320040"/>
            <a:ext cx="1737360" cy="310896"/>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Arial" pitchFamily="34" charset="0"/>
                <a:ea typeface="Arial" pitchFamily="34" charset="-122"/>
                <a:cs typeface="Arial" pitchFamily="34" charset="-120"/>
              </a:rPr>
              <a:t>ADMIN</a:t>
            </a:r>
            <a:endParaRPr lang="en-US" sz="1000" dirty="0"/>
          </a:p>
        </p:txBody>
      </p:sp>
      <p:sp>
        <p:nvSpPr>
          <p:cNvPr id="4" name="Text 2"/>
          <p:cNvSpPr/>
          <p:nvPr/>
        </p:nvSpPr>
        <p:spPr>
          <a:xfrm>
            <a:off x="457200" y="713232"/>
            <a:ext cx="6217920" cy="640080"/>
          </a:xfrm>
          <a:prstGeom prst="rect">
            <a:avLst/>
          </a:prstGeom>
          <a:noFill/>
          <a:ln/>
        </p:spPr>
        <p:txBody>
          <a:bodyPr wrap="square" lIns="0" tIns="0" rIns="0" bIns="0" rtlCol="0" anchor="t">
            <a:normAutofit/>
          </a:bodyPr>
          <a:lstStyle/>
          <a:p>
            <a:pPr indent="0" marL="0">
              <a:buNone/>
            </a:pPr>
            <a:r>
              <a:rPr lang="en-US" sz="2600" b="1" dirty="0">
                <a:solidFill>
                  <a:srgbClr val="0F1F3D"/>
                </a:solidFill>
                <a:latin typeface="Arial" pitchFamily="34" charset="0"/>
                <a:ea typeface="Arial" pitchFamily="34" charset="-122"/>
                <a:cs typeface="Arial" pitchFamily="34" charset="-120"/>
              </a:rPr>
              <a:t>Users, invite links, licenses</a:t>
            </a:r>
            <a:endParaRPr lang="en-US" sz="2600" dirty="0"/>
          </a:p>
        </p:txBody>
      </p:sp>
      <p:sp>
        <p:nvSpPr>
          <p:cNvPr id="5" name="Text 3"/>
          <p:cNvSpPr/>
          <p:nvPr/>
        </p:nvSpPr>
        <p:spPr>
          <a:xfrm>
            <a:off x="457200" y="4754880"/>
            <a:ext cx="5486400" cy="228600"/>
          </a:xfrm>
          <a:prstGeom prst="rect">
            <a:avLst/>
          </a:prstGeom>
          <a:noFill/>
          <a:ln/>
        </p:spPr>
        <p:txBody>
          <a:bodyPr wrap="square" lIns="0" tIns="0" rIns="0" bIns="0" rtlCol="0" anchor="ctr"/>
          <a:lstStyle/>
          <a:p>
            <a:pPr indent="0" marL="0">
              <a:buNone/>
            </a:pPr>
            <a:r>
              <a:rPr lang="en-US" sz="900" dirty="0">
                <a:solidFill>
                  <a:srgbClr val="6B7280"/>
                </a:solidFill>
                <a:latin typeface="Calibri" pitchFamily="34" charset="0"/>
                <a:ea typeface="Calibri" pitchFamily="34" charset="-122"/>
                <a:cs typeface="Calibri" pitchFamily="34" charset="-120"/>
              </a:rPr>
              <a:t>SDX Inspect · Admin · 35</a:t>
            </a:r>
            <a:endParaRPr lang="en-US" sz="900" dirty="0"/>
          </a:p>
        </p:txBody>
      </p:sp>
      <p:sp>
        <p:nvSpPr>
          <p:cNvPr id="6" name="Text 4"/>
          <p:cNvSpPr/>
          <p:nvPr/>
        </p:nvSpPr>
        <p:spPr>
          <a:xfrm>
            <a:off x="457200" y="1508760"/>
            <a:ext cx="5669280" cy="3108960"/>
          </a:xfrm>
          <a:prstGeom prst="rect">
            <a:avLst/>
          </a:prstGeom>
          <a:noFill/>
          <a:ln/>
        </p:spPr>
        <p:txBody>
          <a:bodyPr wrap="square" lIns="0" tIns="0" rIns="0" bIns="0" rtlCol="0" anchor="t">
            <a:normAutofit/>
          </a:bodyPr>
          <a:lstStyle/>
          <a:p>
            <a:pPr marL="177800" indent="-177800">
              <a:spcAft>
                <a:spcPts val="700"/>
              </a:spcAft>
              <a:buSzPct val="100000"/>
              <a:buChar char="•"/>
            </a:pPr>
            <a:r>
              <a:rPr lang="en-US" sz="1500" dirty="0">
                <a:solidFill>
                  <a:srgbClr val="1F2937"/>
                </a:solidFill>
                <a:latin typeface="Calibri" pitchFamily="34" charset="0"/>
                <a:ea typeface="Calibri" pitchFamily="34" charset="-122"/>
                <a:cs typeface="Calibri" pitchFamily="34" charset="-120"/>
              </a:rPr>
              <a:t>Users: approve requests, set roles, soft-remove.</a:t>
            </a:r>
            <a:endParaRPr lang="en-US" sz="1500" dirty="0"/>
          </a:p>
          <a:p>
            <a:pPr marL="177800" indent="-177800">
              <a:spcAft>
                <a:spcPts val="700"/>
              </a:spcAft>
              <a:buSzPct val="100000"/>
              <a:buChar char="•"/>
            </a:pPr>
            <a:r>
              <a:rPr lang="en-US" sz="1500" dirty="0">
                <a:solidFill>
                  <a:srgbClr val="1F2937"/>
                </a:solidFill>
                <a:latin typeface="Calibri" pitchFamily="34" charset="0"/>
                <a:ea typeface="Calibri" pitchFamily="34" charset="-122"/>
                <a:cs typeface="Calibri" pitchFamily="34" charset="-120"/>
              </a:rPr>
              <a:t>🔗 Invite links: one per role with a QR — Save / Print / Copy.</a:t>
            </a:r>
            <a:endParaRPr lang="en-US" sz="1500" dirty="0"/>
          </a:p>
          <a:p>
            <a:pPr marL="177800" indent="-177800">
              <a:spcAft>
                <a:spcPts val="700"/>
              </a:spcAft>
              <a:buSzPct val="100000"/>
              <a:buChar char="•"/>
            </a:pPr>
            <a:r>
              <a:rPr lang="en-US" sz="1500" dirty="0">
                <a:solidFill>
                  <a:srgbClr val="1F2937"/>
                </a:solidFill>
                <a:latin typeface="Calibri" pitchFamily="34" charset="0"/>
                <a:ea typeface="Calibri" pitchFamily="34" charset="-122"/>
                <a:cs typeface="Calibri" pitchFamily="34" charset="-120"/>
              </a:rPr>
              <a:t>License registry: mark rows requested / active / added. It drives posters and stand ids.</a:t>
            </a:r>
            <a:endParaRPr lang="en-US" sz="1500" dirty="0"/>
          </a:p>
          <a:p>
            <a:pPr marL="177800" indent="-177800">
              <a:spcAft>
                <a:spcPts val="700"/>
              </a:spcAft>
              <a:buSzPct val="100000"/>
              <a:buChar char="•"/>
            </a:pPr>
            <a:r>
              <a:rPr lang="en-US" sz="1500" dirty="0">
                <a:solidFill>
                  <a:srgbClr val="1F2937"/>
                </a:solidFill>
                <a:latin typeface="Calibri" pitchFamily="34" charset="0"/>
                <a:ea typeface="Calibri" pitchFamily="34" charset="-122"/>
                <a:cs typeface="Calibri" pitchFamily="34" charset="-120"/>
              </a:rPr>
              <a:t>Stand list: add / edit / hide, contacts per stand.</a:t>
            </a:r>
            <a:endParaRPr lang="en-US" sz="1500" dirty="0"/>
          </a:p>
        </p:txBody>
      </p:sp>
      <p:sp>
        <p:nvSpPr>
          <p:cNvPr id="7" name="Shape 5"/>
          <p:cNvSpPr/>
          <p:nvPr/>
        </p:nvSpPr>
        <p:spPr>
          <a:xfrm>
            <a:off x="6848856" y="448056"/>
            <a:ext cx="2032243" cy="4270248"/>
          </a:xfrm>
          <a:prstGeom prst="roundRect">
            <a:avLst>
              <a:gd name="adj" fmla="val 9899"/>
            </a:avLst>
          </a:prstGeom>
          <a:solidFill>
            <a:srgbClr val="1F2937"/>
          </a:solidFill>
          <a:ln w="12700">
            <a:solidFill>
              <a:srgbClr val="1F2937"/>
            </a:solidFill>
            <a:prstDash val="solid"/>
          </a:ln>
        </p:spPr>
      </p:sp>
      <p:pic>
        <p:nvPicPr>
          <p:cNvPr id="8" name="Image 0" descr="/home/user/Claude/docs/training/screens/17-admin.png">    </p:cNvPr>
          <p:cNvPicPr>
            <a:picLocks noChangeAspect="1"/>
          </p:cNvPicPr>
          <p:nvPr/>
        </p:nvPicPr>
        <p:blipFill>
          <a:blip r:embed="rId1"/>
          <a:stretch>
            <a:fillRect/>
          </a:stretch>
        </p:blipFill>
        <p:spPr>
          <a:xfrm>
            <a:off x="6903720" y="502920"/>
            <a:ext cx="1922515" cy="4160520"/>
          </a:xfrm>
          <a:prstGeom prst="rect">
            <a:avLst/>
          </a:prstGeom>
        </p:spPr>
      </p:pic>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20040"/>
            <a:ext cx="1737360" cy="310896"/>
          </a:xfrm>
          <a:prstGeom prst="roundRect">
            <a:avLst>
              <a:gd name="adj" fmla="val 50000"/>
            </a:avLst>
          </a:prstGeom>
          <a:solidFill>
            <a:srgbClr val="4B5563"/>
          </a:solidFill>
          <a:ln w="12700">
            <a:solidFill>
              <a:srgbClr val="4B5563"/>
            </a:solidFill>
            <a:prstDash val="solid"/>
          </a:ln>
        </p:spPr>
      </p:sp>
      <p:sp>
        <p:nvSpPr>
          <p:cNvPr id="3" name="Text 1"/>
          <p:cNvSpPr/>
          <p:nvPr/>
        </p:nvSpPr>
        <p:spPr>
          <a:xfrm>
            <a:off x="457200" y="320040"/>
            <a:ext cx="1737360" cy="310896"/>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Arial" pitchFamily="34" charset="0"/>
                <a:ea typeface="Arial" pitchFamily="34" charset="-122"/>
                <a:cs typeface="Arial" pitchFamily="34" charset="-120"/>
              </a:rPr>
              <a:t>ADMIN</a:t>
            </a:r>
            <a:endParaRPr lang="en-US" sz="1000" dirty="0"/>
          </a:p>
        </p:txBody>
      </p:sp>
      <p:sp>
        <p:nvSpPr>
          <p:cNvPr id="4" name="Text 2"/>
          <p:cNvSpPr/>
          <p:nvPr/>
        </p:nvSpPr>
        <p:spPr>
          <a:xfrm>
            <a:off x="457200" y="713232"/>
            <a:ext cx="8229600" cy="640080"/>
          </a:xfrm>
          <a:prstGeom prst="rect">
            <a:avLst/>
          </a:prstGeom>
          <a:noFill/>
          <a:ln/>
        </p:spPr>
        <p:txBody>
          <a:bodyPr wrap="square" lIns="0" tIns="0" rIns="0" bIns="0" rtlCol="0" anchor="t">
            <a:normAutofit/>
          </a:bodyPr>
          <a:lstStyle/>
          <a:p>
            <a:pPr indent="0" marL="0">
              <a:buNone/>
            </a:pPr>
            <a:r>
              <a:rPr lang="en-US" sz="2600" b="1" dirty="0">
                <a:solidFill>
                  <a:srgbClr val="0F1F3D"/>
                </a:solidFill>
                <a:latin typeface="Arial" pitchFamily="34" charset="0"/>
                <a:ea typeface="Arial" pitchFamily="34" charset="-122"/>
                <a:cs typeface="Arial" pitchFamily="34" charset="-120"/>
              </a:rPr>
              <a:t>Alerts today, push tomorrow</a:t>
            </a:r>
            <a:endParaRPr lang="en-US" sz="2600" dirty="0"/>
          </a:p>
        </p:txBody>
      </p:sp>
      <p:sp>
        <p:nvSpPr>
          <p:cNvPr id="5" name="Text 3"/>
          <p:cNvSpPr/>
          <p:nvPr/>
        </p:nvSpPr>
        <p:spPr>
          <a:xfrm>
            <a:off x="457200" y="4754880"/>
            <a:ext cx="5486400" cy="228600"/>
          </a:xfrm>
          <a:prstGeom prst="rect">
            <a:avLst/>
          </a:prstGeom>
          <a:noFill/>
          <a:ln/>
        </p:spPr>
        <p:txBody>
          <a:bodyPr wrap="square" lIns="0" tIns="0" rIns="0" bIns="0" rtlCol="0" anchor="ctr"/>
          <a:lstStyle/>
          <a:p>
            <a:pPr indent="0" marL="0">
              <a:buNone/>
            </a:pPr>
            <a:r>
              <a:rPr lang="en-US" sz="900" dirty="0">
                <a:solidFill>
                  <a:srgbClr val="6B7280"/>
                </a:solidFill>
                <a:latin typeface="Calibri" pitchFamily="34" charset="0"/>
                <a:ea typeface="Calibri" pitchFamily="34" charset="-122"/>
                <a:cs typeface="Calibri" pitchFamily="34" charset="-120"/>
              </a:rPr>
              <a:t>SDX Inspect · Admin · 36</a:t>
            </a:r>
            <a:endParaRPr lang="en-US" sz="900" dirty="0"/>
          </a:p>
        </p:txBody>
      </p:sp>
      <p:sp>
        <p:nvSpPr>
          <p:cNvPr id="6" name="Shape 4"/>
          <p:cNvSpPr/>
          <p:nvPr/>
        </p:nvSpPr>
        <p:spPr>
          <a:xfrm>
            <a:off x="457200" y="1463040"/>
            <a:ext cx="3977640" cy="3154680"/>
          </a:xfrm>
          <a:prstGeom prst="roundRect">
            <a:avLst>
              <a:gd name="adj" fmla="val 3478"/>
            </a:avLst>
          </a:prstGeom>
          <a:solidFill>
            <a:srgbClr val="F5F7FB"/>
          </a:solidFill>
          <a:ln w="12700">
            <a:solidFill>
              <a:srgbClr val="F5F7FB"/>
            </a:solidFill>
            <a:prstDash val="solid"/>
          </a:ln>
        </p:spPr>
      </p:sp>
      <p:sp>
        <p:nvSpPr>
          <p:cNvPr id="7" name="Shape 5"/>
          <p:cNvSpPr/>
          <p:nvPr/>
        </p:nvSpPr>
        <p:spPr>
          <a:xfrm>
            <a:off x="4709160" y="1463040"/>
            <a:ext cx="3977640" cy="3154680"/>
          </a:xfrm>
          <a:prstGeom prst="roundRect">
            <a:avLst>
              <a:gd name="adj" fmla="val 3478"/>
            </a:avLst>
          </a:prstGeom>
          <a:solidFill>
            <a:srgbClr val="F5F7FB"/>
          </a:solidFill>
          <a:ln w="12700">
            <a:solidFill>
              <a:srgbClr val="F5F7FB"/>
            </a:solidFill>
            <a:prstDash val="solid"/>
          </a:ln>
        </p:spPr>
      </p:sp>
      <p:sp>
        <p:nvSpPr>
          <p:cNvPr id="8" name="Text 6"/>
          <p:cNvSpPr/>
          <p:nvPr/>
        </p:nvSpPr>
        <p:spPr>
          <a:xfrm>
            <a:off x="685800" y="1572768"/>
            <a:ext cx="2743200" cy="274320"/>
          </a:xfrm>
          <a:prstGeom prst="rect">
            <a:avLst/>
          </a:prstGeom>
          <a:noFill/>
          <a:ln/>
        </p:spPr>
        <p:txBody>
          <a:bodyPr wrap="square" lIns="0" tIns="0" rIns="0" bIns="0" rtlCol="0" anchor="ctr"/>
          <a:lstStyle/>
          <a:p>
            <a:pPr indent="0" marL="0">
              <a:buNone/>
            </a:pPr>
            <a:r>
              <a:rPr lang="en-US" sz="1000" b="1" spc="100" kern="0" dirty="0">
                <a:solidFill>
                  <a:srgbClr val="6B7280"/>
                </a:solidFill>
                <a:latin typeface="Arial" pitchFamily="34" charset="0"/>
                <a:ea typeface="Arial" pitchFamily="34" charset="-122"/>
                <a:cs typeface="Arial" pitchFamily="34" charset="-120"/>
              </a:rPr>
              <a:t>ENGLISH</a:t>
            </a:r>
            <a:endParaRPr lang="en-US" sz="1000" dirty="0"/>
          </a:p>
        </p:txBody>
      </p:sp>
      <p:sp>
        <p:nvSpPr>
          <p:cNvPr id="9" name="Text 7"/>
          <p:cNvSpPr/>
          <p:nvPr/>
        </p:nvSpPr>
        <p:spPr>
          <a:xfrm>
            <a:off x="4937760" y="1572768"/>
            <a:ext cx="2743200" cy="274320"/>
          </a:xfrm>
          <a:prstGeom prst="rect">
            <a:avLst/>
          </a:prstGeom>
          <a:noFill/>
          <a:ln/>
        </p:spPr>
        <p:txBody>
          <a:bodyPr wrap="square" lIns="0" tIns="0" rIns="0" bIns="0" rtlCol="0" anchor="ctr"/>
          <a:lstStyle/>
          <a:p>
            <a:pPr indent="0" marL="0">
              <a:buNone/>
            </a:pPr>
            <a:r>
              <a:rPr lang="en-US" sz="1000" b="1" spc="100" kern="0" dirty="0">
                <a:solidFill>
                  <a:srgbClr val="6B7280"/>
                </a:solidFill>
                <a:latin typeface="Arial" pitchFamily="34" charset="0"/>
                <a:ea typeface="Arial" pitchFamily="34" charset="-122"/>
                <a:cs typeface="Arial" pitchFamily="34" charset="-120"/>
              </a:rPr>
              <a:t>ESPAÑOL</a:t>
            </a:r>
            <a:endParaRPr lang="en-US" sz="1000" dirty="0"/>
          </a:p>
        </p:txBody>
      </p:sp>
      <p:sp>
        <p:nvSpPr>
          <p:cNvPr id="10" name="Text 8"/>
          <p:cNvSpPr/>
          <p:nvPr/>
        </p:nvSpPr>
        <p:spPr>
          <a:xfrm>
            <a:off x="685800" y="1874520"/>
            <a:ext cx="3566160" cy="2651760"/>
          </a:xfrm>
          <a:prstGeom prst="rect">
            <a:avLst/>
          </a:prstGeom>
          <a:noFill/>
          <a:ln/>
        </p:spPr>
        <p:txBody>
          <a:bodyPr wrap="square" lIns="0" tIns="0" rIns="0" bIns="0" rtlCol="0" anchor="t">
            <a:normAutofit/>
          </a:bodyPr>
          <a:lstStyle/>
          <a:p>
            <a:pPr marL="228600" indent="-228600">
              <a:spcAft>
                <a:spcPts val="600"/>
              </a:spcAft>
              <a:buSzPct val="100000"/>
              <a:buFont typeface="+mj-lt"/>
              <a:buAutoNum type="arabicPeriod" startAt="1"/>
            </a:pPr>
            <a:r>
              <a:rPr lang="en-US" sz="1300" dirty="0">
                <a:solidFill>
                  <a:srgbClr val="1F2937"/>
                </a:solidFill>
                <a:latin typeface="Calibri" pitchFamily="34" charset="0"/>
                <a:ea typeface="Calibri" pitchFamily="34" charset="-122"/>
                <a:cs typeface="Calibri" pitchFamily="34" charset="-120"/>
              </a:rPr>
              <a:t>In-app: the bell shows fixes and supervisor logs while the app is open.</a:t>
            </a:r>
            <a:endParaRPr lang="en-US" sz="1300" dirty="0"/>
          </a:p>
          <a:p>
            <a:pPr marL="228600" indent="-228600">
              <a:spcAft>
                <a:spcPts val="600"/>
              </a:spcAft>
              <a:buSzPct val="100000"/>
              <a:buFont typeface="+mj-lt"/>
              <a:buAutoNum type="arabicPeriod" startAt="1"/>
            </a:pPr>
            <a:r>
              <a:rPr lang="en-US" sz="1300" dirty="0">
                <a:solidFill>
                  <a:srgbClr val="1F2937"/>
                </a:solidFill>
                <a:latin typeface="Calibri" pitchFamily="34" charset="0"/>
                <a:ea typeface="Calibri" pitchFamily="34" charset="-122"/>
                <a:cs typeface="Calibri" pitchFamily="34" charset="-120"/>
              </a:rPr>
              <a:t>Push with the app closed is coded but not turned on.</a:t>
            </a:r>
            <a:endParaRPr lang="en-US" sz="1300" dirty="0"/>
          </a:p>
          <a:p>
            <a:pPr marL="228600" indent="-228600">
              <a:spcAft>
                <a:spcPts val="600"/>
              </a:spcAft>
              <a:buSzPct val="100000"/>
              <a:buFont typeface="+mj-lt"/>
              <a:buAutoNum type="arabicPeriod" startAt="1"/>
            </a:pPr>
            <a:r>
              <a:rPr lang="en-US" sz="1300" dirty="0">
                <a:solidFill>
                  <a:srgbClr val="1F2937"/>
                </a:solidFill>
                <a:latin typeface="Calibri" pitchFamily="34" charset="0"/>
                <a:ea typeface="Calibri" pitchFamily="34" charset="-122"/>
                <a:cs typeface="Calibri" pitchFamily="34" charset="-120"/>
              </a:rPr>
              <a:t>Needs: the Web Push key pasted in + one deploy (docs/PUSH-SETUP.md).</a:t>
            </a:r>
            <a:endParaRPr lang="en-US" sz="1300" dirty="0"/>
          </a:p>
          <a:p>
            <a:pPr marL="228600" indent="-228600">
              <a:spcAft>
                <a:spcPts val="600"/>
              </a:spcAft>
              <a:buSzPct val="100000"/>
              <a:buFont typeface="+mj-lt"/>
              <a:buAutoNum type="arabicPeriod" startAt="1"/>
            </a:pPr>
            <a:r>
              <a:rPr lang="en-US" sz="1300" dirty="0">
                <a:solidFill>
                  <a:srgbClr val="1F2937"/>
                </a:solidFill>
                <a:latin typeface="Calibri" pitchFamily="34" charset="0"/>
                <a:ea typeface="Calibri" pitchFamily="34" charset="-122"/>
                <a:cs typeface="Calibri" pitchFamily="34" charset="-120"/>
              </a:rPr>
              <a:t>iPhone: only a Home Screen app receives push.</a:t>
            </a:r>
            <a:endParaRPr lang="en-US" sz="1300" dirty="0"/>
          </a:p>
        </p:txBody>
      </p:sp>
      <p:sp>
        <p:nvSpPr>
          <p:cNvPr id="11" name="Text 9"/>
          <p:cNvSpPr/>
          <p:nvPr/>
        </p:nvSpPr>
        <p:spPr>
          <a:xfrm>
            <a:off x="4937760" y="1874520"/>
            <a:ext cx="3566160" cy="2651760"/>
          </a:xfrm>
          <a:prstGeom prst="rect">
            <a:avLst/>
          </a:prstGeom>
          <a:noFill/>
          <a:ln/>
        </p:spPr>
        <p:txBody>
          <a:bodyPr wrap="square" lIns="0" tIns="0" rIns="0" bIns="0" rtlCol="0" anchor="t">
            <a:normAutofit/>
          </a:bodyPr>
          <a:lstStyle/>
          <a:p>
            <a:pPr marL="228600" indent="-228600">
              <a:spcAft>
                <a:spcPts val="600"/>
              </a:spcAft>
              <a:buSzPct val="100000"/>
              <a:buFont typeface="+mj-lt"/>
              <a:buAutoNum type="arabicPeriod" startAt="1"/>
            </a:pPr>
            <a:r>
              <a:rPr lang="en-US" sz="1300" dirty="0">
                <a:solidFill>
                  <a:srgbClr val="1F2937"/>
                </a:solidFill>
                <a:latin typeface="Calibri" pitchFamily="34" charset="0"/>
                <a:ea typeface="Calibri" pitchFamily="34" charset="-122"/>
                <a:cs typeface="Calibri" pitchFamily="34" charset="-120"/>
              </a:rPr>
              <a:t>En la app: la campana muestra arreglos y registros mientras está abierta.</a:t>
            </a:r>
            <a:endParaRPr lang="en-US" sz="1300" dirty="0"/>
          </a:p>
          <a:p>
            <a:pPr marL="228600" indent="-228600">
              <a:spcAft>
                <a:spcPts val="600"/>
              </a:spcAft>
              <a:buSzPct val="100000"/>
              <a:buFont typeface="+mj-lt"/>
              <a:buAutoNum type="arabicPeriod" startAt="1"/>
            </a:pPr>
            <a:r>
              <a:rPr lang="en-US" sz="1300" dirty="0">
                <a:solidFill>
                  <a:srgbClr val="1F2937"/>
                </a:solidFill>
                <a:latin typeface="Calibri" pitchFamily="34" charset="0"/>
                <a:ea typeface="Calibri" pitchFamily="34" charset="-122"/>
                <a:cs typeface="Calibri" pitchFamily="34" charset="-120"/>
              </a:rPr>
              <a:t>Push con la app cerrada está programado pero no activado.</a:t>
            </a:r>
            <a:endParaRPr lang="en-US" sz="1300" dirty="0"/>
          </a:p>
          <a:p>
            <a:pPr marL="228600" indent="-228600">
              <a:spcAft>
                <a:spcPts val="600"/>
              </a:spcAft>
              <a:buSzPct val="100000"/>
              <a:buFont typeface="+mj-lt"/>
              <a:buAutoNum type="arabicPeriod" startAt="1"/>
            </a:pPr>
            <a:r>
              <a:rPr lang="en-US" sz="1300" dirty="0">
                <a:solidFill>
                  <a:srgbClr val="1F2937"/>
                </a:solidFill>
                <a:latin typeface="Calibri" pitchFamily="34" charset="0"/>
                <a:ea typeface="Calibri" pitchFamily="34" charset="-122"/>
                <a:cs typeface="Calibri" pitchFamily="34" charset="-120"/>
              </a:rPr>
              <a:t>Falta: pegar la clave Web Push + un despliegue (docs/PUSH-SETUP.md).</a:t>
            </a:r>
            <a:endParaRPr lang="en-US" sz="1300" dirty="0"/>
          </a:p>
          <a:p>
            <a:pPr marL="228600" indent="-228600">
              <a:spcAft>
                <a:spcPts val="600"/>
              </a:spcAft>
              <a:buSzPct val="100000"/>
              <a:buFont typeface="+mj-lt"/>
              <a:buAutoNum type="arabicPeriod" startAt="1"/>
            </a:pPr>
            <a:r>
              <a:rPr lang="en-US" sz="1300" dirty="0">
                <a:solidFill>
                  <a:srgbClr val="1F2937"/>
                </a:solidFill>
                <a:latin typeface="Calibri" pitchFamily="34" charset="0"/>
                <a:ea typeface="Calibri" pitchFamily="34" charset="-122"/>
                <a:cs typeface="Calibri" pitchFamily="34" charset="-120"/>
              </a:rPr>
              <a:t>iPhone: solo la app en pantalla de inicio recibe push.</a:t>
            </a:r>
            <a:endParaRPr lang="en-US" sz="130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bg>
      <p:bgPr>
        <a:solidFill>
          <a:srgbClr val="0F1F3D"/>
        </a:solidFill>
      </p:bgPr>
    </p:bg>
    <p:spTree>
      <p:nvGrpSpPr>
        <p:cNvPr id="1" name=""/>
        <p:cNvGrpSpPr/>
        <p:nvPr/>
      </p:nvGrpSpPr>
      <p:grpSpPr>
        <a:xfrm>
          <a:off x="0" y="0"/>
          <a:ext cx="0" cy="0"/>
          <a:chOff x="0" y="0"/>
          <a:chExt cx="0" cy="0"/>
        </a:xfrm>
      </p:grpSpPr>
      <p:sp>
        <p:nvSpPr>
          <p:cNvPr id="2" name="Shape 0"/>
          <p:cNvSpPr/>
          <p:nvPr/>
        </p:nvSpPr>
        <p:spPr>
          <a:xfrm>
            <a:off x="640080" y="1463040"/>
            <a:ext cx="2011680" cy="365760"/>
          </a:xfrm>
          <a:prstGeom prst="roundRect">
            <a:avLst>
              <a:gd name="adj" fmla="val 50000"/>
            </a:avLst>
          </a:prstGeom>
          <a:solidFill>
            <a:srgbClr val="0F1F3D"/>
          </a:solidFill>
          <a:ln w="12700">
            <a:solidFill>
              <a:srgbClr val="0F1F3D"/>
            </a:solidFill>
            <a:prstDash val="solid"/>
          </a:ln>
        </p:spPr>
      </p:sp>
      <p:sp>
        <p:nvSpPr>
          <p:cNvPr id="3" name="Text 1"/>
          <p:cNvSpPr/>
          <p:nvPr/>
        </p:nvSpPr>
        <p:spPr>
          <a:xfrm>
            <a:off x="640080" y="1463040"/>
            <a:ext cx="2011680" cy="365760"/>
          </a:xfrm>
          <a:prstGeom prst="rect">
            <a:avLst/>
          </a:prstGeom>
          <a:noFill/>
          <a:ln/>
        </p:spPr>
        <p:txBody>
          <a:bodyPr wrap="square" lIns="0" tIns="0" rIns="0" bIns="0" rtlCol="0" anchor="ctr"/>
          <a:lstStyle/>
          <a:p>
            <a:pPr algn="ctr" indent="0" marL="0">
              <a:buNone/>
            </a:pPr>
            <a:r>
              <a:rPr lang="en-US" sz="1200" b="1" spc="100" kern="0" dirty="0">
                <a:solidFill>
                  <a:srgbClr val="FFFFFF"/>
                </a:solidFill>
                <a:latin typeface="Arial" pitchFamily="34" charset="0"/>
                <a:ea typeface="Arial" pitchFamily="34" charset="-122"/>
                <a:cs typeface="Arial" pitchFamily="34" charset="-120"/>
              </a:rPr>
              <a:t>EVERYONE</a:t>
            </a:r>
            <a:endParaRPr lang="en-US" sz="1200" dirty="0"/>
          </a:p>
        </p:txBody>
      </p:sp>
      <p:sp>
        <p:nvSpPr>
          <p:cNvPr id="4" name="Text 2"/>
          <p:cNvSpPr/>
          <p:nvPr/>
        </p:nvSpPr>
        <p:spPr>
          <a:xfrm>
            <a:off x="640080" y="1965960"/>
            <a:ext cx="7863840" cy="914400"/>
          </a:xfrm>
          <a:prstGeom prst="rect">
            <a:avLst/>
          </a:prstGeom>
          <a:noFill/>
          <a:ln/>
        </p:spPr>
        <p:txBody>
          <a:bodyPr wrap="square" lIns="0" tIns="0" rIns="0" bIns="0" rtlCol="0" anchor="t">
            <a:normAutofit/>
          </a:bodyPr>
          <a:lstStyle/>
          <a:p>
            <a:pPr indent="0" marL="0">
              <a:buNone/>
            </a:pPr>
            <a:r>
              <a:rPr lang="en-US" sz="3400" b="1" dirty="0">
                <a:solidFill>
                  <a:srgbClr val="FFFFFF"/>
                </a:solidFill>
                <a:latin typeface="Arial" pitchFamily="34" charset="0"/>
                <a:ea typeface="Arial" pitchFamily="34" charset="-122"/>
                <a:cs typeface="Arial" pitchFamily="34" charset="-120"/>
              </a:rPr>
              <a:t>Quick-reference cards</a:t>
            </a:r>
            <a:endParaRPr lang="en-US" sz="3400" dirty="0"/>
          </a:p>
        </p:txBody>
      </p:sp>
      <p:sp>
        <p:nvSpPr>
          <p:cNvPr id="5" name="Text 3"/>
          <p:cNvSpPr/>
          <p:nvPr/>
        </p:nvSpPr>
        <p:spPr>
          <a:xfrm>
            <a:off x="640080" y="2880360"/>
            <a:ext cx="7863840" cy="548640"/>
          </a:xfrm>
          <a:prstGeom prst="rect">
            <a:avLst/>
          </a:prstGeom>
          <a:noFill/>
          <a:ln/>
        </p:spPr>
        <p:txBody>
          <a:bodyPr wrap="square" lIns="0" tIns="0" rIns="0" bIns="0" rtlCol="0" anchor="ctr"/>
          <a:lstStyle/>
          <a:p>
            <a:pPr indent="0" marL="0">
              <a:buNone/>
            </a:pPr>
            <a:r>
              <a:rPr lang="en-US" sz="2000" dirty="0">
                <a:solidFill>
                  <a:srgbClr val="9FC0FF"/>
                </a:solidFill>
                <a:latin typeface="Calibri" pitchFamily="34" charset="0"/>
                <a:ea typeface="Calibri" pitchFamily="34" charset="-122"/>
                <a:cs typeface="Calibri" pitchFamily="34" charset="-120"/>
              </a:rPr>
              <a:t>Tarjetas de referencia rápida</a:t>
            </a:r>
            <a:endParaRPr lang="en-US" sz="2000" dirty="0"/>
          </a:p>
        </p:txBody>
      </p:sp>
      <p:sp>
        <p:nvSpPr>
          <p:cNvPr id="6" name="Text 4"/>
          <p:cNvSpPr/>
          <p:nvPr/>
        </p:nvSpPr>
        <p:spPr>
          <a:xfrm>
            <a:off x="640080" y="4023360"/>
            <a:ext cx="7315200" cy="365760"/>
          </a:xfrm>
          <a:prstGeom prst="rect">
            <a:avLst/>
          </a:prstGeom>
          <a:noFill/>
          <a:ln/>
        </p:spPr>
        <p:txBody>
          <a:bodyPr wrap="square" lIns="0" tIns="0" rIns="0" bIns="0" rtlCol="0" anchor="ctr"/>
          <a:lstStyle/>
          <a:p>
            <a:pPr indent="0" marL="0">
              <a:buNone/>
            </a:pPr>
            <a:r>
              <a:rPr lang="en-US" sz="1400" dirty="0">
                <a:solidFill>
                  <a:srgbClr val="FFD166"/>
                </a:solidFill>
                <a:latin typeface="Calibri" pitchFamily="34" charset="0"/>
                <a:ea typeface="Calibri" pitchFamily="34" charset="-122"/>
                <a:cs typeface="Calibri" pitchFamily="34" charset="-120"/>
              </a:rPr>
              <a:t>Print one per department · tape it inside the office or the stand door</a:t>
            </a:r>
            <a:endParaRPr lang="en-US" sz="140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20040"/>
            <a:ext cx="1737360" cy="310896"/>
          </a:xfrm>
          <a:prstGeom prst="roundRect">
            <a:avLst>
              <a:gd name="adj" fmla="val 50000"/>
            </a:avLst>
          </a:prstGeom>
          <a:solidFill>
            <a:srgbClr val="0F1F3D"/>
          </a:solidFill>
          <a:ln w="12700">
            <a:solidFill>
              <a:srgbClr val="0F1F3D"/>
            </a:solidFill>
            <a:prstDash val="solid"/>
          </a:ln>
        </p:spPr>
      </p:sp>
      <p:sp>
        <p:nvSpPr>
          <p:cNvPr id="3" name="Text 1"/>
          <p:cNvSpPr/>
          <p:nvPr/>
        </p:nvSpPr>
        <p:spPr>
          <a:xfrm>
            <a:off x="457200" y="320040"/>
            <a:ext cx="1737360" cy="310896"/>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Arial" pitchFamily="34" charset="0"/>
                <a:ea typeface="Arial" pitchFamily="34" charset="-122"/>
                <a:cs typeface="Arial" pitchFamily="34" charset="-120"/>
              </a:rPr>
              <a:t>INSPECTOR</a:t>
            </a:r>
            <a:endParaRPr lang="en-US" sz="1000" dirty="0"/>
          </a:p>
        </p:txBody>
      </p:sp>
      <p:sp>
        <p:nvSpPr>
          <p:cNvPr id="4" name="Text 2"/>
          <p:cNvSpPr/>
          <p:nvPr/>
        </p:nvSpPr>
        <p:spPr>
          <a:xfrm>
            <a:off x="457200" y="713232"/>
            <a:ext cx="8229600" cy="640080"/>
          </a:xfrm>
          <a:prstGeom prst="rect">
            <a:avLst/>
          </a:prstGeom>
          <a:noFill/>
          <a:ln/>
        </p:spPr>
        <p:txBody>
          <a:bodyPr wrap="square" lIns="0" tIns="0" rIns="0" bIns="0" rtlCol="0" anchor="t">
            <a:normAutofit/>
          </a:bodyPr>
          <a:lstStyle/>
          <a:p>
            <a:pPr indent="0" marL="0">
              <a:buNone/>
            </a:pPr>
            <a:r>
              <a:rPr lang="en-US" sz="2600" b="1" dirty="0">
                <a:solidFill>
                  <a:srgbClr val="0F1F3D"/>
                </a:solidFill>
                <a:latin typeface="Arial" pitchFamily="34" charset="0"/>
                <a:ea typeface="Arial" pitchFamily="34" charset="-122"/>
                <a:cs typeface="Arial" pitchFamily="34" charset="-120"/>
              </a:rPr>
              <a:t>Inspector — your 6 taps</a:t>
            </a:r>
            <a:endParaRPr lang="en-US" sz="2600" dirty="0"/>
          </a:p>
        </p:txBody>
      </p:sp>
      <p:sp>
        <p:nvSpPr>
          <p:cNvPr id="5" name="Text 3"/>
          <p:cNvSpPr/>
          <p:nvPr/>
        </p:nvSpPr>
        <p:spPr>
          <a:xfrm>
            <a:off x="457200" y="4754880"/>
            <a:ext cx="5486400" cy="228600"/>
          </a:xfrm>
          <a:prstGeom prst="rect">
            <a:avLst/>
          </a:prstGeom>
          <a:noFill/>
          <a:ln/>
        </p:spPr>
        <p:txBody>
          <a:bodyPr wrap="square" lIns="0" tIns="0" rIns="0" bIns="0" rtlCol="0" anchor="ctr"/>
          <a:lstStyle/>
          <a:p>
            <a:pPr indent="0" marL="0">
              <a:buNone/>
            </a:pPr>
            <a:r>
              <a:rPr lang="en-US" sz="900" dirty="0">
                <a:solidFill>
                  <a:srgbClr val="6B7280"/>
                </a:solidFill>
                <a:latin typeface="Calibri" pitchFamily="34" charset="0"/>
                <a:ea typeface="Calibri" pitchFamily="34" charset="-122"/>
                <a:cs typeface="Calibri" pitchFamily="34" charset="-120"/>
              </a:rPr>
              <a:t>SDX Inspect · Inspector · 38</a:t>
            </a:r>
            <a:endParaRPr lang="en-US" sz="900" dirty="0"/>
          </a:p>
        </p:txBody>
      </p:sp>
      <p:sp>
        <p:nvSpPr>
          <p:cNvPr id="6" name="Shape 4"/>
          <p:cNvSpPr/>
          <p:nvPr/>
        </p:nvSpPr>
        <p:spPr>
          <a:xfrm>
            <a:off x="457200" y="1463040"/>
            <a:ext cx="3977640" cy="3154680"/>
          </a:xfrm>
          <a:prstGeom prst="roundRect">
            <a:avLst>
              <a:gd name="adj" fmla="val 3478"/>
            </a:avLst>
          </a:prstGeom>
          <a:solidFill>
            <a:srgbClr val="F5F7FB"/>
          </a:solidFill>
          <a:ln w="12700">
            <a:solidFill>
              <a:srgbClr val="F5F7FB"/>
            </a:solidFill>
            <a:prstDash val="solid"/>
          </a:ln>
        </p:spPr>
      </p:sp>
      <p:sp>
        <p:nvSpPr>
          <p:cNvPr id="7" name="Shape 5"/>
          <p:cNvSpPr/>
          <p:nvPr/>
        </p:nvSpPr>
        <p:spPr>
          <a:xfrm>
            <a:off x="4709160" y="1463040"/>
            <a:ext cx="3977640" cy="3154680"/>
          </a:xfrm>
          <a:prstGeom prst="roundRect">
            <a:avLst>
              <a:gd name="adj" fmla="val 3478"/>
            </a:avLst>
          </a:prstGeom>
          <a:solidFill>
            <a:srgbClr val="F5F7FB"/>
          </a:solidFill>
          <a:ln w="12700">
            <a:solidFill>
              <a:srgbClr val="F5F7FB"/>
            </a:solidFill>
            <a:prstDash val="solid"/>
          </a:ln>
        </p:spPr>
      </p:sp>
      <p:sp>
        <p:nvSpPr>
          <p:cNvPr id="8" name="Text 6"/>
          <p:cNvSpPr/>
          <p:nvPr/>
        </p:nvSpPr>
        <p:spPr>
          <a:xfrm>
            <a:off x="685800" y="1572768"/>
            <a:ext cx="2743200" cy="274320"/>
          </a:xfrm>
          <a:prstGeom prst="rect">
            <a:avLst/>
          </a:prstGeom>
          <a:noFill/>
          <a:ln/>
        </p:spPr>
        <p:txBody>
          <a:bodyPr wrap="square" lIns="0" tIns="0" rIns="0" bIns="0" rtlCol="0" anchor="ctr"/>
          <a:lstStyle/>
          <a:p>
            <a:pPr indent="0" marL="0">
              <a:buNone/>
            </a:pPr>
            <a:r>
              <a:rPr lang="en-US" sz="1000" b="1" spc="100" kern="0" dirty="0">
                <a:solidFill>
                  <a:srgbClr val="6B7280"/>
                </a:solidFill>
                <a:latin typeface="Arial" pitchFamily="34" charset="0"/>
                <a:ea typeface="Arial" pitchFamily="34" charset="-122"/>
                <a:cs typeface="Arial" pitchFamily="34" charset="-120"/>
              </a:rPr>
              <a:t>ENGLISH</a:t>
            </a:r>
            <a:endParaRPr lang="en-US" sz="1000" dirty="0"/>
          </a:p>
        </p:txBody>
      </p:sp>
      <p:sp>
        <p:nvSpPr>
          <p:cNvPr id="9" name="Text 7"/>
          <p:cNvSpPr/>
          <p:nvPr/>
        </p:nvSpPr>
        <p:spPr>
          <a:xfrm>
            <a:off x="4937760" y="1572768"/>
            <a:ext cx="2743200" cy="274320"/>
          </a:xfrm>
          <a:prstGeom prst="rect">
            <a:avLst/>
          </a:prstGeom>
          <a:noFill/>
          <a:ln/>
        </p:spPr>
        <p:txBody>
          <a:bodyPr wrap="square" lIns="0" tIns="0" rIns="0" bIns="0" rtlCol="0" anchor="ctr"/>
          <a:lstStyle/>
          <a:p>
            <a:pPr indent="0" marL="0">
              <a:buNone/>
            </a:pPr>
            <a:r>
              <a:rPr lang="en-US" sz="1000" b="1" spc="100" kern="0" dirty="0">
                <a:solidFill>
                  <a:srgbClr val="6B7280"/>
                </a:solidFill>
                <a:latin typeface="Arial" pitchFamily="34" charset="0"/>
                <a:ea typeface="Arial" pitchFamily="34" charset="-122"/>
                <a:cs typeface="Arial" pitchFamily="34" charset="-120"/>
              </a:rPr>
              <a:t>ESPAÑOL</a:t>
            </a:r>
            <a:endParaRPr lang="en-US" sz="1000" dirty="0"/>
          </a:p>
        </p:txBody>
      </p:sp>
      <p:sp>
        <p:nvSpPr>
          <p:cNvPr id="10" name="Text 8"/>
          <p:cNvSpPr/>
          <p:nvPr/>
        </p:nvSpPr>
        <p:spPr>
          <a:xfrm>
            <a:off x="685800" y="1874520"/>
            <a:ext cx="3566160" cy="2651760"/>
          </a:xfrm>
          <a:prstGeom prst="rect">
            <a:avLst/>
          </a:prstGeom>
          <a:noFill/>
          <a:ln/>
        </p:spPr>
        <p:txBody>
          <a:bodyPr wrap="square" lIns="0" tIns="0" rIns="0" bIns="0" rtlCol="0" anchor="t">
            <a:normAutofit/>
          </a:bodyPr>
          <a:lstStyle/>
          <a:p>
            <a:pPr marL="228600" indent="-228600">
              <a:spcAft>
                <a:spcPts val="600"/>
              </a:spcAft>
              <a:buSzPct val="100000"/>
              <a:buFont typeface="+mj-lt"/>
              <a:buAutoNum type="arabicPeriod" startAt="1"/>
            </a:pPr>
            <a:r>
              <a:rPr lang="en-US" sz="1300" dirty="0">
                <a:solidFill>
                  <a:srgbClr val="1F2937"/>
                </a:solidFill>
                <a:latin typeface="Calibri" pitchFamily="34" charset="0"/>
                <a:ea typeface="Calibri" pitchFamily="34" charset="-122"/>
                <a:cs typeface="Calibri" pitchFamily="34" charset="-120"/>
              </a:rPr>
              <a:t>on site → 📷 Scan the stand poster.</a:t>
            </a:r>
            <a:endParaRPr lang="en-US" sz="1300" dirty="0"/>
          </a:p>
          <a:p>
            <a:pPr marL="228600" indent="-228600">
              <a:spcAft>
                <a:spcPts val="600"/>
              </a:spcAft>
              <a:buSzPct val="100000"/>
              <a:buFont typeface="+mj-lt"/>
              <a:buAutoNum type="arabicPeriod" startAt="1"/>
            </a:pPr>
            <a:r>
              <a:rPr lang="en-US" sz="1300" dirty="0">
                <a:solidFill>
                  <a:srgbClr val="1F2937"/>
                </a:solidFill>
                <a:latin typeface="Calibri" pitchFamily="34" charset="0"/>
                <a:ea typeface="Calibri" pitchFamily="34" charset="-122"/>
                <a:cs typeface="Calibri" pitchFamily="34" charset="-120"/>
              </a:rPr>
              <a:t>NO on an item → BEFORE photo + location + action.</a:t>
            </a:r>
            <a:endParaRPr lang="en-US" sz="1300" dirty="0"/>
          </a:p>
          <a:p>
            <a:pPr marL="228600" indent="-228600">
              <a:spcAft>
                <a:spcPts val="600"/>
              </a:spcAft>
              <a:buSzPct val="100000"/>
              <a:buFont typeface="+mj-lt"/>
              <a:buAutoNum type="arabicPeriod" startAt="1"/>
            </a:pPr>
            <a:r>
              <a:rPr lang="en-US" sz="1300" dirty="0">
                <a:solidFill>
                  <a:srgbClr val="1F2937"/>
                </a:solidFill>
                <a:latin typeface="Calibri" pitchFamily="34" charset="0"/>
                <a:ea typeface="Calibri" pitchFamily="34" charset="-122"/>
                <a:cs typeface="Calibri" pitchFamily="34" charset="-120"/>
              </a:rPr>
              <a:t>Save Report.</a:t>
            </a:r>
            <a:endParaRPr lang="en-US" sz="1300" dirty="0"/>
          </a:p>
          <a:p>
            <a:pPr marL="228600" indent="-228600">
              <a:spcAft>
                <a:spcPts val="600"/>
              </a:spcAft>
              <a:buSzPct val="100000"/>
              <a:buFont typeface="+mj-lt"/>
              <a:buAutoNum type="arabicPeriod" startAt="1"/>
            </a:pPr>
            <a:r>
              <a:rPr lang="en-US" sz="1300" dirty="0">
                <a:solidFill>
                  <a:srgbClr val="1F2937"/>
                </a:solidFill>
                <a:latin typeface="Calibri" pitchFamily="34" charset="0"/>
                <a:ea typeface="Calibri" pitchFamily="34" charset="-122"/>
                <a:cs typeface="Calibri" pitchFamily="34" charset="-120"/>
              </a:rPr>
              <a:t>Analytics → Follow-ups: Remind, Resolve, Put back.</a:t>
            </a:r>
            <a:endParaRPr lang="en-US" sz="1300" dirty="0"/>
          </a:p>
          <a:p>
            <a:pPr marL="228600" indent="-228600">
              <a:spcAft>
                <a:spcPts val="600"/>
              </a:spcAft>
              <a:buSzPct val="100000"/>
              <a:buFont typeface="+mj-lt"/>
              <a:buAutoNum type="arabicPeriod" startAt="1"/>
            </a:pPr>
            <a:r>
              <a:rPr lang="en-US" sz="1300" dirty="0">
                <a:solidFill>
                  <a:srgbClr val="1F2937"/>
                </a:solidFill>
                <a:latin typeface="Calibri" pitchFamily="34" charset="0"/>
                <a:ea typeface="Calibri" pitchFamily="34" charset="-122"/>
                <a:cs typeface="Calibri" pitchFamily="34" charset="-120"/>
              </a:rPr>
              <a:t>Analytics → Temps: who logged, Text all missed.</a:t>
            </a:r>
            <a:endParaRPr lang="en-US" sz="1300" dirty="0"/>
          </a:p>
          <a:p>
            <a:pPr marL="228600" indent="-228600">
              <a:spcAft>
                <a:spcPts val="600"/>
              </a:spcAft>
              <a:buSzPct val="100000"/>
              <a:buFont typeface="+mj-lt"/>
              <a:buAutoNum type="arabicPeriod" startAt="1"/>
            </a:pPr>
            <a:r>
              <a:rPr lang="en-US" sz="1300" dirty="0">
                <a:solidFill>
                  <a:srgbClr val="1F2937"/>
                </a:solidFill>
                <a:latin typeface="Calibri" pitchFamily="34" charset="0"/>
                <a:ea typeface="Calibri" pitchFamily="34" charset="-122"/>
                <a:cs typeface="Calibri" pitchFamily="34" charset="-120"/>
              </a:rPr>
              <a:t>Select → 📸 Before &amp; After when you need proof.</a:t>
            </a:r>
            <a:endParaRPr lang="en-US" sz="1300" dirty="0"/>
          </a:p>
        </p:txBody>
      </p:sp>
      <p:sp>
        <p:nvSpPr>
          <p:cNvPr id="11" name="Text 9"/>
          <p:cNvSpPr/>
          <p:nvPr/>
        </p:nvSpPr>
        <p:spPr>
          <a:xfrm>
            <a:off x="4937760" y="1874520"/>
            <a:ext cx="3566160" cy="2651760"/>
          </a:xfrm>
          <a:prstGeom prst="rect">
            <a:avLst/>
          </a:prstGeom>
          <a:noFill/>
          <a:ln/>
        </p:spPr>
        <p:txBody>
          <a:bodyPr wrap="square" lIns="0" tIns="0" rIns="0" bIns="0" rtlCol="0" anchor="t">
            <a:normAutofit/>
          </a:bodyPr>
          <a:lstStyle/>
          <a:p>
            <a:pPr marL="228600" indent="-228600">
              <a:spcAft>
                <a:spcPts val="600"/>
              </a:spcAft>
              <a:buSzPct val="100000"/>
              <a:buFont typeface="+mj-lt"/>
              <a:buAutoNum type="arabicPeriod" startAt="1"/>
            </a:pPr>
            <a:r>
              <a:rPr lang="en-US" sz="1300" dirty="0">
                <a:solidFill>
                  <a:srgbClr val="1F2937"/>
                </a:solidFill>
                <a:latin typeface="Calibri" pitchFamily="34" charset="0"/>
                <a:ea typeface="Calibri" pitchFamily="34" charset="-122"/>
                <a:cs typeface="Calibri" pitchFamily="34" charset="-120"/>
              </a:rPr>
              <a:t>on site → 📷 Escanea el cartel del puesto.</a:t>
            </a:r>
            <a:endParaRPr lang="en-US" sz="1300" dirty="0"/>
          </a:p>
          <a:p>
            <a:pPr marL="228600" indent="-228600">
              <a:spcAft>
                <a:spcPts val="600"/>
              </a:spcAft>
              <a:buSzPct val="100000"/>
              <a:buFont typeface="+mj-lt"/>
              <a:buAutoNum type="arabicPeriod" startAt="1"/>
            </a:pPr>
            <a:r>
              <a:rPr lang="en-US" sz="1300" dirty="0">
                <a:solidFill>
                  <a:srgbClr val="1F2937"/>
                </a:solidFill>
                <a:latin typeface="Calibri" pitchFamily="34" charset="0"/>
                <a:ea typeface="Calibri" pitchFamily="34" charset="-122"/>
                <a:cs typeface="Calibri" pitchFamily="34" charset="-120"/>
              </a:rPr>
              <a:t>NO en un punto → foto BEFORE + ubicación + acción.</a:t>
            </a:r>
            <a:endParaRPr lang="en-US" sz="1300" dirty="0"/>
          </a:p>
          <a:p>
            <a:pPr marL="228600" indent="-228600">
              <a:spcAft>
                <a:spcPts val="600"/>
              </a:spcAft>
              <a:buSzPct val="100000"/>
              <a:buFont typeface="+mj-lt"/>
              <a:buAutoNum type="arabicPeriod" startAt="1"/>
            </a:pPr>
            <a:r>
              <a:rPr lang="en-US" sz="1300" dirty="0">
                <a:solidFill>
                  <a:srgbClr val="1F2937"/>
                </a:solidFill>
                <a:latin typeface="Calibri" pitchFamily="34" charset="0"/>
                <a:ea typeface="Calibri" pitchFamily="34" charset="-122"/>
                <a:cs typeface="Calibri" pitchFamily="34" charset="-120"/>
              </a:rPr>
              <a:t>Guardar.</a:t>
            </a:r>
            <a:endParaRPr lang="en-US" sz="1300" dirty="0"/>
          </a:p>
          <a:p>
            <a:pPr marL="228600" indent="-228600">
              <a:spcAft>
                <a:spcPts val="600"/>
              </a:spcAft>
              <a:buSzPct val="100000"/>
              <a:buFont typeface="+mj-lt"/>
              <a:buAutoNum type="arabicPeriod" startAt="1"/>
            </a:pPr>
            <a:r>
              <a:rPr lang="en-US" sz="1300" dirty="0">
                <a:solidFill>
                  <a:srgbClr val="1F2937"/>
                </a:solidFill>
                <a:latin typeface="Calibri" pitchFamily="34" charset="0"/>
                <a:ea typeface="Calibri" pitchFamily="34" charset="-122"/>
                <a:cs typeface="Calibri" pitchFamily="34" charset="-120"/>
              </a:rPr>
              <a:t>Analytics → Follow-ups: recordar, cerrar, regresar.</a:t>
            </a:r>
            <a:endParaRPr lang="en-US" sz="1300" dirty="0"/>
          </a:p>
          <a:p>
            <a:pPr marL="228600" indent="-228600">
              <a:spcAft>
                <a:spcPts val="600"/>
              </a:spcAft>
              <a:buSzPct val="100000"/>
              <a:buFont typeface="+mj-lt"/>
              <a:buAutoNum type="arabicPeriod" startAt="1"/>
            </a:pPr>
            <a:r>
              <a:rPr lang="en-US" sz="1300" dirty="0">
                <a:solidFill>
                  <a:srgbClr val="1F2937"/>
                </a:solidFill>
                <a:latin typeface="Calibri" pitchFamily="34" charset="0"/>
                <a:ea typeface="Calibri" pitchFamily="34" charset="-122"/>
                <a:cs typeface="Calibri" pitchFamily="34" charset="-120"/>
              </a:rPr>
              <a:t>Analytics → Temps: quién registró, Text all missed.</a:t>
            </a:r>
            <a:endParaRPr lang="en-US" sz="1300" dirty="0"/>
          </a:p>
          <a:p>
            <a:pPr marL="228600" indent="-228600">
              <a:spcAft>
                <a:spcPts val="600"/>
              </a:spcAft>
              <a:buSzPct val="100000"/>
              <a:buFont typeface="+mj-lt"/>
              <a:buAutoNum type="arabicPeriod" startAt="1"/>
            </a:pPr>
            <a:r>
              <a:rPr lang="en-US" sz="1300" dirty="0">
                <a:solidFill>
                  <a:srgbClr val="1F2937"/>
                </a:solidFill>
                <a:latin typeface="Calibri" pitchFamily="34" charset="0"/>
                <a:ea typeface="Calibri" pitchFamily="34" charset="-122"/>
                <a:cs typeface="Calibri" pitchFamily="34" charset="-120"/>
              </a:rPr>
              <a:t>Select → 📸 Before &amp; After cuando necesites la prueba.</a:t>
            </a:r>
            <a:endParaRPr lang="en-US" sz="1300"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20040"/>
            <a:ext cx="1737360" cy="310896"/>
          </a:xfrm>
          <a:prstGeom prst="roundRect">
            <a:avLst>
              <a:gd name="adj" fmla="val 50000"/>
            </a:avLst>
          </a:prstGeom>
          <a:solidFill>
            <a:srgbClr val="FFD166"/>
          </a:solidFill>
          <a:ln w="12700">
            <a:solidFill>
              <a:srgbClr val="FFD166"/>
            </a:solidFill>
            <a:prstDash val="solid"/>
          </a:ln>
        </p:spPr>
      </p:sp>
      <p:sp>
        <p:nvSpPr>
          <p:cNvPr id="3" name="Text 1"/>
          <p:cNvSpPr/>
          <p:nvPr/>
        </p:nvSpPr>
        <p:spPr>
          <a:xfrm>
            <a:off x="457200" y="320040"/>
            <a:ext cx="1737360" cy="310896"/>
          </a:xfrm>
          <a:prstGeom prst="rect">
            <a:avLst/>
          </a:prstGeom>
          <a:noFill/>
          <a:ln/>
        </p:spPr>
        <p:txBody>
          <a:bodyPr wrap="square" lIns="0" tIns="0" rIns="0" bIns="0" rtlCol="0" anchor="ctr"/>
          <a:lstStyle/>
          <a:p>
            <a:pPr algn="ctr" indent="0" marL="0">
              <a:buNone/>
            </a:pPr>
            <a:r>
              <a:rPr lang="en-US" sz="1000" b="1" spc="100" kern="0" dirty="0">
                <a:solidFill>
                  <a:srgbClr val="0F1F3D"/>
                </a:solidFill>
                <a:latin typeface="Arial" pitchFamily="34" charset="0"/>
                <a:ea typeface="Arial" pitchFamily="34" charset="-122"/>
                <a:cs typeface="Arial" pitchFamily="34" charset="-120"/>
              </a:rPr>
              <a:t>STAND TEAMS</a:t>
            </a:r>
            <a:endParaRPr lang="en-US" sz="1000" dirty="0"/>
          </a:p>
        </p:txBody>
      </p:sp>
      <p:sp>
        <p:nvSpPr>
          <p:cNvPr id="4" name="Text 2"/>
          <p:cNvSpPr/>
          <p:nvPr/>
        </p:nvSpPr>
        <p:spPr>
          <a:xfrm>
            <a:off x="457200" y="713232"/>
            <a:ext cx="8229600" cy="640080"/>
          </a:xfrm>
          <a:prstGeom prst="rect">
            <a:avLst/>
          </a:prstGeom>
          <a:noFill/>
          <a:ln/>
        </p:spPr>
        <p:txBody>
          <a:bodyPr wrap="square" lIns="0" tIns="0" rIns="0" bIns="0" rtlCol="0" anchor="t">
            <a:normAutofit/>
          </a:bodyPr>
          <a:lstStyle/>
          <a:p>
            <a:pPr indent="0" marL="0">
              <a:buNone/>
            </a:pPr>
            <a:r>
              <a:rPr lang="en-US" sz="2600" b="1" dirty="0">
                <a:solidFill>
                  <a:srgbClr val="0F1F3D"/>
                </a:solidFill>
                <a:latin typeface="Arial" pitchFamily="34" charset="0"/>
                <a:ea typeface="Arial" pitchFamily="34" charset="-122"/>
                <a:cs typeface="Arial" pitchFamily="34" charset="-120"/>
              </a:rPr>
              <a:t>Stand team — your 5 taps</a:t>
            </a:r>
            <a:endParaRPr lang="en-US" sz="2600" dirty="0"/>
          </a:p>
        </p:txBody>
      </p:sp>
      <p:sp>
        <p:nvSpPr>
          <p:cNvPr id="5" name="Text 3"/>
          <p:cNvSpPr/>
          <p:nvPr/>
        </p:nvSpPr>
        <p:spPr>
          <a:xfrm>
            <a:off x="457200" y="4754880"/>
            <a:ext cx="5486400" cy="228600"/>
          </a:xfrm>
          <a:prstGeom prst="rect">
            <a:avLst/>
          </a:prstGeom>
          <a:noFill/>
          <a:ln/>
        </p:spPr>
        <p:txBody>
          <a:bodyPr wrap="square" lIns="0" tIns="0" rIns="0" bIns="0" rtlCol="0" anchor="ctr"/>
          <a:lstStyle/>
          <a:p>
            <a:pPr indent="0" marL="0">
              <a:buNone/>
            </a:pPr>
            <a:r>
              <a:rPr lang="en-US" sz="900" dirty="0">
                <a:solidFill>
                  <a:srgbClr val="6B7280"/>
                </a:solidFill>
                <a:latin typeface="Calibri" pitchFamily="34" charset="0"/>
                <a:ea typeface="Calibri" pitchFamily="34" charset="-122"/>
                <a:cs typeface="Calibri" pitchFamily="34" charset="-120"/>
              </a:rPr>
              <a:t>SDX Inspect · Stand teams · 39</a:t>
            </a:r>
            <a:endParaRPr lang="en-US" sz="900" dirty="0"/>
          </a:p>
        </p:txBody>
      </p:sp>
      <p:sp>
        <p:nvSpPr>
          <p:cNvPr id="6" name="Shape 4"/>
          <p:cNvSpPr/>
          <p:nvPr/>
        </p:nvSpPr>
        <p:spPr>
          <a:xfrm>
            <a:off x="457200" y="1463040"/>
            <a:ext cx="3977640" cy="3154680"/>
          </a:xfrm>
          <a:prstGeom prst="roundRect">
            <a:avLst>
              <a:gd name="adj" fmla="val 3478"/>
            </a:avLst>
          </a:prstGeom>
          <a:solidFill>
            <a:srgbClr val="F5F7FB"/>
          </a:solidFill>
          <a:ln w="12700">
            <a:solidFill>
              <a:srgbClr val="F5F7FB"/>
            </a:solidFill>
            <a:prstDash val="solid"/>
          </a:ln>
        </p:spPr>
      </p:sp>
      <p:sp>
        <p:nvSpPr>
          <p:cNvPr id="7" name="Shape 5"/>
          <p:cNvSpPr/>
          <p:nvPr/>
        </p:nvSpPr>
        <p:spPr>
          <a:xfrm>
            <a:off x="4709160" y="1463040"/>
            <a:ext cx="3977640" cy="3154680"/>
          </a:xfrm>
          <a:prstGeom prst="roundRect">
            <a:avLst>
              <a:gd name="adj" fmla="val 3478"/>
            </a:avLst>
          </a:prstGeom>
          <a:solidFill>
            <a:srgbClr val="F5F7FB"/>
          </a:solidFill>
          <a:ln w="12700">
            <a:solidFill>
              <a:srgbClr val="F5F7FB"/>
            </a:solidFill>
            <a:prstDash val="solid"/>
          </a:ln>
        </p:spPr>
      </p:sp>
      <p:sp>
        <p:nvSpPr>
          <p:cNvPr id="8" name="Text 6"/>
          <p:cNvSpPr/>
          <p:nvPr/>
        </p:nvSpPr>
        <p:spPr>
          <a:xfrm>
            <a:off x="685800" y="1572768"/>
            <a:ext cx="2743200" cy="274320"/>
          </a:xfrm>
          <a:prstGeom prst="rect">
            <a:avLst/>
          </a:prstGeom>
          <a:noFill/>
          <a:ln/>
        </p:spPr>
        <p:txBody>
          <a:bodyPr wrap="square" lIns="0" tIns="0" rIns="0" bIns="0" rtlCol="0" anchor="ctr"/>
          <a:lstStyle/>
          <a:p>
            <a:pPr indent="0" marL="0">
              <a:buNone/>
            </a:pPr>
            <a:r>
              <a:rPr lang="en-US" sz="1000" b="1" spc="100" kern="0" dirty="0">
                <a:solidFill>
                  <a:srgbClr val="6B7280"/>
                </a:solidFill>
                <a:latin typeface="Arial" pitchFamily="34" charset="0"/>
                <a:ea typeface="Arial" pitchFamily="34" charset="-122"/>
                <a:cs typeface="Arial" pitchFamily="34" charset="-120"/>
              </a:rPr>
              <a:t>ENGLISH</a:t>
            </a:r>
            <a:endParaRPr lang="en-US" sz="1000" dirty="0"/>
          </a:p>
        </p:txBody>
      </p:sp>
      <p:sp>
        <p:nvSpPr>
          <p:cNvPr id="9" name="Text 7"/>
          <p:cNvSpPr/>
          <p:nvPr/>
        </p:nvSpPr>
        <p:spPr>
          <a:xfrm>
            <a:off x="4937760" y="1572768"/>
            <a:ext cx="2743200" cy="274320"/>
          </a:xfrm>
          <a:prstGeom prst="rect">
            <a:avLst/>
          </a:prstGeom>
          <a:noFill/>
          <a:ln/>
        </p:spPr>
        <p:txBody>
          <a:bodyPr wrap="square" lIns="0" tIns="0" rIns="0" bIns="0" rtlCol="0" anchor="ctr"/>
          <a:lstStyle/>
          <a:p>
            <a:pPr indent="0" marL="0">
              <a:buNone/>
            </a:pPr>
            <a:r>
              <a:rPr lang="en-US" sz="1000" b="1" spc="100" kern="0" dirty="0">
                <a:solidFill>
                  <a:srgbClr val="6B7280"/>
                </a:solidFill>
                <a:latin typeface="Arial" pitchFamily="34" charset="0"/>
                <a:ea typeface="Arial" pitchFamily="34" charset="-122"/>
                <a:cs typeface="Arial" pitchFamily="34" charset="-120"/>
              </a:rPr>
              <a:t>ESPAÑOL</a:t>
            </a:r>
            <a:endParaRPr lang="en-US" sz="1000" dirty="0"/>
          </a:p>
        </p:txBody>
      </p:sp>
      <p:sp>
        <p:nvSpPr>
          <p:cNvPr id="10" name="Text 8"/>
          <p:cNvSpPr/>
          <p:nvPr/>
        </p:nvSpPr>
        <p:spPr>
          <a:xfrm>
            <a:off x="685800" y="1874520"/>
            <a:ext cx="3566160" cy="2651760"/>
          </a:xfrm>
          <a:prstGeom prst="rect">
            <a:avLst/>
          </a:prstGeom>
          <a:noFill/>
          <a:ln/>
        </p:spPr>
        <p:txBody>
          <a:bodyPr wrap="square" lIns="0" tIns="0" rIns="0" bIns="0" rtlCol="0" anchor="t">
            <a:normAutofit/>
          </a:bodyPr>
          <a:lstStyle/>
          <a:p>
            <a:pPr marL="228600" indent="-228600">
              <a:spcAft>
                <a:spcPts val="600"/>
              </a:spcAft>
              <a:buSzPct val="100000"/>
              <a:buFont typeface="+mj-lt"/>
              <a:buAutoNum type="arabicPeriod" startAt="1"/>
            </a:pPr>
            <a:r>
              <a:rPr lang="en-US" sz="1300" dirty="0">
                <a:solidFill>
                  <a:srgbClr val="1F2937"/>
                </a:solidFill>
                <a:latin typeface="Calibri" pitchFamily="34" charset="0"/>
                <a:ea typeface="Calibri" pitchFamily="34" charset="-122"/>
                <a:cs typeface="Calibri" pitchFamily="34" charset="-120"/>
              </a:rPr>
              <a:t>Scan the poster (or open the inspector's text).</a:t>
            </a:r>
            <a:endParaRPr lang="en-US" sz="1300" dirty="0"/>
          </a:p>
          <a:p>
            <a:pPr marL="228600" indent="-228600">
              <a:spcAft>
                <a:spcPts val="600"/>
              </a:spcAft>
              <a:buSzPct val="100000"/>
              <a:buFont typeface="+mj-lt"/>
              <a:buAutoNum type="arabicPeriod" startAt="1"/>
            </a:pPr>
            <a:r>
              <a:rPr lang="en-US" sz="1300" dirty="0">
                <a:solidFill>
                  <a:srgbClr val="1F2937"/>
                </a:solidFill>
                <a:latin typeface="Calibri" pitchFamily="34" charset="0"/>
                <a:ea typeface="Calibri" pitchFamily="34" charset="-122"/>
                <a:cs typeface="Calibri" pitchFamily="34" charset="-120"/>
              </a:rPr>
              <a:t>Name + phone → This is my location.</a:t>
            </a:r>
            <a:endParaRPr lang="en-US" sz="1300" dirty="0"/>
          </a:p>
          <a:p>
            <a:pPr marL="228600" indent="-228600">
              <a:spcAft>
                <a:spcPts val="600"/>
              </a:spcAft>
              <a:buSzPct val="100000"/>
              <a:buFont typeface="+mj-lt"/>
              <a:buAutoNum type="arabicPeriod" startAt="1"/>
            </a:pPr>
            <a:r>
              <a:rPr lang="en-US" sz="1300" dirty="0">
                <a:solidFill>
                  <a:srgbClr val="1F2937"/>
                </a:solidFill>
                <a:latin typeface="Calibri" pitchFamily="34" charset="0"/>
                <a:ea typeface="Calibri" pitchFamily="34" charset="-122"/>
                <a:cs typeface="Calibri" pitchFamily="34" charset="-120"/>
              </a:rPr>
              <a:t>Food temps, then your coolers. Red = reason + action.</a:t>
            </a:r>
            <a:endParaRPr lang="en-US" sz="1300" dirty="0"/>
          </a:p>
          <a:p>
            <a:pPr marL="228600" indent="-228600">
              <a:spcAft>
                <a:spcPts val="600"/>
              </a:spcAft>
              <a:buSzPct val="100000"/>
              <a:buFont typeface="+mj-lt"/>
              <a:buAutoNum type="arabicPeriod" startAt="1"/>
            </a:pPr>
            <a:r>
              <a:rPr lang="en-US" sz="1300" dirty="0">
                <a:solidFill>
                  <a:srgbClr val="1F2937"/>
                </a:solidFill>
                <a:latin typeface="Calibri" pitchFamily="34" charset="0"/>
                <a:ea typeface="Calibri" pitchFamily="34" charset="-122"/>
                <a:cs typeface="Calibri" pitchFamily="34" charset="-120"/>
              </a:rPr>
              <a:t>Problem? Write it, photo, action, Send.</a:t>
            </a:r>
            <a:endParaRPr lang="en-US" sz="1300" dirty="0"/>
          </a:p>
          <a:p>
            <a:pPr marL="228600" indent="-228600">
              <a:spcAft>
                <a:spcPts val="600"/>
              </a:spcAft>
              <a:buSzPct val="100000"/>
              <a:buFont typeface="+mj-lt"/>
              <a:buAutoNum type="arabicPeriod" startAt="1"/>
            </a:pPr>
            <a:r>
              <a:rPr lang="en-US" sz="1300" dirty="0">
                <a:solidFill>
                  <a:srgbClr val="1F2937"/>
                </a:solidFill>
                <a:latin typeface="Calibri" pitchFamily="34" charset="0"/>
                <a:ea typeface="Calibri" pitchFamily="34" charset="-122"/>
                <a:cs typeface="Calibri" pitchFamily="34" charset="-120"/>
              </a:rPr>
              <a:t>✎ Edit this unit if a cooler moved or is gone.</a:t>
            </a:r>
            <a:endParaRPr lang="en-US" sz="1300" dirty="0"/>
          </a:p>
        </p:txBody>
      </p:sp>
      <p:sp>
        <p:nvSpPr>
          <p:cNvPr id="11" name="Text 9"/>
          <p:cNvSpPr/>
          <p:nvPr/>
        </p:nvSpPr>
        <p:spPr>
          <a:xfrm>
            <a:off x="4937760" y="1874520"/>
            <a:ext cx="3566160" cy="2651760"/>
          </a:xfrm>
          <a:prstGeom prst="rect">
            <a:avLst/>
          </a:prstGeom>
          <a:noFill/>
          <a:ln/>
        </p:spPr>
        <p:txBody>
          <a:bodyPr wrap="square" lIns="0" tIns="0" rIns="0" bIns="0" rtlCol="0" anchor="t">
            <a:normAutofit/>
          </a:bodyPr>
          <a:lstStyle/>
          <a:p>
            <a:pPr marL="228600" indent="-228600">
              <a:spcAft>
                <a:spcPts val="600"/>
              </a:spcAft>
              <a:buSzPct val="100000"/>
              <a:buFont typeface="+mj-lt"/>
              <a:buAutoNum type="arabicPeriod" startAt="1"/>
            </a:pPr>
            <a:r>
              <a:rPr lang="en-US" sz="1300" dirty="0">
                <a:solidFill>
                  <a:srgbClr val="1F2937"/>
                </a:solidFill>
                <a:latin typeface="Calibri" pitchFamily="34" charset="0"/>
                <a:ea typeface="Calibri" pitchFamily="34" charset="-122"/>
                <a:cs typeface="Calibri" pitchFamily="34" charset="-120"/>
              </a:rPr>
              <a:t>Escanea el cartel (o abre el texto del inspector).</a:t>
            </a:r>
            <a:endParaRPr lang="en-US" sz="1300" dirty="0"/>
          </a:p>
          <a:p>
            <a:pPr marL="228600" indent="-228600">
              <a:spcAft>
                <a:spcPts val="600"/>
              </a:spcAft>
              <a:buSzPct val="100000"/>
              <a:buFont typeface="+mj-lt"/>
              <a:buAutoNum type="arabicPeriod" startAt="1"/>
            </a:pPr>
            <a:r>
              <a:rPr lang="en-US" sz="1300" dirty="0">
                <a:solidFill>
                  <a:srgbClr val="1F2937"/>
                </a:solidFill>
                <a:latin typeface="Calibri" pitchFamily="34" charset="0"/>
                <a:ea typeface="Calibri" pitchFamily="34" charset="-122"/>
                <a:cs typeface="Calibri" pitchFamily="34" charset="-120"/>
              </a:rPr>
              <a:t>Nombre + teléfono → This is my location.</a:t>
            </a:r>
            <a:endParaRPr lang="en-US" sz="1300" dirty="0"/>
          </a:p>
          <a:p>
            <a:pPr marL="228600" indent="-228600">
              <a:spcAft>
                <a:spcPts val="600"/>
              </a:spcAft>
              <a:buSzPct val="100000"/>
              <a:buFont typeface="+mj-lt"/>
              <a:buAutoNum type="arabicPeriod" startAt="1"/>
            </a:pPr>
            <a:r>
              <a:rPr lang="en-US" sz="1300" dirty="0">
                <a:solidFill>
                  <a:srgbClr val="1F2937"/>
                </a:solidFill>
                <a:latin typeface="Calibri" pitchFamily="34" charset="0"/>
                <a:ea typeface="Calibri" pitchFamily="34" charset="-122"/>
                <a:cs typeface="Calibri" pitchFamily="34" charset="-120"/>
              </a:rPr>
              <a:t>Temperaturas de comida, luego tus neveras. Rojo = razón + acción.</a:t>
            </a:r>
            <a:endParaRPr lang="en-US" sz="1300" dirty="0"/>
          </a:p>
          <a:p>
            <a:pPr marL="228600" indent="-228600">
              <a:spcAft>
                <a:spcPts val="600"/>
              </a:spcAft>
              <a:buSzPct val="100000"/>
              <a:buFont typeface="+mj-lt"/>
              <a:buAutoNum type="arabicPeriod" startAt="1"/>
            </a:pPr>
            <a:r>
              <a:rPr lang="en-US" sz="1300" dirty="0">
                <a:solidFill>
                  <a:srgbClr val="1F2937"/>
                </a:solidFill>
                <a:latin typeface="Calibri" pitchFamily="34" charset="0"/>
                <a:ea typeface="Calibri" pitchFamily="34" charset="-122"/>
                <a:cs typeface="Calibri" pitchFamily="34" charset="-120"/>
              </a:rPr>
              <a:t>¿Problema? Escríbelo, foto, acción, Send.</a:t>
            </a:r>
            <a:endParaRPr lang="en-US" sz="1300" dirty="0"/>
          </a:p>
          <a:p>
            <a:pPr marL="228600" indent="-228600">
              <a:spcAft>
                <a:spcPts val="600"/>
              </a:spcAft>
              <a:buSzPct val="100000"/>
              <a:buFont typeface="+mj-lt"/>
              <a:buAutoNum type="arabicPeriod" startAt="1"/>
            </a:pPr>
            <a:r>
              <a:rPr lang="en-US" sz="1300" dirty="0">
                <a:solidFill>
                  <a:srgbClr val="1F2937"/>
                </a:solidFill>
                <a:latin typeface="Calibri" pitchFamily="34" charset="0"/>
                <a:ea typeface="Calibri" pitchFamily="34" charset="-122"/>
                <a:cs typeface="Calibri" pitchFamily="34" charset="-120"/>
              </a:rPr>
              <a:t>✎ Editar si una nevera se movió o ya no está.</a:t>
            </a:r>
            <a:endParaRPr lang="en-US" sz="1300"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20040"/>
            <a:ext cx="1737360" cy="310896"/>
          </a:xfrm>
          <a:prstGeom prst="roundRect">
            <a:avLst>
              <a:gd name="adj" fmla="val 50000"/>
            </a:avLst>
          </a:prstGeom>
          <a:solidFill>
            <a:srgbClr val="2563EB"/>
          </a:solidFill>
          <a:ln w="12700">
            <a:solidFill>
              <a:srgbClr val="2563EB"/>
            </a:solidFill>
            <a:prstDash val="solid"/>
          </a:ln>
        </p:spPr>
      </p:sp>
      <p:sp>
        <p:nvSpPr>
          <p:cNvPr id="3" name="Text 1"/>
          <p:cNvSpPr/>
          <p:nvPr/>
        </p:nvSpPr>
        <p:spPr>
          <a:xfrm>
            <a:off x="457200" y="320040"/>
            <a:ext cx="1737360" cy="310896"/>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Arial" pitchFamily="34" charset="0"/>
                <a:ea typeface="Arial" pitchFamily="34" charset="-122"/>
                <a:cs typeface="Arial" pitchFamily="34" charset="-120"/>
              </a:rPr>
              <a:t>MAINTENANCE</a:t>
            </a:r>
            <a:endParaRPr lang="en-US" sz="1000" dirty="0"/>
          </a:p>
        </p:txBody>
      </p:sp>
      <p:sp>
        <p:nvSpPr>
          <p:cNvPr id="4" name="Text 2"/>
          <p:cNvSpPr/>
          <p:nvPr/>
        </p:nvSpPr>
        <p:spPr>
          <a:xfrm>
            <a:off x="457200" y="713232"/>
            <a:ext cx="8229600" cy="640080"/>
          </a:xfrm>
          <a:prstGeom prst="rect">
            <a:avLst/>
          </a:prstGeom>
          <a:noFill/>
          <a:ln/>
        </p:spPr>
        <p:txBody>
          <a:bodyPr wrap="square" lIns="0" tIns="0" rIns="0" bIns="0" rtlCol="0" anchor="t">
            <a:normAutofit/>
          </a:bodyPr>
          <a:lstStyle/>
          <a:p>
            <a:pPr indent="0" marL="0">
              <a:buNone/>
            </a:pPr>
            <a:r>
              <a:rPr lang="en-US" sz="2600" b="1" dirty="0">
                <a:solidFill>
                  <a:srgbClr val="0F1F3D"/>
                </a:solidFill>
                <a:latin typeface="Arial" pitchFamily="34" charset="0"/>
                <a:ea typeface="Arial" pitchFamily="34" charset="-122"/>
                <a:cs typeface="Arial" pitchFamily="34" charset="-120"/>
              </a:rPr>
              <a:t>Crews — your 5 taps</a:t>
            </a:r>
            <a:endParaRPr lang="en-US" sz="2600" dirty="0"/>
          </a:p>
        </p:txBody>
      </p:sp>
      <p:sp>
        <p:nvSpPr>
          <p:cNvPr id="5" name="Text 3"/>
          <p:cNvSpPr/>
          <p:nvPr/>
        </p:nvSpPr>
        <p:spPr>
          <a:xfrm>
            <a:off x="457200" y="4754880"/>
            <a:ext cx="5486400" cy="228600"/>
          </a:xfrm>
          <a:prstGeom prst="rect">
            <a:avLst/>
          </a:prstGeom>
          <a:noFill/>
          <a:ln/>
        </p:spPr>
        <p:txBody>
          <a:bodyPr wrap="square" lIns="0" tIns="0" rIns="0" bIns="0" rtlCol="0" anchor="ctr"/>
          <a:lstStyle/>
          <a:p>
            <a:pPr indent="0" marL="0">
              <a:buNone/>
            </a:pPr>
            <a:r>
              <a:rPr lang="en-US" sz="900" dirty="0">
                <a:solidFill>
                  <a:srgbClr val="6B7280"/>
                </a:solidFill>
                <a:latin typeface="Calibri" pitchFamily="34" charset="0"/>
                <a:ea typeface="Calibri" pitchFamily="34" charset="-122"/>
                <a:cs typeface="Calibri" pitchFamily="34" charset="-120"/>
              </a:rPr>
              <a:t>SDX Inspect · Maintenance · 40</a:t>
            </a:r>
            <a:endParaRPr lang="en-US" sz="900" dirty="0"/>
          </a:p>
        </p:txBody>
      </p:sp>
      <p:sp>
        <p:nvSpPr>
          <p:cNvPr id="6" name="Shape 4"/>
          <p:cNvSpPr/>
          <p:nvPr/>
        </p:nvSpPr>
        <p:spPr>
          <a:xfrm>
            <a:off x="457200" y="1463040"/>
            <a:ext cx="3977640" cy="3154680"/>
          </a:xfrm>
          <a:prstGeom prst="roundRect">
            <a:avLst>
              <a:gd name="adj" fmla="val 3478"/>
            </a:avLst>
          </a:prstGeom>
          <a:solidFill>
            <a:srgbClr val="F5F7FB"/>
          </a:solidFill>
          <a:ln w="12700">
            <a:solidFill>
              <a:srgbClr val="F5F7FB"/>
            </a:solidFill>
            <a:prstDash val="solid"/>
          </a:ln>
        </p:spPr>
      </p:sp>
      <p:sp>
        <p:nvSpPr>
          <p:cNvPr id="7" name="Shape 5"/>
          <p:cNvSpPr/>
          <p:nvPr/>
        </p:nvSpPr>
        <p:spPr>
          <a:xfrm>
            <a:off x="4709160" y="1463040"/>
            <a:ext cx="3977640" cy="3154680"/>
          </a:xfrm>
          <a:prstGeom prst="roundRect">
            <a:avLst>
              <a:gd name="adj" fmla="val 3478"/>
            </a:avLst>
          </a:prstGeom>
          <a:solidFill>
            <a:srgbClr val="F5F7FB"/>
          </a:solidFill>
          <a:ln w="12700">
            <a:solidFill>
              <a:srgbClr val="F5F7FB"/>
            </a:solidFill>
            <a:prstDash val="solid"/>
          </a:ln>
        </p:spPr>
      </p:sp>
      <p:sp>
        <p:nvSpPr>
          <p:cNvPr id="8" name="Text 6"/>
          <p:cNvSpPr/>
          <p:nvPr/>
        </p:nvSpPr>
        <p:spPr>
          <a:xfrm>
            <a:off x="685800" y="1572768"/>
            <a:ext cx="2743200" cy="274320"/>
          </a:xfrm>
          <a:prstGeom prst="rect">
            <a:avLst/>
          </a:prstGeom>
          <a:noFill/>
          <a:ln/>
        </p:spPr>
        <p:txBody>
          <a:bodyPr wrap="square" lIns="0" tIns="0" rIns="0" bIns="0" rtlCol="0" anchor="ctr"/>
          <a:lstStyle/>
          <a:p>
            <a:pPr indent="0" marL="0">
              <a:buNone/>
            </a:pPr>
            <a:r>
              <a:rPr lang="en-US" sz="1000" b="1" spc="100" kern="0" dirty="0">
                <a:solidFill>
                  <a:srgbClr val="6B7280"/>
                </a:solidFill>
                <a:latin typeface="Arial" pitchFamily="34" charset="0"/>
                <a:ea typeface="Arial" pitchFamily="34" charset="-122"/>
                <a:cs typeface="Arial" pitchFamily="34" charset="-120"/>
              </a:rPr>
              <a:t>ENGLISH</a:t>
            </a:r>
            <a:endParaRPr lang="en-US" sz="1000" dirty="0"/>
          </a:p>
        </p:txBody>
      </p:sp>
      <p:sp>
        <p:nvSpPr>
          <p:cNvPr id="9" name="Text 7"/>
          <p:cNvSpPr/>
          <p:nvPr/>
        </p:nvSpPr>
        <p:spPr>
          <a:xfrm>
            <a:off x="4937760" y="1572768"/>
            <a:ext cx="2743200" cy="274320"/>
          </a:xfrm>
          <a:prstGeom prst="rect">
            <a:avLst/>
          </a:prstGeom>
          <a:noFill/>
          <a:ln/>
        </p:spPr>
        <p:txBody>
          <a:bodyPr wrap="square" lIns="0" tIns="0" rIns="0" bIns="0" rtlCol="0" anchor="ctr"/>
          <a:lstStyle/>
          <a:p>
            <a:pPr indent="0" marL="0">
              <a:buNone/>
            </a:pPr>
            <a:r>
              <a:rPr lang="en-US" sz="1000" b="1" spc="100" kern="0" dirty="0">
                <a:solidFill>
                  <a:srgbClr val="6B7280"/>
                </a:solidFill>
                <a:latin typeface="Arial" pitchFamily="34" charset="0"/>
                <a:ea typeface="Arial" pitchFamily="34" charset="-122"/>
                <a:cs typeface="Arial" pitchFamily="34" charset="-120"/>
              </a:rPr>
              <a:t>ESPAÑOL</a:t>
            </a:r>
            <a:endParaRPr lang="en-US" sz="1000" dirty="0"/>
          </a:p>
        </p:txBody>
      </p:sp>
      <p:sp>
        <p:nvSpPr>
          <p:cNvPr id="10" name="Text 8"/>
          <p:cNvSpPr/>
          <p:nvPr/>
        </p:nvSpPr>
        <p:spPr>
          <a:xfrm>
            <a:off x="685800" y="1874520"/>
            <a:ext cx="3566160" cy="2651760"/>
          </a:xfrm>
          <a:prstGeom prst="rect">
            <a:avLst/>
          </a:prstGeom>
          <a:noFill/>
          <a:ln/>
        </p:spPr>
        <p:txBody>
          <a:bodyPr wrap="square" lIns="0" tIns="0" rIns="0" bIns="0" rtlCol="0" anchor="t">
            <a:normAutofit/>
          </a:bodyPr>
          <a:lstStyle/>
          <a:p>
            <a:pPr marL="228600" indent="-228600">
              <a:spcAft>
                <a:spcPts val="600"/>
              </a:spcAft>
              <a:buSzPct val="100000"/>
              <a:buFont typeface="+mj-lt"/>
              <a:buAutoNum type="arabicPeriod" startAt="1"/>
            </a:pPr>
            <a:r>
              <a:rPr lang="en-US" sz="1300" dirty="0">
                <a:solidFill>
                  <a:srgbClr val="1F2937"/>
                </a:solidFill>
                <a:latin typeface="Calibri" pitchFamily="34" charset="0"/>
                <a:ea typeface="Calibri" pitchFamily="34" charset="-122"/>
                <a:cs typeface="Calibri" pitchFamily="34" charset="-120"/>
              </a:rPr>
              <a:t>Open the link, pick your language.</a:t>
            </a:r>
            <a:endParaRPr lang="en-US" sz="1300" dirty="0"/>
          </a:p>
          <a:p>
            <a:pPr marL="228600" indent="-228600">
              <a:spcAft>
                <a:spcPts val="600"/>
              </a:spcAft>
              <a:buSzPct val="100000"/>
              <a:buFont typeface="+mj-lt"/>
              <a:buAutoNum type="arabicPeriod" startAt="1"/>
            </a:pPr>
            <a:r>
              <a:rPr lang="en-US" sz="1300" dirty="0">
                <a:solidFill>
                  <a:srgbClr val="1F2937"/>
                </a:solidFill>
                <a:latin typeface="Calibri" pitchFamily="34" charset="0"/>
                <a:ea typeface="Calibri" pitchFamily="34" charset="-122"/>
                <a:cs typeface="Calibri" pitchFamily="34" charset="-120"/>
              </a:rPr>
              <a:t>Read the card: stand, unit, BEFORE photo.</a:t>
            </a:r>
            <a:endParaRPr lang="en-US" sz="1300" dirty="0"/>
          </a:p>
          <a:p>
            <a:pPr marL="228600" indent="-228600">
              <a:spcAft>
                <a:spcPts val="600"/>
              </a:spcAft>
              <a:buSzPct val="100000"/>
              <a:buFont typeface="+mj-lt"/>
              <a:buAutoNum type="arabicPeriod" startAt="1"/>
            </a:pPr>
            <a:r>
              <a:rPr lang="en-US" sz="1300" dirty="0">
                <a:solidFill>
                  <a:srgbClr val="1F2937"/>
                </a:solidFill>
                <a:latin typeface="Calibri" pitchFamily="34" charset="0"/>
                <a:ea typeface="Calibri" pitchFamily="34" charset="-122"/>
                <a:cs typeface="Calibri" pitchFamily="34" charset="-120"/>
              </a:rPr>
              <a:t>🔧 In process → Send.</a:t>
            </a:r>
            <a:endParaRPr lang="en-US" sz="1300" dirty="0"/>
          </a:p>
          <a:p>
            <a:pPr marL="228600" indent="-228600">
              <a:spcAft>
                <a:spcPts val="600"/>
              </a:spcAft>
              <a:buSzPct val="100000"/>
              <a:buFont typeface="+mj-lt"/>
              <a:buAutoNum type="arabicPeriod" startAt="1"/>
            </a:pPr>
            <a:r>
              <a:rPr lang="en-US" sz="1300" dirty="0">
                <a:solidFill>
                  <a:srgbClr val="1F2937"/>
                </a:solidFill>
                <a:latin typeface="Calibri" pitchFamily="34" charset="0"/>
                <a:ea typeface="Calibri" pitchFamily="34" charset="-122"/>
                <a:cs typeface="Calibri" pitchFamily="34" charset="-120"/>
              </a:rPr>
              <a:t>📷 AFTER photo → ✅ Fixed → one line → Send.</a:t>
            </a:r>
            <a:endParaRPr lang="en-US" sz="1300" dirty="0"/>
          </a:p>
          <a:p>
            <a:pPr marL="228600" indent="-228600">
              <a:spcAft>
                <a:spcPts val="600"/>
              </a:spcAft>
              <a:buSzPct val="100000"/>
              <a:buFont typeface="+mj-lt"/>
              <a:buAutoNum type="arabicPeriod" startAt="1"/>
            </a:pPr>
            <a:r>
              <a:rPr lang="en-US" sz="1300" dirty="0">
                <a:solidFill>
                  <a:srgbClr val="1F2937"/>
                </a:solidFill>
                <a:latin typeface="Calibri" pitchFamily="34" charset="0"/>
                <a:ea typeface="Calibri" pitchFamily="34" charset="-122"/>
                <a:cs typeface="Calibri" pitchFamily="34" charset="-120"/>
              </a:rPr>
              <a:t>Not yours? Not mine → move.</a:t>
            </a:r>
            <a:endParaRPr lang="en-US" sz="1300" dirty="0"/>
          </a:p>
        </p:txBody>
      </p:sp>
      <p:sp>
        <p:nvSpPr>
          <p:cNvPr id="11" name="Text 9"/>
          <p:cNvSpPr/>
          <p:nvPr/>
        </p:nvSpPr>
        <p:spPr>
          <a:xfrm>
            <a:off x="4937760" y="1874520"/>
            <a:ext cx="3566160" cy="2651760"/>
          </a:xfrm>
          <a:prstGeom prst="rect">
            <a:avLst/>
          </a:prstGeom>
          <a:noFill/>
          <a:ln/>
        </p:spPr>
        <p:txBody>
          <a:bodyPr wrap="square" lIns="0" tIns="0" rIns="0" bIns="0" rtlCol="0" anchor="t">
            <a:normAutofit/>
          </a:bodyPr>
          <a:lstStyle/>
          <a:p>
            <a:pPr marL="228600" indent="-228600">
              <a:spcAft>
                <a:spcPts val="600"/>
              </a:spcAft>
              <a:buSzPct val="100000"/>
              <a:buFont typeface="+mj-lt"/>
              <a:buAutoNum type="arabicPeriod" startAt="1"/>
            </a:pPr>
            <a:r>
              <a:rPr lang="en-US" sz="1300" dirty="0">
                <a:solidFill>
                  <a:srgbClr val="1F2937"/>
                </a:solidFill>
                <a:latin typeface="Calibri" pitchFamily="34" charset="0"/>
                <a:ea typeface="Calibri" pitchFamily="34" charset="-122"/>
                <a:cs typeface="Calibri" pitchFamily="34" charset="-120"/>
              </a:rPr>
              <a:t>Abre el enlace, elige tu idioma.</a:t>
            </a:r>
            <a:endParaRPr lang="en-US" sz="1300" dirty="0"/>
          </a:p>
          <a:p>
            <a:pPr marL="228600" indent="-228600">
              <a:spcAft>
                <a:spcPts val="600"/>
              </a:spcAft>
              <a:buSzPct val="100000"/>
              <a:buFont typeface="+mj-lt"/>
              <a:buAutoNum type="arabicPeriod" startAt="1"/>
            </a:pPr>
            <a:r>
              <a:rPr lang="en-US" sz="1300" dirty="0">
                <a:solidFill>
                  <a:srgbClr val="1F2937"/>
                </a:solidFill>
                <a:latin typeface="Calibri" pitchFamily="34" charset="0"/>
                <a:ea typeface="Calibri" pitchFamily="34" charset="-122"/>
                <a:cs typeface="Calibri" pitchFamily="34" charset="-120"/>
              </a:rPr>
              <a:t>Lee la tarjeta: puesto, unidad, foto BEFORE.</a:t>
            </a:r>
            <a:endParaRPr lang="en-US" sz="1300" dirty="0"/>
          </a:p>
          <a:p>
            <a:pPr marL="228600" indent="-228600">
              <a:spcAft>
                <a:spcPts val="600"/>
              </a:spcAft>
              <a:buSzPct val="100000"/>
              <a:buFont typeface="+mj-lt"/>
              <a:buAutoNum type="arabicPeriod" startAt="1"/>
            </a:pPr>
            <a:r>
              <a:rPr lang="en-US" sz="1300" dirty="0">
                <a:solidFill>
                  <a:srgbClr val="1F2937"/>
                </a:solidFill>
                <a:latin typeface="Calibri" pitchFamily="34" charset="0"/>
                <a:ea typeface="Calibri" pitchFamily="34" charset="-122"/>
                <a:cs typeface="Calibri" pitchFamily="34" charset="-120"/>
              </a:rPr>
              <a:t>🔧 In process → Send.</a:t>
            </a:r>
            <a:endParaRPr lang="en-US" sz="1300" dirty="0"/>
          </a:p>
          <a:p>
            <a:pPr marL="228600" indent="-228600">
              <a:spcAft>
                <a:spcPts val="600"/>
              </a:spcAft>
              <a:buSzPct val="100000"/>
              <a:buFont typeface="+mj-lt"/>
              <a:buAutoNum type="arabicPeriod" startAt="1"/>
            </a:pPr>
            <a:r>
              <a:rPr lang="en-US" sz="1300" dirty="0">
                <a:solidFill>
                  <a:srgbClr val="1F2937"/>
                </a:solidFill>
                <a:latin typeface="Calibri" pitchFamily="34" charset="0"/>
                <a:ea typeface="Calibri" pitchFamily="34" charset="-122"/>
                <a:cs typeface="Calibri" pitchFamily="34" charset="-120"/>
              </a:rPr>
              <a:t>📷 Foto AFTER → ✅ Fixed → una línea → Send.</a:t>
            </a:r>
            <a:endParaRPr lang="en-US" sz="1300" dirty="0"/>
          </a:p>
          <a:p>
            <a:pPr marL="228600" indent="-228600">
              <a:spcAft>
                <a:spcPts val="600"/>
              </a:spcAft>
              <a:buSzPct val="100000"/>
              <a:buFont typeface="+mj-lt"/>
              <a:buAutoNum type="arabicPeriod" startAt="1"/>
            </a:pPr>
            <a:r>
              <a:rPr lang="en-US" sz="1300" dirty="0">
                <a:solidFill>
                  <a:srgbClr val="1F2937"/>
                </a:solidFill>
                <a:latin typeface="Calibri" pitchFamily="34" charset="0"/>
                <a:ea typeface="Calibri" pitchFamily="34" charset="-122"/>
                <a:cs typeface="Calibri" pitchFamily="34" charset="-120"/>
              </a:rPr>
              <a:t>¿No es tuyo? Not mine → move.</a:t>
            </a:r>
            <a:endParaRPr lang="en-US" sz="1300"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20040"/>
            <a:ext cx="1737360" cy="310896"/>
          </a:xfrm>
          <a:prstGeom prst="roundRect">
            <a:avLst>
              <a:gd name="adj" fmla="val 50000"/>
            </a:avLst>
          </a:prstGeom>
          <a:solidFill>
            <a:srgbClr val="4B5563"/>
          </a:solidFill>
          <a:ln w="12700">
            <a:solidFill>
              <a:srgbClr val="4B5563"/>
            </a:solidFill>
            <a:prstDash val="solid"/>
          </a:ln>
        </p:spPr>
      </p:sp>
      <p:sp>
        <p:nvSpPr>
          <p:cNvPr id="3" name="Text 1"/>
          <p:cNvSpPr/>
          <p:nvPr/>
        </p:nvSpPr>
        <p:spPr>
          <a:xfrm>
            <a:off x="457200" y="320040"/>
            <a:ext cx="1737360" cy="310896"/>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Arial" pitchFamily="34" charset="0"/>
                <a:ea typeface="Arial" pitchFamily="34" charset="-122"/>
                <a:cs typeface="Arial" pitchFamily="34" charset="-120"/>
              </a:rPr>
              <a:t>ADMIN</a:t>
            </a:r>
            <a:endParaRPr lang="en-US" sz="1000" dirty="0"/>
          </a:p>
        </p:txBody>
      </p:sp>
      <p:sp>
        <p:nvSpPr>
          <p:cNvPr id="4" name="Text 2"/>
          <p:cNvSpPr/>
          <p:nvPr/>
        </p:nvSpPr>
        <p:spPr>
          <a:xfrm>
            <a:off x="457200" y="713232"/>
            <a:ext cx="8229600" cy="640080"/>
          </a:xfrm>
          <a:prstGeom prst="rect">
            <a:avLst/>
          </a:prstGeom>
          <a:noFill/>
          <a:ln/>
        </p:spPr>
        <p:txBody>
          <a:bodyPr wrap="square" lIns="0" tIns="0" rIns="0" bIns="0" rtlCol="0" anchor="t">
            <a:normAutofit/>
          </a:bodyPr>
          <a:lstStyle/>
          <a:p>
            <a:pPr indent="0" marL="0">
              <a:buNone/>
            </a:pPr>
            <a:r>
              <a:rPr lang="en-US" sz="2600" b="1" dirty="0">
                <a:solidFill>
                  <a:srgbClr val="0F1F3D"/>
                </a:solidFill>
                <a:latin typeface="Arial" pitchFamily="34" charset="0"/>
                <a:ea typeface="Arial" pitchFamily="34" charset="-122"/>
                <a:cs typeface="Arial" pitchFamily="34" charset="-120"/>
              </a:rPr>
              <a:t>Admin — your 4 places</a:t>
            </a:r>
            <a:endParaRPr lang="en-US" sz="2600" dirty="0"/>
          </a:p>
        </p:txBody>
      </p:sp>
      <p:sp>
        <p:nvSpPr>
          <p:cNvPr id="5" name="Text 3"/>
          <p:cNvSpPr/>
          <p:nvPr/>
        </p:nvSpPr>
        <p:spPr>
          <a:xfrm>
            <a:off x="457200" y="4754880"/>
            <a:ext cx="5486400" cy="228600"/>
          </a:xfrm>
          <a:prstGeom prst="rect">
            <a:avLst/>
          </a:prstGeom>
          <a:noFill/>
          <a:ln/>
        </p:spPr>
        <p:txBody>
          <a:bodyPr wrap="square" lIns="0" tIns="0" rIns="0" bIns="0" rtlCol="0" anchor="ctr"/>
          <a:lstStyle/>
          <a:p>
            <a:pPr indent="0" marL="0">
              <a:buNone/>
            </a:pPr>
            <a:r>
              <a:rPr lang="en-US" sz="900" dirty="0">
                <a:solidFill>
                  <a:srgbClr val="6B7280"/>
                </a:solidFill>
                <a:latin typeface="Calibri" pitchFamily="34" charset="0"/>
                <a:ea typeface="Calibri" pitchFamily="34" charset="-122"/>
                <a:cs typeface="Calibri" pitchFamily="34" charset="-120"/>
              </a:rPr>
              <a:t>SDX Inspect · Admin · 41</a:t>
            </a:r>
            <a:endParaRPr lang="en-US" sz="900" dirty="0"/>
          </a:p>
        </p:txBody>
      </p:sp>
      <p:sp>
        <p:nvSpPr>
          <p:cNvPr id="6" name="Shape 4"/>
          <p:cNvSpPr/>
          <p:nvPr/>
        </p:nvSpPr>
        <p:spPr>
          <a:xfrm>
            <a:off x="457200" y="1463040"/>
            <a:ext cx="3977640" cy="3154680"/>
          </a:xfrm>
          <a:prstGeom prst="roundRect">
            <a:avLst>
              <a:gd name="adj" fmla="val 3478"/>
            </a:avLst>
          </a:prstGeom>
          <a:solidFill>
            <a:srgbClr val="F5F7FB"/>
          </a:solidFill>
          <a:ln w="12700">
            <a:solidFill>
              <a:srgbClr val="F5F7FB"/>
            </a:solidFill>
            <a:prstDash val="solid"/>
          </a:ln>
        </p:spPr>
      </p:sp>
      <p:sp>
        <p:nvSpPr>
          <p:cNvPr id="7" name="Shape 5"/>
          <p:cNvSpPr/>
          <p:nvPr/>
        </p:nvSpPr>
        <p:spPr>
          <a:xfrm>
            <a:off x="4709160" y="1463040"/>
            <a:ext cx="3977640" cy="3154680"/>
          </a:xfrm>
          <a:prstGeom prst="roundRect">
            <a:avLst>
              <a:gd name="adj" fmla="val 3478"/>
            </a:avLst>
          </a:prstGeom>
          <a:solidFill>
            <a:srgbClr val="F5F7FB"/>
          </a:solidFill>
          <a:ln w="12700">
            <a:solidFill>
              <a:srgbClr val="F5F7FB"/>
            </a:solidFill>
            <a:prstDash val="solid"/>
          </a:ln>
        </p:spPr>
      </p:sp>
      <p:sp>
        <p:nvSpPr>
          <p:cNvPr id="8" name="Text 6"/>
          <p:cNvSpPr/>
          <p:nvPr/>
        </p:nvSpPr>
        <p:spPr>
          <a:xfrm>
            <a:off x="685800" y="1572768"/>
            <a:ext cx="2743200" cy="274320"/>
          </a:xfrm>
          <a:prstGeom prst="rect">
            <a:avLst/>
          </a:prstGeom>
          <a:noFill/>
          <a:ln/>
        </p:spPr>
        <p:txBody>
          <a:bodyPr wrap="square" lIns="0" tIns="0" rIns="0" bIns="0" rtlCol="0" anchor="ctr"/>
          <a:lstStyle/>
          <a:p>
            <a:pPr indent="0" marL="0">
              <a:buNone/>
            </a:pPr>
            <a:r>
              <a:rPr lang="en-US" sz="1000" b="1" spc="100" kern="0" dirty="0">
                <a:solidFill>
                  <a:srgbClr val="6B7280"/>
                </a:solidFill>
                <a:latin typeface="Arial" pitchFamily="34" charset="0"/>
                <a:ea typeface="Arial" pitchFamily="34" charset="-122"/>
                <a:cs typeface="Arial" pitchFamily="34" charset="-120"/>
              </a:rPr>
              <a:t>ENGLISH</a:t>
            </a:r>
            <a:endParaRPr lang="en-US" sz="1000" dirty="0"/>
          </a:p>
        </p:txBody>
      </p:sp>
      <p:sp>
        <p:nvSpPr>
          <p:cNvPr id="9" name="Text 7"/>
          <p:cNvSpPr/>
          <p:nvPr/>
        </p:nvSpPr>
        <p:spPr>
          <a:xfrm>
            <a:off x="4937760" y="1572768"/>
            <a:ext cx="2743200" cy="274320"/>
          </a:xfrm>
          <a:prstGeom prst="rect">
            <a:avLst/>
          </a:prstGeom>
          <a:noFill/>
          <a:ln/>
        </p:spPr>
        <p:txBody>
          <a:bodyPr wrap="square" lIns="0" tIns="0" rIns="0" bIns="0" rtlCol="0" anchor="ctr"/>
          <a:lstStyle/>
          <a:p>
            <a:pPr indent="0" marL="0">
              <a:buNone/>
            </a:pPr>
            <a:r>
              <a:rPr lang="en-US" sz="1000" b="1" spc="100" kern="0" dirty="0">
                <a:solidFill>
                  <a:srgbClr val="6B7280"/>
                </a:solidFill>
                <a:latin typeface="Arial" pitchFamily="34" charset="0"/>
                <a:ea typeface="Arial" pitchFamily="34" charset="-122"/>
                <a:cs typeface="Arial" pitchFamily="34" charset="-120"/>
              </a:rPr>
              <a:t>ESPAÑOL</a:t>
            </a:r>
            <a:endParaRPr lang="en-US" sz="1000" dirty="0"/>
          </a:p>
        </p:txBody>
      </p:sp>
      <p:sp>
        <p:nvSpPr>
          <p:cNvPr id="10" name="Text 8"/>
          <p:cNvSpPr/>
          <p:nvPr/>
        </p:nvSpPr>
        <p:spPr>
          <a:xfrm>
            <a:off x="685800" y="1874520"/>
            <a:ext cx="3566160" cy="2651760"/>
          </a:xfrm>
          <a:prstGeom prst="rect">
            <a:avLst/>
          </a:prstGeom>
          <a:noFill/>
          <a:ln/>
        </p:spPr>
        <p:txBody>
          <a:bodyPr wrap="square" lIns="0" tIns="0" rIns="0" bIns="0" rtlCol="0" anchor="t">
            <a:normAutofit/>
          </a:bodyPr>
          <a:lstStyle/>
          <a:p>
            <a:pPr marL="228600" indent="-228600">
              <a:spcAft>
                <a:spcPts val="600"/>
              </a:spcAft>
              <a:buSzPct val="100000"/>
              <a:buFont typeface="+mj-lt"/>
              <a:buAutoNum type="arabicPeriod" startAt="1"/>
            </a:pPr>
            <a:r>
              <a:rPr lang="en-US" sz="1300" dirty="0">
                <a:solidFill>
                  <a:srgbClr val="1F2937"/>
                </a:solidFill>
                <a:latin typeface="Calibri" pitchFamily="34" charset="0"/>
                <a:ea typeface="Calibri" pitchFamily="34" charset="-122"/>
                <a:cs typeface="Calibri" pitchFamily="34" charset="-120"/>
              </a:rPr>
              <a:t>Users: approve and set roles.</a:t>
            </a:r>
            <a:endParaRPr lang="en-US" sz="1300" dirty="0"/>
          </a:p>
          <a:p>
            <a:pPr marL="228600" indent="-228600">
              <a:spcAft>
                <a:spcPts val="600"/>
              </a:spcAft>
              <a:buSzPct val="100000"/>
              <a:buFont typeface="+mj-lt"/>
              <a:buAutoNum type="arabicPeriod" startAt="1"/>
            </a:pPr>
            <a:r>
              <a:rPr lang="en-US" sz="1300" dirty="0">
                <a:solidFill>
                  <a:srgbClr val="1F2937"/>
                </a:solidFill>
                <a:latin typeface="Calibri" pitchFamily="34" charset="0"/>
                <a:ea typeface="Calibri" pitchFamily="34" charset="-122"/>
                <a:cs typeface="Calibri" pitchFamily="34" charset="-120"/>
              </a:rPr>
              <a:t>Invite links: one QR per role.</a:t>
            </a:r>
            <a:endParaRPr lang="en-US" sz="1300" dirty="0"/>
          </a:p>
          <a:p>
            <a:pPr marL="228600" indent="-228600">
              <a:spcAft>
                <a:spcPts val="600"/>
              </a:spcAft>
              <a:buSzPct val="100000"/>
              <a:buFont typeface="+mj-lt"/>
              <a:buAutoNum type="arabicPeriod" startAt="1"/>
            </a:pPr>
            <a:r>
              <a:rPr lang="en-US" sz="1300" dirty="0">
                <a:solidFill>
                  <a:srgbClr val="1F2937"/>
                </a:solidFill>
                <a:latin typeface="Calibri" pitchFamily="34" charset="0"/>
                <a:ea typeface="Calibri" pitchFamily="34" charset="-122"/>
                <a:cs typeface="Calibri" pitchFamily="34" charset="-120"/>
              </a:rPr>
              <a:t>Licenses: keep the sheet current.</a:t>
            </a:r>
            <a:endParaRPr lang="en-US" sz="1300" dirty="0"/>
          </a:p>
          <a:p>
            <a:pPr marL="228600" indent="-228600">
              <a:spcAft>
                <a:spcPts val="600"/>
              </a:spcAft>
              <a:buSzPct val="100000"/>
              <a:buFont typeface="+mj-lt"/>
              <a:buAutoNum type="arabicPeriod" startAt="1"/>
            </a:pPr>
            <a:r>
              <a:rPr lang="en-US" sz="1300" dirty="0">
                <a:solidFill>
                  <a:srgbClr val="1F2937"/>
                </a:solidFill>
                <a:latin typeface="Calibri" pitchFamily="34" charset="0"/>
                <a:ea typeface="Calibri" pitchFamily="34" charset="-122"/>
                <a:cs typeface="Calibri" pitchFamily="34" charset="-120"/>
              </a:rPr>
              <a:t>Dashboard and schedule.</a:t>
            </a:r>
            <a:endParaRPr lang="en-US" sz="1300" dirty="0"/>
          </a:p>
        </p:txBody>
      </p:sp>
      <p:sp>
        <p:nvSpPr>
          <p:cNvPr id="11" name="Text 9"/>
          <p:cNvSpPr/>
          <p:nvPr/>
        </p:nvSpPr>
        <p:spPr>
          <a:xfrm>
            <a:off x="4937760" y="1874520"/>
            <a:ext cx="3566160" cy="2651760"/>
          </a:xfrm>
          <a:prstGeom prst="rect">
            <a:avLst/>
          </a:prstGeom>
          <a:noFill/>
          <a:ln/>
        </p:spPr>
        <p:txBody>
          <a:bodyPr wrap="square" lIns="0" tIns="0" rIns="0" bIns="0" rtlCol="0" anchor="t">
            <a:normAutofit/>
          </a:bodyPr>
          <a:lstStyle/>
          <a:p>
            <a:pPr marL="228600" indent="-228600">
              <a:spcAft>
                <a:spcPts val="600"/>
              </a:spcAft>
              <a:buSzPct val="100000"/>
              <a:buFont typeface="+mj-lt"/>
              <a:buAutoNum type="arabicPeriod" startAt="1"/>
            </a:pPr>
            <a:r>
              <a:rPr lang="en-US" sz="1300" dirty="0">
                <a:solidFill>
                  <a:srgbClr val="1F2937"/>
                </a:solidFill>
                <a:latin typeface="Calibri" pitchFamily="34" charset="0"/>
                <a:ea typeface="Calibri" pitchFamily="34" charset="-122"/>
                <a:cs typeface="Calibri" pitchFamily="34" charset="-120"/>
              </a:rPr>
              <a:t>Usuarios: aprobar y asignar roles.</a:t>
            </a:r>
            <a:endParaRPr lang="en-US" sz="1300" dirty="0"/>
          </a:p>
          <a:p>
            <a:pPr marL="228600" indent="-228600">
              <a:spcAft>
                <a:spcPts val="600"/>
              </a:spcAft>
              <a:buSzPct val="100000"/>
              <a:buFont typeface="+mj-lt"/>
              <a:buAutoNum type="arabicPeriod" startAt="1"/>
            </a:pPr>
            <a:r>
              <a:rPr lang="en-US" sz="1300" dirty="0">
                <a:solidFill>
                  <a:srgbClr val="1F2937"/>
                </a:solidFill>
                <a:latin typeface="Calibri" pitchFamily="34" charset="0"/>
                <a:ea typeface="Calibri" pitchFamily="34" charset="-122"/>
                <a:cs typeface="Calibri" pitchFamily="34" charset="-120"/>
              </a:rPr>
              <a:t>Enlaces: un QR por rol.</a:t>
            </a:r>
            <a:endParaRPr lang="en-US" sz="1300" dirty="0"/>
          </a:p>
          <a:p>
            <a:pPr marL="228600" indent="-228600">
              <a:spcAft>
                <a:spcPts val="600"/>
              </a:spcAft>
              <a:buSzPct val="100000"/>
              <a:buFont typeface="+mj-lt"/>
              <a:buAutoNum type="arabicPeriod" startAt="1"/>
            </a:pPr>
            <a:r>
              <a:rPr lang="en-US" sz="1300" dirty="0">
                <a:solidFill>
                  <a:srgbClr val="1F2937"/>
                </a:solidFill>
                <a:latin typeface="Calibri" pitchFamily="34" charset="0"/>
                <a:ea typeface="Calibri" pitchFamily="34" charset="-122"/>
                <a:cs typeface="Calibri" pitchFamily="34" charset="-120"/>
              </a:rPr>
              <a:t>Licencias: mantén la hoja al día.</a:t>
            </a:r>
            <a:endParaRPr lang="en-US" sz="1300" dirty="0"/>
          </a:p>
          <a:p>
            <a:pPr marL="228600" indent="-228600">
              <a:spcAft>
                <a:spcPts val="600"/>
              </a:spcAft>
              <a:buSzPct val="100000"/>
              <a:buFont typeface="+mj-lt"/>
              <a:buAutoNum type="arabicPeriod" startAt="1"/>
            </a:pPr>
            <a:r>
              <a:rPr lang="en-US" sz="1300" dirty="0">
                <a:solidFill>
                  <a:srgbClr val="1F2937"/>
                </a:solidFill>
                <a:latin typeface="Calibri" pitchFamily="34" charset="0"/>
                <a:ea typeface="Calibri" pitchFamily="34" charset="-122"/>
                <a:cs typeface="Calibri" pitchFamily="34" charset="-120"/>
              </a:rPr>
              <a:t>Tablero y calendario.</a:t>
            </a:r>
            <a:endParaRPr lang="en-US" sz="1300"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20040"/>
            <a:ext cx="1737360" cy="310896"/>
          </a:xfrm>
          <a:prstGeom prst="roundRect">
            <a:avLst>
              <a:gd name="adj" fmla="val 50000"/>
            </a:avLst>
          </a:prstGeom>
          <a:solidFill>
            <a:srgbClr val="0F1F3D"/>
          </a:solidFill>
          <a:ln w="12700">
            <a:solidFill>
              <a:srgbClr val="0F1F3D"/>
            </a:solidFill>
            <a:prstDash val="solid"/>
          </a:ln>
        </p:spPr>
      </p:sp>
      <p:sp>
        <p:nvSpPr>
          <p:cNvPr id="3" name="Text 1"/>
          <p:cNvSpPr/>
          <p:nvPr/>
        </p:nvSpPr>
        <p:spPr>
          <a:xfrm>
            <a:off x="457200" y="320040"/>
            <a:ext cx="1737360" cy="310896"/>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Arial" pitchFamily="34" charset="0"/>
                <a:ea typeface="Arial" pitchFamily="34" charset="-122"/>
                <a:cs typeface="Arial" pitchFamily="34" charset="-120"/>
              </a:rPr>
              <a:t>EVERYONE</a:t>
            </a:r>
            <a:endParaRPr lang="en-US" sz="1000" dirty="0"/>
          </a:p>
        </p:txBody>
      </p:sp>
      <p:sp>
        <p:nvSpPr>
          <p:cNvPr id="4" name="Text 2"/>
          <p:cNvSpPr/>
          <p:nvPr/>
        </p:nvSpPr>
        <p:spPr>
          <a:xfrm>
            <a:off x="457200" y="713232"/>
            <a:ext cx="8229600" cy="640080"/>
          </a:xfrm>
          <a:prstGeom prst="rect">
            <a:avLst/>
          </a:prstGeom>
          <a:noFill/>
          <a:ln/>
        </p:spPr>
        <p:txBody>
          <a:bodyPr wrap="square" lIns="0" tIns="0" rIns="0" bIns="0" rtlCol="0" anchor="t">
            <a:normAutofit/>
          </a:bodyPr>
          <a:lstStyle/>
          <a:p>
            <a:pPr indent="0" marL="0">
              <a:buNone/>
            </a:pPr>
            <a:r>
              <a:rPr lang="en-US" sz="2600" b="1" dirty="0">
                <a:solidFill>
                  <a:srgbClr val="0F1F3D"/>
                </a:solidFill>
                <a:latin typeface="Arial" pitchFamily="34" charset="0"/>
                <a:ea typeface="Arial" pitchFamily="34" charset="-122"/>
                <a:cs typeface="Arial" pitchFamily="34" charset="-120"/>
              </a:rPr>
              <a:t>The 20-minute session, per department</a:t>
            </a:r>
            <a:endParaRPr lang="en-US" sz="2600" dirty="0"/>
          </a:p>
        </p:txBody>
      </p:sp>
      <p:sp>
        <p:nvSpPr>
          <p:cNvPr id="5" name="Text 3"/>
          <p:cNvSpPr/>
          <p:nvPr/>
        </p:nvSpPr>
        <p:spPr>
          <a:xfrm>
            <a:off x="457200" y="4754880"/>
            <a:ext cx="5486400" cy="228600"/>
          </a:xfrm>
          <a:prstGeom prst="rect">
            <a:avLst/>
          </a:prstGeom>
          <a:noFill/>
          <a:ln/>
        </p:spPr>
        <p:txBody>
          <a:bodyPr wrap="square" lIns="0" tIns="0" rIns="0" bIns="0" rtlCol="0" anchor="ctr"/>
          <a:lstStyle/>
          <a:p>
            <a:pPr indent="0" marL="0">
              <a:buNone/>
            </a:pPr>
            <a:r>
              <a:rPr lang="en-US" sz="900" dirty="0">
                <a:solidFill>
                  <a:srgbClr val="6B7280"/>
                </a:solidFill>
                <a:latin typeface="Calibri" pitchFamily="34" charset="0"/>
                <a:ea typeface="Calibri" pitchFamily="34" charset="-122"/>
                <a:cs typeface="Calibri" pitchFamily="34" charset="-120"/>
              </a:rPr>
              <a:t>SDX Inspect · Everyone · 42</a:t>
            </a:r>
            <a:endParaRPr lang="en-US" sz="900" dirty="0"/>
          </a:p>
        </p:txBody>
      </p:sp>
      <p:graphicFrame>
        <p:nvGraphicFramePr>
          <p:cNvPr id="43" name="Table 0"/>
          <p:cNvGraphicFramePr>
            <a:graphicFrameLocks noGrp="1"/>
          </p:cNvGraphicFramePr>
          <p:nvPr>
            <p:extLst>
              <p:ext uri="{D42A27DB-BD31-4B8C-83A1-F6EECF244321}">
                <p14:modId xmlns:p14="http://schemas.microsoft.com/office/powerpoint/2010/main" val="1579011935"/>
              </p:ext>
            </p:extLst>
          </p:nvPr>
        </p:nvGraphicFramePr>
        <p:xfrm>
          <a:off x="457200" y="1463040"/>
          <a:ext cx="8229600" cy="914400"/>
        </p:xfrm>
        <a:graphic>
          <a:graphicData uri="http://schemas.openxmlformats.org/drawingml/2006/table">
            <a:tbl>
              <a:tblPr/>
              <a:tblGrid>
                <a:gridCol w="1188720"/>
                <a:gridCol w="2926080"/>
                <a:gridCol w="2377440"/>
                <a:gridCol w="1737360"/>
              </a:tblGrid>
              <a:tr h="0">
                <a:tc>
                  <a:txBody>
                    <a:bodyPr/>
                    <a:lstStyle/>
                    <a:p>
                      <a:pPr indent="0" marL="0">
                        <a:buNone/>
                      </a:pPr>
                      <a:r>
                        <a:rPr lang="en-US" sz="950" b="1" dirty="0">
                          <a:solidFill>
                            <a:srgbClr val="FFFFFF"/>
                          </a:solidFill>
                          <a:latin typeface="Calibri" pitchFamily="34" charset="0"/>
                          <a:ea typeface="Calibri" pitchFamily="34" charset="-122"/>
                          <a:cs typeface="Calibri" pitchFamily="34" charset="-120"/>
                        </a:rPr>
                        <a:t>Department</a:t>
                      </a:r>
                      <a:endParaRPr lang="en-US" sz="950" dirty="0">
                        <a:latin typeface="Calibri" charset="0"/>
                        <a:ea typeface="Calibri" charset="0"/>
                        <a:cs typeface="Calibri" charset="0"/>
                      </a:endParaRPr>
                    </a:p>
                  </a:txBody>
                  <a:tcPr marL="45720" marR="45720" marT="45720" marB="45720" anchor="ctr">
                    <a:lnL w="6350" cap="flat" cmpd="sng" algn="ctr">
                      <a:solidFill>
                        <a:srgbClr val="D6DAE3"/>
                      </a:solidFill>
                      <a:prstDash val="solid"/>
                      <a:round/>
                      <a:headEnd type="none" w="med" len="med"/>
                      <a:tailEnd type="none" w="med" len="med"/>
                    </a:lnL>
                    <a:lnR w="6350" cap="flat" cmpd="sng" algn="ctr">
                      <a:solidFill>
                        <a:srgbClr val="D6DAE3"/>
                      </a:solidFill>
                      <a:prstDash val="solid"/>
                      <a:round/>
                      <a:headEnd type="none" w="med" len="med"/>
                      <a:tailEnd type="none" w="med" len="med"/>
                    </a:lnR>
                    <a:lnT w="6350" cap="flat" cmpd="sng" algn="ctr">
                      <a:solidFill>
                        <a:srgbClr val="D6DAE3"/>
                      </a:solidFill>
                      <a:prstDash val="solid"/>
                      <a:round/>
                      <a:headEnd type="none" w="med" len="med"/>
                      <a:tailEnd type="none" w="med" len="med"/>
                    </a:lnT>
                    <a:lnB w="6350" cap="flat" cmpd="sng" algn="ctr">
                      <a:solidFill>
                        <a:srgbClr val="D6DAE3"/>
                      </a:solidFill>
                      <a:prstDash val="solid"/>
                      <a:round/>
                      <a:headEnd type="none" w="med" len="med"/>
                      <a:tailEnd type="none" w="med" len="med"/>
                    </a:lnB>
                    <a:solidFill>
                      <a:srgbClr val="0F1F3D"/>
                    </a:solidFill>
                  </a:tcPr>
                </a:tc>
                <a:tc>
                  <a:txBody>
                    <a:bodyPr/>
                    <a:lstStyle/>
                    <a:p>
                      <a:pPr indent="0" marL="0">
                        <a:buNone/>
                      </a:pPr>
                      <a:r>
                        <a:rPr lang="en-US" sz="950" b="1" dirty="0">
                          <a:solidFill>
                            <a:srgbClr val="FFFFFF"/>
                          </a:solidFill>
                          <a:latin typeface="Calibri" pitchFamily="34" charset="0"/>
                          <a:ea typeface="Calibri" pitchFamily="34" charset="-122"/>
                          <a:cs typeface="Calibri" pitchFamily="34" charset="-120"/>
                        </a:rPr>
                        <a:t>Demo live (10 min)</a:t>
                      </a:r>
                      <a:endParaRPr lang="en-US" sz="950" dirty="0">
                        <a:latin typeface="Calibri" charset="0"/>
                        <a:ea typeface="Calibri" charset="0"/>
                        <a:cs typeface="Calibri" charset="0"/>
                      </a:endParaRPr>
                    </a:p>
                  </a:txBody>
                  <a:tcPr marL="45720" marR="45720" marT="45720" marB="45720" anchor="ctr">
                    <a:lnL w="6350" cap="flat" cmpd="sng" algn="ctr">
                      <a:solidFill>
                        <a:srgbClr val="D6DAE3"/>
                      </a:solidFill>
                      <a:prstDash val="solid"/>
                      <a:round/>
                      <a:headEnd type="none" w="med" len="med"/>
                      <a:tailEnd type="none" w="med" len="med"/>
                    </a:lnL>
                    <a:lnR w="6350" cap="flat" cmpd="sng" algn="ctr">
                      <a:solidFill>
                        <a:srgbClr val="D6DAE3"/>
                      </a:solidFill>
                      <a:prstDash val="solid"/>
                      <a:round/>
                      <a:headEnd type="none" w="med" len="med"/>
                      <a:tailEnd type="none" w="med" len="med"/>
                    </a:lnR>
                    <a:lnT w="6350" cap="flat" cmpd="sng" algn="ctr">
                      <a:solidFill>
                        <a:srgbClr val="D6DAE3"/>
                      </a:solidFill>
                      <a:prstDash val="solid"/>
                      <a:round/>
                      <a:headEnd type="none" w="med" len="med"/>
                      <a:tailEnd type="none" w="med" len="med"/>
                    </a:lnT>
                    <a:lnB w="6350" cap="flat" cmpd="sng" algn="ctr">
                      <a:solidFill>
                        <a:srgbClr val="D6DAE3"/>
                      </a:solidFill>
                      <a:prstDash val="solid"/>
                      <a:round/>
                      <a:headEnd type="none" w="med" len="med"/>
                      <a:tailEnd type="none" w="med" len="med"/>
                    </a:lnB>
                    <a:solidFill>
                      <a:srgbClr val="0F1F3D"/>
                    </a:solidFill>
                  </a:tcPr>
                </a:tc>
                <a:tc>
                  <a:txBody>
                    <a:bodyPr/>
                    <a:lstStyle/>
                    <a:p>
                      <a:pPr indent="0" marL="0">
                        <a:buNone/>
                      </a:pPr>
                      <a:r>
                        <a:rPr lang="en-US" sz="950" b="1" dirty="0">
                          <a:solidFill>
                            <a:srgbClr val="FFFFFF"/>
                          </a:solidFill>
                          <a:latin typeface="Calibri" pitchFamily="34" charset="0"/>
                          <a:ea typeface="Calibri" pitchFamily="34" charset="-122"/>
                          <a:cs typeface="Calibri" pitchFamily="34" charset="-120"/>
                        </a:rPr>
                        <a:t>They do it (8 min)</a:t>
                      </a:r>
                      <a:endParaRPr lang="en-US" sz="950" dirty="0">
                        <a:latin typeface="Calibri" charset="0"/>
                        <a:ea typeface="Calibri" charset="0"/>
                        <a:cs typeface="Calibri" charset="0"/>
                      </a:endParaRPr>
                    </a:p>
                  </a:txBody>
                  <a:tcPr marL="45720" marR="45720" marT="45720" marB="45720" anchor="ctr">
                    <a:lnL w="6350" cap="flat" cmpd="sng" algn="ctr">
                      <a:solidFill>
                        <a:srgbClr val="D6DAE3"/>
                      </a:solidFill>
                      <a:prstDash val="solid"/>
                      <a:round/>
                      <a:headEnd type="none" w="med" len="med"/>
                      <a:tailEnd type="none" w="med" len="med"/>
                    </a:lnL>
                    <a:lnR w="6350" cap="flat" cmpd="sng" algn="ctr">
                      <a:solidFill>
                        <a:srgbClr val="D6DAE3"/>
                      </a:solidFill>
                      <a:prstDash val="solid"/>
                      <a:round/>
                      <a:headEnd type="none" w="med" len="med"/>
                      <a:tailEnd type="none" w="med" len="med"/>
                    </a:lnR>
                    <a:lnT w="6350" cap="flat" cmpd="sng" algn="ctr">
                      <a:solidFill>
                        <a:srgbClr val="D6DAE3"/>
                      </a:solidFill>
                      <a:prstDash val="solid"/>
                      <a:round/>
                      <a:headEnd type="none" w="med" len="med"/>
                      <a:tailEnd type="none" w="med" len="med"/>
                    </a:lnT>
                    <a:lnB w="6350" cap="flat" cmpd="sng" algn="ctr">
                      <a:solidFill>
                        <a:srgbClr val="D6DAE3"/>
                      </a:solidFill>
                      <a:prstDash val="solid"/>
                      <a:round/>
                      <a:headEnd type="none" w="med" len="med"/>
                      <a:tailEnd type="none" w="med" len="med"/>
                    </a:lnB>
                    <a:solidFill>
                      <a:srgbClr val="0F1F3D"/>
                    </a:solidFill>
                  </a:tcPr>
                </a:tc>
                <a:tc>
                  <a:txBody>
                    <a:bodyPr/>
                    <a:lstStyle/>
                    <a:p>
                      <a:pPr indent="0" marL="0">
                        <a:buNone/>
                      </a:pPr>
                      <a:r>
                        <a:rPr lang="en-US" sz="950" b="1" dirty="0">
                          <a:solidFill>
                            <a:srgbClr val="FFFFFF"/>
                          </a:solidFill>
                          <a:latin typeface="Calibri" pitchFamily="34" charset="0"/>
                          <a:ea typeface="Calibri" pitchFamily="34" charset="-122"/>
                          <a:cs typeface="Calibri" pitchFamily="34" charset="-120"/>
                        </a:rPr>
                        <a:t>Check (2 min)</a:t>
                      </a:r>
                      <a:endParaRPr lang="en-US" sz="950" dirty="0">
                        <a:latin typeface="Calibri" charset="0"/>
                        <a:ea typeface="Calibri" charset="0"/>
                        <a:cs typeface="Calibri" charset="0"/>
                      </a:endParaRPr>
                    </a:p>
                  </a:txBody>
                  <a:tcPr marL="45720" marR="45720" marT="45720" marB="45720" anchor="ctr">
                    <a:lnL w="6350" cap="flat" cmpd="sng" algn="ctr">
                      <a:solidFill>
                        <a:srgbClr val="D6DAE3"/>
                      </a:solidFill>
                      <a:prstDash val="solid"/>
                      <a:round/>
                      <a:headEnd type="none" w="med" len="med"/>
                      <a:tailEnd type="none" w="med" len="med"/>
                    </a:lnL>
                    <a:lnR w="6350" cap="flat" cmpd="sng" algn="ctr">
                      <a:solidFill>
                        <a:srgbClr val="D6DAE3"/>
                      </a:solidFill>
                      <a:prstDash val="solid"/>
                      <a:round/>
                      <a:headEnd type="none" w="med" len="med"/>
                      <a:tailEnd type="none" w="med" len="med"/>
                    </a:lnR>
                    <a:lnT w="6350" cap="flat" cmpd="sng" algn="ctr">
                      <a:solidFill>
                        <a:srgbClr val="D6DAE3"/>
                      </a:solidFill>
                      <a:prstDash val="solid"/>
                      <a:round/>
                      <a:headEnd type="none" w="med" len="med"/>
                      <a:tailEnd type="none" w="med" len="med"/>
                    </a:lnT>
                    <a:lnB w="6350" cap="flat" cmpd="sng" algn="ctr">
                      <a:solidFill>
                        <a:srgbClr val="D6DAE3"/>
                      </a:solidFill>
                      <a:prstDash val="solid"/>
                      <a:round/>
                      <a:headEnd type="none" w="med" len="med"/>
                      <a:tailEnd type="none" w="med" len="med"/>
                    </a:lnB>
                    <a:solidFill>
                      <a:srgbClr val="0F1F3D"/>
                    </a:solidFill>
                  </a:tcPr>
                </a:tc>
              </a:tr>
              <a:tr h="0">
                <a:tc>
                  <a:txBody>
                    <a:bodyPr/>
                    <a:lstStyle/>
                    <a:p>
                      <a:pPr indent="0" marL="0">
                        <a:buNone/>
                      </a:pPr>
                      <a:r>
                        <a:rPr lang="en-US" sz="950" dirty="0">
                          <a:solidFill>
                            <a:srgbClr val="1F2937"/>
                          </a:solidFill>
                          <a:latin typeface="Calibri" pitchFamily="34" charset="0"/>
                          <a:ea typeface="Calibri" pitchFamily="34" charset="-122"/>
                          <a:cs typeface="Calibri" pitchFamily="34" charset="-120"/>
                        </a:rPr>
                        <a:t>Inspector</a:t>
                      </a:r>
                      <a:endParaRPr lang="en-US" sz="950" dirty="0">
                        <a:latin typeface="Calibri" charset="0"/>
                        <a:ea typeface="Calibri" charset="0"/>
                        <a:cs typeface="Calibri" charset="0"/>
                      </a:endParaRPr>
                    </a:p>
                  </a:txBody>
                  <a:tcPr marL="45720" marR="45720" marT="45720" marB="45720" anchor="ctr">
                    <a:lnL w="6350" cap="flat" cmpd="sng" algn="ctr">
                      <a:solidFill>
                        <a:srgbClr val="D6DAE3"/>
                      </a:solidFill>
                      <a:prstDash val="solid"/>
                      <a:round/>
                      <a:headEnd type="none" w="med" len="med"/>
                      <a:tailEnd type="none" w="med" len="med"/>
                    </a:lnL>
                    <a:lnR w="6350" cap="flat" cmpd="sng" algn="ctr">
                      <a:solidFill>
                        <a:srgbClr val="D6DAE3"/>
                      </a:solidFill>
                      <a:prstDash val="solid"/>
                      <a:round/>
                      <a:headEnd type="none" w="med" len="med"/>
                      <a:tailEnd type="none" w="med" len="med"/>
                    </a:lnR>
                    <a:lnT w="6350" cap="flat" cmpd="sng" algn="ctr">
                      <a:solidFill>
                        <a:srgbClr val="D6DAE3"/>
                      </a:solidFill>
                      <a:prstDash val="solid"/>
                      <a:round/>
                      <a:headEnd type="none" w="med" len="med"/>
                      <a:tailEnd type="none" w="med" len="med"/>
                    </a:lnT>
                    <a:lnB w="6350" cap="flat" cmpd="sng" algn="ctr">
                      <a:solidFill>
                        <a:srgbClr val="D6DAE3"/>
                      </a:solidFill>
                      <a:prstDash val="solid"/>
                      <a:round/>
                      <a:headEnd type="none" w="med" len="med"/>
                      <a:tailEnd type="none" w="med" len="med"/>
                    </a:lnB>
                  </a:tcPr>
                </a:tc>
                <a:tc>
                  <a:txBody>
                    <a:bodyPr/>
                    <a:lstStyle/>
                    <a:p>
                      <a:pPr indent="0" marL="0">
                        <a:buNone/>
                      </a:pPr>
                      <a:r>
                        <a:rPr lang="en-US" sz="950" dirty="0">
                          <a:solidFill>
                            <a:srgbClr val="1F2937"/>
                          </a:solidFill>
                          <a:latin typeface="Calibri" pitchFamily="34" charset="0"/>
                          <a:ea typeface="Calibri" pitchFamily="34" charset="-122"/>
                          <a:cs typeface="Calibri" pitchFamily="34" charset="-120"/>
                        </a:rPr>
                        <a:t>Scan, fail the hand sink, save, Follow-ups, Resolve, Temps, Text one person</a:t>
                      </a:r>
                      <a:endParaRPr lang="en-US" sz="950" dirty="0">
                        <a:latin typeface="Calibri" charset="0"/>
                        <a:ea typeface="Calibri" charset="0"/>
                        <a:cs typeface="Calibri" charset="0"/>
                      </a:endParaRPr>
                    </a:p>
                  </a:txBody>
                  <a:tcPr marL="45720" marR="45720" marT="45720" marB="45720" anchor="ctr">
                    <a:lnL w="6350" cap="flat" cmpd="sng" algn="ctr">
                      <a:solidFill>
                        <a:srgbClr val="D6DAE3"/>
                      </a:solidFill>
                      <a:prstDash val="solid"/>
                      <a:round/>
                      <a:headEnd type="none" w="med" len="med"/>
                      <a:tailEnd type="none" w="med" len="med"/>
                    </a:lnL>
                    <a:lnR w="6350" cap="flat" cmpd="sng" algn="ctr">
                      <a:solidFill>
                        <a:srgbClr val="D6DAE3"/>
                      </a:solidFill>
                      <a:prstDash val="solid"/>
                      <a:round/>
                      <a:headEnd type="none" w="med" len="med"/>
                      <a:tailEnd type="none" w="med" len="med"/>
                    </a:lnR>
                    <a:lnT w="6350" cap="flat" cmpd="sng" algn="ctr">
                      <a:solidFill>
                        <a:srgbClr val="D6DAE3"/>
                      </a:solidFill>
                      <a:prstDash val="solid"/>
                      <a:round/>
                      <a:headEnd type="none" w="med" len="med"/>
                      <a:tailEnd type="none" w="med" len="med"/>
                    </a:lnT>
                    <a:lnB w="6350" cap="flat" cmpd="sng" algn="ctr">
                      <a:solidFill>
                        <a:srgbClr val="D6DAE3"/>
                      </a:solidFill>
                      <a:prstDash val="solid"/>
                      <a:round/>
                      <a:headEnd type="none" w="med" len="med"/>
                      <a:tailEnd type="none" w="med" len="med"/>
                    </a:lnB>
                  </a:tcPr>
                </a:tc>
                <a:tc>
                  <a:txBody>
                    <a:bodyPr/>
                    <a:lstStyle/>
                    <a:p>
                      <a:pPr indent="0" marL="0">
                        <a:buNone/>
                      </a:pPr>
                      <a:r>
                        <a:rPr lang="en-US" sz="950" dirty="0">
                          <a:solidFill>
                            <a:srgbClr val="1F2937"/>
                          </a:solidFill>
                          <a:latin typeface="Calibri" pitchFamily="34" charset="0"/>
                          <a:ea typeface="Calibri" pitchFamily="34" charset="-122"/>
                          <a:cs typeface="Calibri" pitchFamily="34" charset="-120"/>
                        </a:rPr>
                        <a:t>Full inspection of MAGIC CITY DOGS #114, one flagged item</a:t>
                      </a:r>
                      <a:endParaRPr lang="en-US" sz="950" dirty="0">
                        <a:latin typeface="Calibri" charset="0"/>
                        <a:ea typeface="Calibri" charset="0"/>
                        <a:cs typeface="Calibri" charset="0"/>
                      </a:endParaRPr>
                    </a:p>
                  </a:txBody>
                  <a:tcPr marL="45720" marR="45720" marT="45720" marB="45720" anchor="ctr">
                    <a:lnL w="6350" cap="flat" cmpd="sng" algn="ctr">
                      <a:solidFill>
                        <a:srgbClr val="D6DAE3"/>
                      </a:solidFill>
                      <a:prstDash val="solid"/>
                      <a:round/>
                      <a:headEnd type="none" w="med" len="med"/>
                      <a:tailEnd type="none" w="med" len="med"/>
                    </a:lnL>
                    <a:lnR w="6350" cap="flat" cmpd="sng" algn="ctr">
                      <a:solidFill>
                        <a:srgbClr val="D6DAE3"/>
                      </a:solidFill>
                      <a:prstDash val="solid"/>
                      <a:round/>
                      <a:headEnd type="none" w="med" len="med"/>
                      <a:tailEnd type="none" w="med" len="med"/>
                    </a:lnR>
                    <a:lnT w="6350" cap="flat" cmpd="sng" algn="ctr">
                      <a:solidFill>
                        <a:srgbClr val="D6DAE3"/>
                      </a:solidFill>
                      <a:prstDash val="solid"/>
                      <a:round/>
                      <a:headEnd type="none" w="med" len="med"/>
                      <a:tailEnd type="none" w="med" len="med"/>
                    </a:lnT>
                    <a:lnB w="6350" cap="flat" cmpd="sng" algn="ctr">
                      <a:solidFill>
                        <a:srgbClr val="D6DAE3"/>
                      </a:solidFill>
                      <a:prstDash val="solid"/>
                      <a:round/>
                      <a:headEnd type="none" w="med" len="med"/>
                      <a:tailEnd type="none" w="med" len="med"/>
                    </a:lnB>
                  </a:tcPr>
                </a:tc>
                <a:tc>
                  <a:txBody>
                    <a:bodyPr/>
                    <a:lstStyle/>
                    <a:p>
                      <a:pPr indent="0" marL="0">
                        <a:buNone/>
                      </a:pPr>
                      <a:r>
                        <a:rPr lang="en-US" sz="950" dirty="0">
                          <a:solidFill>
                            <a:srgbClr val="1F2937"/>
                          </a:solidFill>
                          <a:latin typeface="Calibri" pitchFamily="34" charset="0"/>
                          <a:ea typeface="Calibri" pitchFamily="34" charset="-122"/>
                          <a:cs typeface="Calibri" pitchFamily="34" charset="-120"/>
                        </a:rPr>
                        <a:t>"Show me the problem on the crew board and in Fixed"</a:t>
                      </a:r>
                      <a:endParaRPr lang="en-US" sz="950" dirty="0">
                        <a:latin typeface="Calibri" charset="0"/>
                        <a:ea typeface="Calibri" charset="0"/>
                        <a:cs typeface="Calibri" charset="0"/>
                      </a:endParaRPr>
                    </a:p>
                  </a:txBody>
                  <a:tcPr marL="45720" marR="45720" marT="45720" marB="45720" anchor="ctr">
                    <a:lnL w="6350" cap="flat" cmpd="sng" algn="ctr">
                      <a:solidFill>
                        <a:srgbClr val="D6DAE3"/>
                      </a:solidFill>
                      <a:prstDash val="solid"/>
                      <a:round/>
                      <a:headEnd type="none" w="med" len="med"/>
                      <a:tailEnd type="none" w="med" len="med"/>
                    </a:lnL>
                    <a:lnR w="6350" cap="flat" cmpd="sng" algn="ctr">
                      <a:solidFill>
                        <a:srgbClr val="D6DAE3"/>
                      </a:solidFill>
                      <a:prstDash val="solid"/>
                      <a:round/>
                      <a:headEnd type="none" w="med" len="med"/>
                      <a:tailEnd type="none" w="med" len="med"/>
                    </a:lnR>
                    <a:lnT w="6350" cap="flat" cmpd="sng" algn="ctr">
                      <a:solidFill>
                        <a:srgbClr val="D6DAE3"/>
                      </a:solidFill>
                      <a:prstDash val="solid"/>
                      <a:round/>
                      <a:headEnd type="none" w="med" len="med"/>
                      <a:tailEnd type="none" w="med" len="med"/>
                    </a:lnT>
                    <a:lnB w="6350" cap="flat" cmpd="sng" algn="ctr">
                      <a:solidFill>
                        <a:srgbClr val="D6DAE3"/>
                      </a:solidFill>
                      <a:prstDash val="solid"/>
                      <a:round/>
                      <a:headEnd type="none" w="med" len="med"/>
                      <a:tailEnd type="none" w="med" len="med"/>
                    </a:lnB>
                  </a:tcPr>
                </a:tc>
              </a:tr>
              <a:tr h="0">
                <a:tc>
                  <a:txBody>
                    <a:bodyPr/>
                    <a:lstStyle/>
                    <a:p>
                      <a:pPr indent="0" marL="0">
                        <a:buNone/>
                      </a:pPr>
                      <a:r>
                        <a:rPr lang="en-US" sz="950" dirty="0">
                          <a:solidFill>
                            <a:srgbClr val="1F2937"/>
                          </a:solidFill>
                          <a:latin typeface="Calibri" pitchFamily="34" charset="0"/>
                          <a:ea typeface="Calibri" pitchFamily="34" charset="-122"/>
                          <a:cs typeface="Calibri" pitchFamily="34" charset="-120"/>
                        </a:rPr>
                        <a:t>Stand teams</a:t>
                      </a:r>
                      <a:endParaRPr lang="en-US" sz="950" dirty="0">
                        <a:latin typeface="Calibri" charset="0"/>
                        <a:ea typeface="Calibri" charset="0"/>
                        <a:cs typeface="Calibri" charset="0"/>
                      </a:endParaRPr>
                    </a:p>
                  </a:txBody>
                  <a:tcPr marL="45720" marR="45720" marT="45720" marB="45720" anchor="ctr">
                    <a:lnL w="6350" cap="flat" cmpd="sng" algn="ctr">
                      <a:solidFill>
                        <a:srgbClr val="D6DAE3"/>
                      </a:solidFill>
                      <a:prstDash val="solid"/>
                      <a:round/>
                      <a:headEnd type="none" w="med" len="med"/>
                      <a:tailEnd type="none" w="med" len="med"/>
                    </a:lnL>
                    <a:lnR w="6350" cap="flat" cmpd="sng" algn="ctr">
                      <a:solidFill>
                        <a:srgbClr val="D6DAE3"/>
                      </a:solidFill>
                      <a:prstDash val="solid"/>
                      <a:round/>
                      <a:headEnd type="none" w="med" len="med"/>
                      <a:tailEnd type="none" w="med" len="med"/>
                    </a:lnR>
                    <a:lnT w="6350" cap="flat" cmpd="sng" algn="ctr">
                      <a:solidFill>
                        <a:srgbClr val="D6DAE3"/>
                      </a:solidFill>
                      <a:prstDash val="solid"/>
                      <a:round/>
                      <a:headEnd type="none" w="med" len="med"/>
                      <a:tailEnd type="none" w="med" len="med"/>
                    </a:lnT>
                    <a:lnB w="6350" cap="flat" cmpd="sng" algn="ctr">
                      <a:solidFill>
                        <a:srgbClr val="D6DAE3"/>
                      </a:solidFill>
                      <a:prstDash val="solid"/>
                      <a:round/>
                      <a:headEnd type="none" w="med" len="med"/>
                      <a:tailEnd type="none" w="med" len="med"/>
                    </a:lnB>
                  </a:tcPr>
                </a:tc>
                <a:tc>
                  <a:txBody>
                    <a:bodyPr/>
                    <a:lstStyle/>
                    <a:p>
                      <a:pPr indent="0" marL="0">
                        <a:buNone/>
                      </a:pPr>
                      <a:r>
                        <a:rPr lang="en-US" sz="950" dirty="0">
                          <a:solidFill>
                            <a:srgbClr val="1F2937"/>
                          </a:solidFill>
                          <a:latin typeface="Calibri" pitchFamily="34" charset="0"/>
                          <a:ea typeface="Calibri" pitchFamily="34" charset="-122"/>
                          <a:cs typeface="Calibri" pitchFamily="34" charset="-120"/>
                        </a:rPr>
                        <a:t>Scan → identify → temps (one red) → problem → Submitted; the SUPERVISOR LOG card</a:t>
                      </a:r>
                      <a:endParaRPr lang="en-US" sz="950" dirty="0">
                        <a:latin typeface="Calibri" charset="0"/>
                        <a:ea typeface="Calibri" charset="0"/>
                        <a:cs typeface="Calibri" charset="0"/>
                      </a:endParaRPr>
                    </a:p>
                  </a:txBody>
                  <a:tcPr marL="45720" marR="45720" marT="45720" marB="45720" anchor="ctr">
                    <a:lnL w="6350" cap="flat" cmpd="sng" algn="ctr">
                      <a:solidFill>
                        <a:srgbClr val="D6DAE3"/>
                      </a:solidFill>
                      <a:prstDash val="solid"/>
                      <a:round/>
                      <a:headEnd type="none" w="med" len="med"/>
                      <a:tailEnd type="none" w="med" len="med"/>
                    </a:lnL>
                    <a:lnR w="6350" cap="flat" cmpd="sng" algn="ctr">
                      <a:solidFill>
                        <a:srgbClr val="D6DAE3"/>
                      </a:solidFill>
                      <a:prstDash val="solid"/>
                      <a:round/>
                      <a:headEnd type="none" w="med" len="med"/>
                      <a:tailEnd type="none" w="med" len="med"/>
                    </a:lnR>
                    <a:lnT w="6350" cap="flat" cmpd="sng" algn="ctr">
                      <a:solidFill>
                        <a:srgbClr val="D6DAE3"/>
                      </a:solidFill>
                      <a:prstDash val="solid"/>
                      <a:round/>
                      <a:headEnd type="none" w="med" len="med"/>
                      <a:tailEnd type="none" w="med" len="med"/>
                    </a:lnT>
                    <a:lnB w="6350" cap="flat" cmpd="sng" algn="ctr">
                      <a:solidFill>
                        <a:srgbClr val="D6DAE3"/>
                      </a:solidFill>
                      <a:prstDash val="solid"/>
                      <a:round/>
                      <a:headEnd type="none" w="med" len="med"/>
                      <a:tailEnd type="none" w="med" len="med"/>
                    </a:lnB>
                  </a:tcPr>
                </a:tc>
                <a:tc>
                  <a:txBody>
                    <a:bodyPr/>
                    <a:lstStyle/>
                    <a:p>
                      <a:pPr indent="0" marL="0">
                        <a:buNone/>
                      </a:pPr>
                      <a:r>
                        <a:rPr lang="en-US" sz="950" dirty="0">
                          <a:solidFill>
                            <a:srgbClr val="1F2937"/>
                          </a:solidFill>
                          <a:latin typeface="Calibri" pitchFamily="34" charset="0"/>
                          <a:ea typeface="Calibri" pitchFamily="34" charset="-122"/>
                          <a:cs typeface="Calibri" pitchFamily="34" charset="-120"/>
                        </a:rPr>
                        <a:t>Log the demo stand's temps + one problem with photo</a:t>
                      </a:r>
                      <a:endParaRPr lang="en-US" sz="950" dirty="0">
                        <a:latin typeface="Calibri" charset="0"/>
                        <a:ea typeface="Calibri" charset="0"/>
                        <a:cs typeface="Calibri" charset="0"/>
                      </a:endParaRPr>
                    </a:p>
                  </a:txBody>
                  <a:tcPr marL="45720" marR="45720" marT="45720" marB="45720" anchor="ctr">
                    <a:lnL w="6350" cap="flat" cmpd="sng" algn="ctr">
                      <a:solidFill>
                        <a:srgbClr val="D6DAE3"/>
                      </a:solidFill>
                      <a:prstDash val="solid"/>
                      <a:round/>
                      <a:headEnd type="none" w="med" len="med"/>
                      <a:tailEnd type="none" w="med" len="med"/>
                    </a:lnL>
                    <a:lnR w="6350" cap="flat" cmpd="sng" algn="ctr">
                      <a:solidFill>
                        <a:srgbClr val="D6DAE3"/>
                      </a:solidFill>
                      <a:prstDash val="solid"/>
                      <a:round/>
                      <a:headEnd type="none" w="med" len="med"/>
                      <a:tailEnd type="none" w="med" len="med"/>
                    </a:lnR>
                    <a:lnT w="6350" cap="flat" cmpd="sng" algn="ctr">
                      <a:solidFill>
                        <a:srgbClr val="D6DAE3"/>
                      </a:solidFill>
                      <a:prstDash val="solid"/>
                      <a:round/>
                      <a:headEnd type="none" w="med" len="med"/>
                      <a:tailEnd type="none" w="med" len="med"/>
                    </a:lnT>
                    <a:lnB w="6350" cap="flat" cmpd="sng" algn="ctr">
                      <a:solidFill>
                        <a:srgbClr val="D6DAE3"/>
                      </a:solidFill>
                      <a:prstDash val="solid"/>
                      <a:round/>
                      <a:headEnd type="none" w="med" len="med"/>
                      <a:tailEnd type="none" w="med" len="med"/>
                    </a:lnB>
                  </a:tcPr>
                </a:tc>
                <a:tc>
                  <a:txBody>
                    <a:bodyPr/>
                    <a:lstStyle/>
                    <a:p>
                      <a:pPr indent="0" marL="0">
                        <a:buNone/>
                      </a:pPr>
                      <a:r>
                        <a:rPr lang="en-US" sz="950" dirty="0">
                          <a:solidFill>
                            <a:srgbClr val="1F2937"/>
                          </a:solidFill>
                          <a:latin typeface="Calibri" pitchFamily="34" charset="0"/>
                          <a:ea typeface="Calibri" pitchFamily="34" charset="-122"/>
                          <a:cs typeface="Calibri" pitchFamily="34" charset="-120"/>
                        </a:rPr>
                        <a:t>"Text me your stand link" · "add the missing freezer"</a:t>
                      </a:r>
                      <a:endParaRPr lang="en-US" sz="950" dirty="0">
                        <a:latin typeface="Calibri" charset="0"/>
                        <a:ea typeface="Calibri" charset="0"/>
                        <a:cs typeface="Calibri" charset="0"/>
                      </a:endParaRPr>
                    </a:p>
                  </a:txBody>
                  <a:tcPr marL="45720" marR="45720" marT="45720" marB="45720" anchor="ctr">
                    <a:lnL w="6350" cap="flat" cmpd="sng" algn="ctr">
                      <a:solidFill>
                        <a:srgbClr val="D6DAE3"/>
                      </a:solidFill>
                      <a:prstDash val="solid"/>
                      <a:round/>
                      <a:headEnd type="none" w="med" len="med"/>
                      <a:tailEnd type="none" w="med" len="med"/>
                    </a:lnL>
                    <a:lnR w="6350" cap="flat" cmpd="sng" algn="ctr">
                      <a:solidFill>
                        <a:srgbClr val="D6DAE3"/>
                      </a:solidFill>
                      <a:prstDash val="solid"/>
                      <a:round/>
                      <a:headEnd type="none" w="med" len="med"/>
                      <a:tailEnd type="none" w="med" len="med"/>
                    </a:lnR>
                    <a:lnT w="6350" cap="flat" cmpd="sng" algn="ctr">
                      <a:solidFill>
                        <a:srgbClr val="D6DAE3"/>
                      </a:solidFill>
                      <a:prstDash val="solid"/>
                      <a:round/>
                      <a:headEnd type="none" w="med" len="med"/>
                      <a:tailEnd type="none" w="med" len="med"/>
                    </a:lnT>
                    <a:lnB w="6350" cap="flat" cmpd="sng" algn="ctr">
                      <a:solidFill>
                        <a:srgbClr val="D6DAE3"/>
                      </a:solidFill>
                      <a:prstDash val="solid"/>
                      <a:round/>
                      <a:headEnd type="none" w="med" len="med"/>
                      <a:tailEnd type="none" w="med" len="med"/>
                    </a:lnB>
                  </a:tcPr>
                </a:tc>
              </a:tr>
              <a:tr h="0">
                <a:tc>
                  <a:txBody>
                    <a:bodyPr/>
                    <a:lstStyle/>
                    <a:p>
                      <a:pPr indent="0" marL="0">
                        <a:buNone/>
                      </a:pPr>
                      <a:r>
                        <a:rPr lang="en-US" sz="950" dirty="0">
                          <a:solidFill>
                            <a:srgbClr val="1F2937"/>
                          </a:solidFill>
                          <a:latin typeface="Calibri" pitchFamily="34" charset="0"/>
                          <a:ea typeface="Calibri" pitchFamily="34" charset="-122"/>
                          <a:cs typeface="Calibri" pitchFamily="34" charset="-120"/>
                        </a:rPr>
                        <a:t>Maintenance</a:t>
                      </a:r>
                      <a:endParaRPr lang="en-US" sz="950" dirty="0">
                        <a:latin typeface="Calibri" charset="0"/>
                        <a:ea typeface="Calibri" charset="0"/>
                        <a:cs typeface="Calibri" charset="0"/>
                      </a:endParaRPr>
                    </a:p>
                  </a:txBody>
                  <a:tcPr marL="45720" marR="45720" marT="45720" marB="45720" anchor="ctr">
                    <a:lnL w="6350" cap="flat" cmpd="sng" algn="ctr">
                      <a:solidFill>
                        <a:srgbClr val="D6DAE3"/>
                      </a:solidFill>
                      <a:prstDash val="solid"/>
                      <a:round/>
                      <a:headEnd type="none" w="med" len="med"/>
                      <a:tailEnd type="none" w="med" len="med"/>
                    </a:lnL>
                    <a:lnR w="6350" cap="flat" cmpd="sng" algn="ctr">
                      <a:solidFill>
                        <a:srgbClr val="D6DAE3"/>
                      </a:solidFill>
                      <a:prstDash val="solid"/>
                      <a:round/>
                      <a:headEnd type="none" w="med" len="med"/>
                      <a:tailEnd type="none" w="med" len="med"/>
                    </a:lnR>
                    <a:lnT w="6350" cap="flat" cmpd="sng" algn="ctr">
                      <a:solidFill>
                        <a:srgbClr val="D6DAE3"/>
                      </a:solidFill>
                      <a:prstDash val="solid"/>
                      <a:round/>
                      <a:headEnd type="none" w="med" len="med"/>
                      <a:tailEnd type="none" w="med" len="med"/>
                    </a:lnT>
                    <a:lnB w="6350" cap="flat" cmpd="sng" algn="ctr">
                      <a:solidFill>
                        <a:srgbClr val="D6DAE3"/>
                      </a:solidFill>
                      <a:prstDash val="solid"/>
                      <a:round/>
                      <a:headEnd type="none" w="med" len="med"/>
                      <a:tailEnd type="none" w="med" len="med"/>
                    </a:lnB>
                  </a:tcPr>
                </a:tc>
                <a:tc>
                  <a:txBody>
                    <a:bodyPr/>
                    <a:lstStyle/>
                    <a:p>
                      <a:pPr indent="0" marL="0">
                        <a:buNone/>
                      </a:pPr>
                      <a:r>
                        <a:rPr lang="en-US" sz="950" dirty="0">
                          <a:solidFill>
                            <a:srgbClr val="1F2937"/>
                          </a:solidFill>
                          <a:latin typeface="Calibri" pitchFamily="34" charset="0"/>
                          <a:ea typeface="Calibri" pitchFamily="34" charset="-122"/>
                          <a:cs typeface="Calibri" pitchFamily="34" charset="-120"/>
                        </a:rPr>
                        <a:t>In process → After photo → Fixed; Not mine → move</a:t>
                      </a:r>
                      <a:endParaRPr lang="en-US" sz="950" dirty="0">
                        <a:latin typeface="Calibri" charset="0"/>
                        <a:ea typeface="Calibri" charset="0"/>
                        <a:cs typeface="Calibri" charset="0"/>
                      </a:endParaRPr>
                    </a:p>
                  </a:txBody>
                  <a:tcPr marL="45720" marR="45720" marT="45720" marB="45720" anchor="ctr">
                    <a:lnL w="6350" cap="flat" cmpd="sng" algn="ctr">
                      <a:solidFill>
                        <a:srgbClr val="D6DAE3"/>
                      </a:solidFill>
                      <a:prstDash val="solid"/>
                      <a:round/>
                      <a:headEnd type="none" w="med" len="med"/>
                      <a:tailEnd type="none" w="med" len="med"/>
                    </a:lnL>
                    <a:lnR w="6350" cap="flat" cmpd="sng" algn="ctr">
                      <a:solidFill>
                        <a:srgbClr val="D6DAE3"/>
                      </a:solidFill>
                      <a:prstDash val="solid"/>
                      <a:round/>
                      <a:headEnd type="none" w="med" len="med"/>
                      <a:tailEnd type="none" w="med" len="med"/>
                    </a:lnR>
                    <a:lnT w="6350" cap="flat" cmpd="sng" algn="ctr">
                      <a:solidFill>
                        <a:srgbClr val="D6DAE3"/>
                      </a:solidFill>
                      <a:prstDash val="solid"/>
                      <a:round/>
                      <a:headEnd type="none" w="med" len="med"/>
                      <a:tailEnd type="none" w="med" len="med"/>
                    </a:lnT>
                    <a:lnB w="6350" cap="flat" cmpd="sng" algn="ctr">
                      <a:solidFill>
                        <a:srgbClr val="D6DAE3"/>
                      </a:solidFill>
                      <a:prstDash val="solid"/>
                      <a:round/>
                      <a:headEnd type="none" w="med" len="med"/>
                      <a:tailEnd type="none" w="med" len="med"/>
                    </a:lnB>
                  </a:tcPr>
                </a:tc>
                <a:tc>
                  <a:txBody>
                    <a:bodyPr/>
                    <a:lstStyle/>
                    <a:p>
                      <a:pPr indent="0" marL="0">
                        <a:buNone/>
                      </a:pPr>
                      <a:r>
                        <a:rPr lang="en-US" sz="950" dirty="0">
                          <a:solidFill>
                            <a:srgbClr val="1F2937"/>
                          </a:solidFill>
                          <a:latin typeface="Calibri" pitchFamily="34" charset="0"/>
                          <a:ea typeface="Calibri" pitchFamily="34" charset="-122"/>
                          <a:cs typeface="Calibri" pitchFamily="34" charset="-120"/>
                        </a:rPr>
                        <a:t>Close the demo card; move one to Cleaning</a:t>
                      </a:r>
                      <a:endParaRPr lang="en-US" sz="950" dirty="0">
                        <a:latin typeface="Calibri" charset="0"/>
                        <a:ea typeface="Calibri" charset="0"/>
                        <a:cs typeface="Calibri" charset="0"/>
                      </a:endParaRPr>
                    </a:p>
                  </a:txBody>
                  <a:tcPr marL="45720" marR="45720" marT="45720" marB="45720" anchor="ctr">
                    <a:lnL w="6350" cap="flat" cmpd="sng" algn="ctr">
                      <a:solidFill>
                        <a:srgbClr val="D6DAE3"/>
                      </a:solidFill>
                      <a:prstDash val="solid"/>
                      <a:round/>
                      <a:headEnd type="none" w="med" len="med"/>
                      <a:tailEnd type="none" w="med" len="med"/>
                    </a:lnL>
                    <a:lnR w="6350" cap="flat" cmpd="sng" algn="ctr">
                      <a:solidFill>
                        <a:srgbClr val="D6DAE3"/>
                      </a:solidFill>
                      <a:prstDash val="solid"/>
                      <a:round/>
                      <a:headEnd type="none" w="med" len="med"/>
                      <a:tailEnd type="none" w="med" len="med"/>
                    </a:lnR>
                    <a:lnT w="6350" cap="flat" cmpd="sng" algn="ctr">
                      <a:solidFill>
                        <a:srgbClr val="D6DAE3"/>
                      </a:solidFill>
                      <a:prstDash val="solid"/>
                      <a:round/>
                      <a:headEnd type="none" w="med" len="med"/>
                      <a:tailEnd type="none" w="med" len="med"/>
                    </a:lnT>
                    <a:lnB w="6350" cap="flat" cmpd="sng" algn="ctr">
                      <a:solidFill>
                        <a:srgbClr val="D6DAE3"/>
                      </a:solidFill>
                      <a:prstDash val="solid"/>
                      <a:round/>
                      <a:headEnd type="none" w="med" len="med"/>
                      <a:tailEnd type="none" w="med" len="med"/>
                    </a:lnB>
                  </a:tcPr>
                </a:tc>
                <a:tc>
                  <a:txBody>
                    <a:bodyPr/>
                    <a:lstStyle/>
                    <a:p>
                      <a:pPr indent="0" marL="0">
                        <a:buNone/>
                      </a:pPr>
                      <a:r>
                        <a:rPr lang="en-US" sz="950" dirty="0">
                          <a:solidFill>
                            <a:srgbClr val="1F2937"/>
                          </a:solidFill>
                          <a:latin typeface="Calibri" pitchFamily="34" charset="0"/>
                          <a:ea typeface="Calibri" pitchFamily="34" charset="-122"/>
                          <a:cs typeface="Calibri" pitchFamily="34" charset="-120"/>
                        </a:rPr>
                        <a:t>"Where does the inspector see your after photo?"</a:t>
                      </a:r>
                      <a:endParaRPr lang="en-US" sz="950" dirty="0">
                        <a:latin typeface="Calibri" charset="0"/>
                        <a:ea typeface="Calibri" charset="0"/>
                        <a:cs typeface="Calibri" charset="0"/>
                      </a:endParaRPr>
                    </a:p>
                  </a:txBody>
                  <a:tcPr marL="45720" marR="45720" marT="45720" marB="45720" anchor="ctr">
                    <a:lnL w="6350" cap="flat" cmpd="sng" algn="ctr">
                      <a:solidFill>
                        <a:srgbClr val="D6DAE3"/>
                      </a:solidFill>
                      <a:prstDash val="solid"/>
                      <a:round/>
                      <a:headEnd type="none" w="med" len="med"/>
                      <a:tailEnd type="none" w="med" len="med"/>
                    </a:lnL>
                    <a:lnR w="6350" cap="flat" cmpd="sng" algn="ctr">
                      <a:solidFill>
                        <a:srgbClr val="D6DAE3"/>
                      </a:solidFill>
                      <a:prstDash val="solid"/>
                      <a:round/>
                      <a:headEnd type="none" w="med" len="med"/>
                      <a:tailEnd type="none" w="med" len="med"/>
                    </a:lnR>
                    <a:lnT w="6350" cap="flat" cmpd="sng" algn="ctr">
                      <a:solidFill>
                        <a:srgbClr val="D6DAE3"/>
                      </a:solidFill>
                      <a:prstDash val="solid"/>
                      <a:round/>
                      <a:headEnd type="none" w="med" len="med"/>
                      <a:tailEnd type="none" w="med" len="med"/>
                    </a:lnT>
                    <a:lnB w="6350" cap="flat" cmpd="sng" algn="ctr">
                      <a:solidFill>
                        <a:srgbClr val="D6DAE3"/>
                      </a:solidFill>
                      <a:prstDash val="solid"/>
                      <a:round/>
                      <a:headEnd type="none" w="med" len="med"/>
                      <a:tailEnd type="none" w="med" len="med"/>
                    </a:lnB>
                  </a:tcPr>
                </a:tc>
              </a:tr>
              <a:tr h="0">
                <a:tc>
                  <a:txBody>
                    <a:bodyPr/>
                    <a:lstStyle/>
                    <a:p>
                      <a:pPr indent="0" marL="0">
                        <a:buNone/>
                      </a:pPr>
                      <a:r>
                        <a:rPr lang="en-US" sz="950" dirty="0">
                          <a:solidFill>
                            <a:srgbClr val="1F2937"/>
                          </a:solidFill>
                          <a:latin typeface="Calibri" pitchFamily="34" charset="0"/>
                          <a:ea typeface="Calibri" pitchFamily="34" charset="-122"/>
                          <a:cs typeface="Calibri" pitchFamily="34" charset="-120"/>
                        </a:rPr>
                        <a:t>Cleaning</a:t>
                      </a:r>
                      <a:endParaRPr lang="en-US" sz="950" dirty="0">
                        <a:latin typeface="Calibri" charset="0"/>
                        <a:ea typeface="Calibri" charset="0"/>
                        <a:cs typeface="Calibri" charset="0"/>
                      </a:endParaRPr>
                    </a:p>
                  </a:txBody>
                  <a:tcPr marL="45720" marR="45720" marT="45720" marB="45720" anchor="ctr">
                    <a:lnL w="6350" cap="flat" cmpd="sng" algn="ctr">
                      <a:solidFill>
                        <a:srgbClr val="D6DAE3"/>
                      </a:solidFill>
                      <a:prstDash val="solid"/>
                      <a:round/>
                      <a:headEnd type="none" w="med" len="med"/>
                      <a:tailEnd type="none" w="med" len="med"/>
                    </a:lnL>
                    <a:lnR w="6350" cap="flat" cmpd="sng" algn="ctr">
                      <a:solidFill>
                        <a:srgbClr val="D6DAE3"/>
                      </a:solidFill>
                      <a:prstDash val="solid"/>
                      <a:round/>
                      <a:headEnd type="none" w="med" len="med"/>
                      <a:tailEnd type="none" w="med" len="med"/>
                    </a:lnR>
                    <a:lnT w="6350" cap="flat" cmpd="sng" algn="ctr">
                      <a:solidFill>
                        <a:srgbClr val="D6DAE3"/>
                      </a:solidFill>
                      <a:prstDash val="solid"/>
                      <a:round/>
                      <a:headEnd type="none" w="med" len="med"/>
                      <a:tailEnd type="none" w="med" len="med"/>
                    </a:lnT>
                    <a:lnB w="6350" cap="flat" cmpd="sng" algn="ctr">
                      <a:solidFill>
                        <a:srgbClr val="D6DAE3"/>
                      </a:solidFill>
                      <a:prstDash val="solid"/>
                      <a:round/>
                      <a:headEnd type="none" w="med" len="med"/>
                      <a:tailEnd type="none" w="med" len="med"/>
                    </a:lnB>
                  </a:tcPr>
                </a:tc>
                <a:tc>
                  <a:txBody>
                    <a:bodyPr/>
                    <a:lstStyle/>
                    <a:p>
                      <a:pPr indent="0" marL="0">
                        <a:buNone/>
                      </a:pPr>
                      <a:r>
                        <a:rPr lang="en-US" sz="950" dirty="0">
                          <a:solidFill>
                            <a:srgbClr val="1F2937"/>
                          </a:solidFill>
                          <a:latin typeface="Calibri" pitchFamily="34" charset="0"/>
                          <a:ea typeface="Calibri" pitchFamily="34" charset="-122"/>
                          <a:cs typeface="Calibri" pitchFamily="34" charset="-120"/>
                        </a:rPr>
                        <a:t>Same + we cleaned it / already clean + cleaning log</a:t>
                      </a:r>
                      <a:endParaRPr lang="en-US" sz="950" dirty="0">
                        <a:latin typeface="Calibri" charset="0"/>
                        <a:ea typeface="Calibri" charset="0"/>
                        <a:cs typeface="Calibri" charset="0"/>
                      </a:endParaRPr>
                    </a:p>
                  </a:txBody>
                  <a:tcPr marL="45720" marR="45720" marT="45720" marB="45720" anchor="ctr">
                    <a:lnL w="6350" cap="flat" cmpd="sng" algn="ctr">
                      <a:solidFill>
                        <a:srgbClr val="D6DAE3"/>
                      </a:solidFill>
                      <a:prstDash val="solid"/>
                      <a:round/>
                      <a:headEnd type="none" w="med" len="med"/>
                      <a:tailEnd type="none" w="med" len="med"/>
                    </a:lnL>
                    <a:lnR w="6350" cap="flat" cmpd="sng" algn="ctr">
                      <a:solidFill>
                        <a:srgbClr val="D6DAE3"/>
                      </a:solidFill>
                      <a:prstDash val="solid"/>
                      <a:round/>
                      <a:headEnd type="none" w="med" len="med"/>
                      <a:tailEnd type="none" w="med" len="med"/>
                    </a:lnR>
                    <a:lnT w="6350" cap="flat" cmpd="sng" algn="ctr">
                      <a:solidFill>
                        <a:srgbClr val="D6DAE3"/>
                      </a:solidFill>
                      <a:prstDash val="solid"/>
                      <a:round/>
                      <a:headEnd type="none" w="med" len="med"/>
                      <a:tailEnd type="none" w="med" len="med"/>
                    </a:lnT>
                    <a:lnB w="6350" cap="flat" cmpd="sng" algn="ctr">
                      <a:solidFill>
                        <a:srgbClr val="D6DAE3"/>
                      </a:solidFill>
                      <a:prstDash val="solid"/>
                      <a:round/>
                      <a:headEnd type="none" w="med" len="med"/>
                      <a:tailEnd type="none" w="med" len="med"/>
                    </a:lnB>
                  </a:tcPr>
                </a:tc>
                <a:tc>
                  <a:txBody>
                    <a:bodyPr/>
                    <a:lstStyle/>
                    <a:p>
                      <a:pPr indent="0" marL="0">
                        <a:buNone/>
                      </a:pPr>
                      <a:r>
                        <a:rPr lang="en-US" sz="950" dirty="0">
                          <a:solidFill>
                            <a:srgbClr val="1F2937"/>
                          </a:solidFill>
                          <a:latin typeface="Calibri" pitchFamily="34" charset="0"/>
                          <a:ea typeface="Calibri" pitchFamily="34" charset="-122"/>
                          <a:cs typeface="Calibri" pitchFamily="34" charset="-120"/>
                        </a:rPr>
                        <a:t>Close a demo cleaning card</a:t>
                      </a:r>
                      <a:endParaRPr lang="en-US" sz="950" dirty="0">
                        <a:latin typeface="Calibri" charset="0"/>
                        <a:ea typeface="Calibri" charset="0"/>
                        <a:cs typeface="Calibri" charset="0"/>
                      </a:endParaRPr>
                    </a:p>
                  </a:txBody>
                  <a:tcPr marL="45720" marR="45720" marT="45720" marB="45720" anchor="ctr">
                    <a:lnL w="6350" cap="flat" cmpd="sng" algn="ctr">
                      <a:solidFill>
                        <a:srgbClr val="D6DAE3"/>
                      </a:solidFill>
                      <a:prstDash val="solid"/>
                      <a:round/>
                      <a:headEnd type="none" w="med" len="med"/>
                      <a:tailEnd type="none" w="med" len="med"/>
                    </a:lnL>
                    <a:lnR w="6350" cap="flat" cmpd="sng" algn="ctr">
                      <a:solidFill>
                        <a:srgbClr val="D6DAE3"/>
                      </a:solidFill>
                      <a:prstDash val="solid"/>
                      <a:round/>
                      <a:headEnd type="none" w="med" len="med"/>
                      <a:tailEnd type="none" w="med" len="med"/>
                    </a:lnR>
                    <a:lnT w="6350" cap="flat" cmpd="sng" algn="ctr">
                      <a:solidFill>
                        <a:srgbClr val="D6DAE3"/>
                      </a:solidFill>
                      <a:prstDash val="solid"/>
                      <a:round/>
                      <a:headEnd type="none" w="med" len="med"/>
                      <a:tailEnd type="none" w="med" len="med"/>
                    </a:lnT>
                    <a:lnB w="6350" cap="flat" cmpd="sng" algn="ctr">
                      <a:solidFill>
                        <a:srgbClr val="D6DAE3"/>
                      </a:solidFill>
                      <a:prstDash val="solid"/>
                      <a:round/>
                      <a:headEnd type="none" w="med" len="med"/>
                      <a:tailEnd type="none" w="med" len="med"/>
                    </a:lnB>
                  </a:tcPr>
                </a:tc>
                <a:tc>
                  <a:txBody>
                    <a:bodyPr/>
                    <a:lstStyle/>
                    <a:p>
                      <a:pPr indent="0" marL="0">
                        <a:buNone/>
                      </a:pPr>
                      <a:r>
                        <a:rPr lang="en-US" sz="950" dirty="0">
                          <a:solidFill>
                            <a:srgbClr val="1F2937"/>
                          </a:solidFill>
                          <a:latin typeface="Calibri" pitchFamily="34" charset="0"/>
                          <a:ea typeface="Calibri" pitchFamily="34" charset="-122"/>
                          <a:cs typeface="Calibri" pitchFamily="34" charset="-120"/>
                        </a:rPr>
                        <a:t>"Which jobs get billed to the subcontractor?"</a:t>
                      </a:r>
                      <a:endParaRPr lang="en-US" sz="950" dirty="0">
                        <a:latin typeface="Calibri" charset="0"/>
                        <a:ea typeface="Calibri" charset="0"/>
                        <a:cs typeface="Calibri" charset="0"/>
                      </a:endParaRPr>
                    </a:p>
                  </a:txBody>
                  <a:tcPr marL="45720" marR="45720" marT="45720" marB="45720" anchor="ctr">
                    <a:lnL w="6350" cap="flat" cmpd="sng" algn="ctr">
                      <a:solidFill>
                        <a:srgbClr val="D6DAE3"/>
                      </a:solidFill>
                      <a:prstDash val="solid"/>
                      <a:round/>
                      <a:headEnd type="none" w="med" len="med"/>
                      <a:tailEnd type="none" w="med" len="med"/>
                    </a:lnL>
                    <a:lnR w="6350" cap="flat" cmpd="sng" algn="ctr">
                      <a:solidFill>
                        <a:srgbClr val="D6DAE3"/>
                      </a:solidFill>
                      <a:prstDash val="solid"/>
                      <a:round/>
                      <a:headEnd type="none" w="med" len="med"/>
                      <a:tailEnd type="none" w="med" len="med"/>
                    </a:lnR>
                    <a:lnT w="6350" cap="flat" cmpd="sng" algn="ctr">
                      <a:solidFill>
                        <a:srgbClr val="D6DAE3"/>
                      </a:solidFill>
                      <a:prstDash val="solid"/>
                      <a:round/>
                      <a:headEnd type="none" w="med" len="med"/>
                      <a:tailEnd type="none" w="med" len="med"/>
                    </a:lnT>
                    <a:lnB w="6350" cap="flat" cmpd="sng" algn="ctr">
                      <a:solidFill>
                        <a:srgbClr val="D6DAE3"/>
                      </a:solidFill>
                      <a:prstDash val="solid"/>
                      <a:round/>
                      <a:headEnd type="none" w="med" len="med"/>
                      <a:tailEnd type="none" w="med" len="med"/>
                    </a:lnB>
                  </a:tcPr>
                </a:tc>
              </a:tr>
              <a:tr h="0">
                <a:tc>
                  <a:txBody>
                    <a:bodyPr/>
                    <a:lstStyle/>
                    <a:p>
                      <a:pPr indent="0" marL="0">
                        <a:buNone/>
                      </a:pPr>
                      <a:r>
                        <a:rPr lang="en-US" sz="950" dirty="0">
                          <a:solidFill>
                            <a:srgbClr val="1F2937"/>
                          </a:solidFill>
                          <a:latin typeface="Calibri" pitchFamily="34" charset="0"/>
                          <a:ea typeface="Calibri" pitchFamily="34" charset="-122"/>
                          <a:cs typeface="Calibri" pitchFamily="34" charset="-120"/>
                        </a:rPr>
                        <a:t>Ecolab</a:t>
                      </a:r>
                      <a:endParaRPr lang="en-US" sz="950" dirty="0">
                        <a:latin typeface="Calibri" charset="0"/>
                        <a:ea typeface="Calibri" charset="0"/>
                        <a:cs typeface="Calibri" charset="0"/>
                      </a:endParaRPr>
                    </a:p>
                  </a:txBody>
                  <a:tcPr marL="45720" marR="45720" marT="45720" marB="45720" anchor="ctr">
                    <a:lnL w="6350" cap="flat" cmpd="sng" algn="ctr">
                      <a:solidFill>
                        <a:srgbClr val="D6DAE3"/>
                      </a:solidFill>
                      <a:prstDash val="solid"/>
                      <a:round/>
                      <a:headEnd type="none" w="med" len="med"/>
                      <a:tailEnd type="none" w="med" len="med"/>
                    </a:lnL>
                    <a:lnR w="6350" cap="flat" cmpd="sng" algn="ctr">
                      <a:solidFill>
                        <a:srgbClr val="D6DAE3"/>
                      </a:solidFill>
                      <a:prstDash val="solid"/>
                      <a:round/>
                      <a:headEnd type="none" w="med" len="med"/>
                      <a:tailEnd type="none" w="med" len="med"/>
                    </a:lnR>
                    <a:lnT w="6350" cap="flat" cmpd="sng" algn="ctr">
                      <a:solidFill>
                        <a:srgbClr val="D6DAE3"/>
                      </a:solidFill>
                      <a:prstDash val="solid"/>
                      <a:round/>
                      <a:headEnd type="none" w="med" len="med"/>
                      <a:tailEnd type="none" w="med" len="med"/>
                    </a:lnT>
                    <a:lnB w="6350" cap="flat" cmpd="sng" algn="ctr">
                      <a:solidFill>
                        <a:srgbClr val="D6DAE3"/>
                      </a:solidFill>
                      <a:prstDash val="solid"/>
                      <a:round/>
                      <a:headEnd type="none" w="med" len="med"/>
                      <a:tailEnd type="none" w="med" len="med"/>
                    </a:lnB>
                  </a:tcPr>
                </a:tc>
                <a:tc>
                  <a:txBody>
                    <a:bodyPr/>
                    <a:lstStyle/>
                    <a:p>
                      <a:pPr indent="0" marL="0">
                        <a:buNone/>
                      </a:pPr>
                      <a:r>
                        <a:rPr lang="en-US" sz="950" dirty="0">
                          <a:solidFill>
                            <a:srgbClr val="1F2937"/>
                          </a:solidFill>
                          <a:latin typeface="Calibri" pitchFamily="34" charset="0"/>
                          <a:ea typeface="Calibri" pitchFamily="34" charset="-122"/>
                          <a:cs typeface="Calibri" pitchFamily="34" charset="-120"/>
                        </a:rPr>
                        <a:t>Same board; a sanitizer card; the sanitizer tab</a:t>
                      </a:r>
                      <a:endParaRPr lang="en-US" sz="950" dirty="0">
                        <a:latin typeface="Calibri" charset="0"/>
                        <a:ea typeface="Calibri" charset="0"/>
                        <a:cs typeface="Calibri" charset="0"/>
                      </a:endParaRPr>
                    </a:p>
                  </a:txBody>
                  <a:tcPr marL="45720" marR="45720" marT="45720" marB="45720" anchor="ctr">
                    <a:lnL w="6350" cap="flat" cmpd="sng" algn="ctr">
                      <a:solidFill>
                        <a:srgbClr val="D6DAE3"/>
                      </a:solidFill>
                      <a:prstDash val="solid"/>
                      <a:round/>
                      <a:headEnd type="none" w="med" len="med"/>
                      <a:tailEnd type="none" w="med" len="med"/>
                    </a:lnL>
                    <a:lnR w="6350" cap="flat" cmpd="sng" algn="ctr">
                      <a:solidFill>
                        <a:srgbClr val="D6DAE3"/>
                      </a:solidFill>
                      <a:prstDash val="solid"/>
                      <a:round/>
                      <a:headEnd type="none" w="med" len="med"/>
                      <a:tailEnd type="none" w="med" len="med"/>
                    </a:lnR>
                    <a:lnT w="6350" cap="flat" cmpd="sng" algn="ctr">
                      <a:solidFill>
                        <a:srgbClr val="D6DAE3"/>
                      </a:solidFill>
                      <a:prstDash val="solid"/>
                      <a:round/>
                      <a:headEnd type="none" w="med" len="med"/>
                      <a:tailEnd type="none" w="med" len="med"/>
                    </a:lnT>
                    <a:lnB w="6350" cap="flat" cmpd="sng" algn="ctr">
                      <a:solidFill>
                        <a:srgbClr val="D6DAE3"/>
                      </a:solidFill>
                      <a:prstDash val="solid"/>
                      <a:round/>
                      <a:headEnd type="none" w="med" len="med"/>
                      <a:tailEnd type="none" w="med" len="med"/>
                    </a:lnB>
                  </a:tcPr>
                </a:tc>
                <a:tc>
                  <a:txBody>
                    <a:bodyPr/>
                    <a:lstStyle/>
                    <a:p>
                      <a:pPr indent="0" marL="0">
                        <a:buNone/>
                      </a:pPr>
                      <a:r>
                        <a:rPr lang="en-US" sz="950" dirty="0">
                          <a:solidFill>
                            <a:srgbClr val="1F2937"/>
                          </a:solidFill>
                          <a:latin typeface="Calibri" pitchFamily="34" charset="0"/>
                          <a:ea typeface="Calibri" pitchFamily="34" charset="-122"/>
                          <a:cs typeface="Calibri" pitchFamily="34" charset="-120"/>
                        </a:rPr>
                        <a:t>Close a demo Ecolab card</a:t>
                      </a:r>
                      <a:endParaRPr lang="en-US" sz="950" dirty="0">
                        <a:latin typeface="Calibri" charset="0"/>
                        <a:ea typeface="Calibri" charset="0"/>
                        <a:cs typeface="Calibri" charset="0"/>
                      </a:endParaRPr>
                    </a:p>
                  </a:txBody>
                  <a:tcPr marL="45720" marR="45720" marT="45720" marB="45720" anchor="ctr">
                    <a:lnL w="6350" cap="flat" cmpd="sng" algn="ctr">
                      <a:solidFill>
                        <a:srgbClr val="D6DAE3"/>
                      </a:solidFill>
                      <a:prstDash val="solid"/>
                      <a:round/>
                      <a:headEnd type="none" w="med" len="med"/>
                      <a:tailEnd type="none" w="med" len="med"/>
                    </a:lnL>
                    <a:lnR w="6350" cap="flat" cmpd="sng" algn="ctr">
                      <a:solidFill>
                        <a:srgbClr val="D6DAE3"/>
                      </a:solidFill>
                      <a:prstDash val="solid"/>
                      <a:round/>
                      <a:headEnd type="none" w="med" len="med"/>
                      <a:tailEnd type="none" w="med" len="med"/>
                    </a:lnR>
                    <a:lnT w="6350" cap="flat" cmpd="sng" algn="ctr">
                      <a:solidFill>
                        <a:srgbClr val="D6DAE3"/>
                      </a:solidFill>
                      <a:prstDash val="solid"/>
                      <a:round/>
                      <a:headEnd type="none" w="med" len="med"/>
                      <a:tailEnd type="none" w="med" len="med"/>
                    </a:lnT>
                    <a:lnB w="6350" cap="flat" cmpd="sng" algn="ctr">
                      <a:solidFill>
                        <a:srgbClr val="D6DAE3"/>
                      </a:solidFill>
                      <a:prstDash val="solid"/>
                      <a:round/>
                      <a:headEnd type="none" w="med" len="med"/>
                      <a:tailEnd type="none" w="med" len="med"/>
                    </a:lnB>
                  </a:tcPr>
                </a:tc>
                <a:tc>
                  <a:txBody>
                    <a:bodyPr/>
                    <a:lstStyle/>
                    <a:p>
                      <a:pPr indent="0" marL="0">
                        <a:buNone/>
                      </a:pPr>
                      <a:r>
                        <a:rPr lang="en-US" sz="950" dirty="0">
                          <a:solidFill>
                            <a:srgbClr val="1F2937"/>
                          </a:solidFill>
                          <a:latin typeface="Calibri" pitchFamily="34" charset="0"/>
                          <a:ea typeface="Calibri" pitchFamily="34" charset="-122"/>
                          <a:cs typeface="Calibri" pitchFamily="34" charset="-120"/>
                        </a:rPr>
                        <a:t>"Move a leak card to Maintenance"</a:t>
                      </a:r>
                      <a:endParaRPr lang="en-US" sz="950" dirty="0">
                        <a:latin typeface="Calibri" charset="0"/>
                        <a:ea typeface="Calibri" charset="0"/>
                        <a:cs typeface="Calibri" charset="0"/>
                      </a:endParaRPr>
                    </a:p>
                  </a:txBody>
                  <a:tcPr marL="45720" marR="45720" marT="45720" marB="45720" anchor="ctr">
                    <a:lnL w="6350" cap="flat" cmpd="sng" algn="ctr">
                      <a:solidFill>
                        <a:srgbClr val="D6DAE3"/>
                      </a:solidFill>
                      <a:prstDash val="solid"/>
                      <a:round/>
                      <a:headEnd type="none" w="med" len="med"/>
                      <a:tailEnd type="none" w="med" len="med"/>
                    </a:lnL>
                    <a:lnR w="6350" cap="flat" cmpd="sng" algn="ctr">
                      <a:solidFill>
                        <a:srgbClr val="D6DAE3"/>
                      </a:solidFill>
                      <a:prstDash val="solid"/>
                      <a:round/>
                      <a:headEnd type="none" w="med" len="med"/>
                      <a:tailEnd type="none" w="med" len="med"/>
                    </a:lnR>
                    <a:lnT w="6350" cap="flat" cmpd="sng" algn="ctr">
                      <a:solidFill>
                        <a:srgbClr val="D6DAE3"/>
                      </a:solidFill>
                      <a:prstDash val="solid"/>
                      <a:round/>
                      <a:headEnd type="none" w="med" len="med"/>
                      <a:tailEnd type="none" w="med" len="med"/>
                    </a:lnT>
                    <a:lnB w="6350" cap="flat" cmpd="sng" algn="ctr">
                      <a:solidFill>
                        <a:srgbClr val="D6DAE3"/>
                      </a:solidFill>
                      <a:prstDash val="solid"/>
                      <a:round/>
                      <a:headEnd type="none" w="med" len="med"/>
                      <a:tailEnd type="none" w="med" len="med"/>
                    </a:lnB>
                  </a:tcPr>
                </a:tc>
              </a:tr>
              <a:tr h="0">
                <a:tc>
                  <a:txBody>
                    <a:bodyPr/>
                    <a:lstStyle/>
                    <a:p>
                      <a:pPr indent="0" marL="0">
                        <a:buNone/>
                      </a:pPr>
                      <a:r>
                        <a:rPr lang="en-US" sz="950" dirty="0">
                          <a:solidFill>
                            <a:srgbClr val="1F2937"/>
                          </a:solidFill>
                          <a:latin typeface="Calibri" pitchFamily="34" charset="0"/>
                          <a:ea typeface="Calibri" pitchFamily="34" charset="-122"/>
                          <a:cs typeface="Calibri" pitchFamily="34" charset="-120"/>
                        </a:rPr>
                        <a:t>Admin</a:t>
                      </a:r>
                      <a:endParaRPr lang="en-US" sz="950" dirty="0">
                        <a:latin typeface="Calibri" charset="0"/>
                        <a:ea typeface="Calibri" charset="0"/>
                        <a:cs typeface="Calibri" charset="0"/>
                      </a:endParaRPr>
                    </a:p>
                  </a:txBody>
                  <a:tcPr marL="45720" marR="45720" marT="45720" marB="45720" anchor="ctr">
                    <a:lnL w="6350" cap="flat" cmpd="sng" algn="ctr">
                      <a:solidFill>
                        <a:srgbClr val="D6DAE3"/>
                      </a:solidFill>
                      <a:prstDash val="solid"/>
                      <a:round/>
                      <a:headEnd type="none" w="med" len="med"/>
                      <a:tailEnd type="none" w="med" len="med"/>
                    </a:lnL>
                    <a:lnR w="6350" cap="flat" cmpd="sng" algn="ctr">
                      <a:solidFill>
                        <a:srgbClr val="D6DAE3"/>
                      </a:solidFill>
                      <a:prstDash val="solid"/>
                      <a:round/>
                      <a:headEnd type="none" w="med" len="med"/>
                      <a:tailEnd type="none" w="med" len="med"/>
                    </a:lnR>
                    <a:lnT w="6350" cap="flat" cmpd="sng" algn="ctr">
                      <a:solidFill>
                        <a:srgbClr val="D6DAE3"/>
                      </a:solidFill>
                      <a:prstDash val="solid"/>
                      <a:round/>
                      <a:headEnd type="none" w="med" len="med"/>
                      <a:tailEnd type="none" w="med" len="med"/>
                    </a:lnT>
                    <a:lnB w="6350" cap="flat" cmpd="sng" algn="ctr">
                      <a:solidFill>
                        <a:srgbClr val="D6DAE3"/>
                      </a:solidFill>
                      <a:prstDash val="solid"/>
                      <a:round/>
                      <a:headEnd type="none" w="med" len="med"/>
                      <a:tailEnd type="none" w="med" len="med"/>
                    </a:lnB>
                  </a:tcPr>
                </a:tc>
                <a:tc>
                  <a:txBody>
                    <a:bodyPr/>
                    <a:lstStyle/>
                    <a:p>
                      <a:pPr indent="0" marL="0">
                        <a:buNone/>
                      </a:pPr>
                      <a:r>
                        <a:rPr lang="en-US" sz="950" dirty="0">
                          <a:solidFill>
                            <a:srgbClr val="1F2937"/>
                          </a:solidFill>
                          <a:latin typeface="Calibri" pitchFamily="34" charset="0"/>
                          <a:ea typeface="Calibri" pitchFamily="34" charset="-122"/>
                          <a:cs typeface="Calibri" pitchFamily="34" charset="-120"/>
                        </a:rPr>
                        <a:t>Users, invite link with QR, license row, dashboard</a:t>
                      </a:r>
                      <a:endParaRPr lang="en-US" sz="950" dirty="0">
                        <a:latin typeface="Calibri" charset="0"/>
                        <a:ea typeface="Calibri" charset="0"/>
                        <a:cs typeface="Calibri" charset="0"/>
                      </a:endParaRPr>
                    </a:p>
                  </a:txBody>
                  <a:tcPr marL="45720" marR="45720" marT="45720" marB="45720" anchor="ctr">
                    <a:lnL w="6350" cap="flat" cmpd="sng" algn="ctr">
                      <a:solidFill>
                        <a:srgbClr val="D6DAE3"/>
                      </a:solidFill>
                      <a:prstDash val="solid"/>
                      <a:round/>
                      <a:headEnd type="none" w="med" len="med"/>
                      <a:tailEnd type="none" w="med" len="med"/>
                    </a:lnL>
                    <a:lnR w="6350" cap="flat" cmpd="sng" algn="ctr">
                      <a:solidFill>
                        <a:srgbClr val="D6DAE3"/>
                      </a:solidFill>
                      <a:prstDash val="solid"/>
                      <a:round/>
                      <a:headEnd type="none" w="med" len="med"/>
                      <a:tailEnd type="none" w="med" len="med"/>
                    </a:lnR>
                    <a:lnT w="6350" cap="flat" cmpd="sng" algn="ctr">
                      <a:solidFill>
                        <a:srgbClr val="D6DAE3"/>
                      </a:solidFill>
                      <a:prstDash val="solid"/>
                      <a:round/>
                      <a:headEnd type="none" w="med" len="med"/>
                      <a:tailEnd type="none" w="med" len="med"/>
                    </a:lnT>
                    <a:lnB w="6350" cap="flat" cmpd="sng" algn="ctr">
                      <a:solidFill>
                        <a:srgbClr val="D6DAE3"/>
                      </a:solidFill>
                      <a:prstDash val="solid"/>
                      <a:round/>
                      <a:headEnd type="none" w="med" len="med"/>
                      <a:tailEnd type="none" w="med" len="med"/>
                    </a:lnB>
                  </a:tcPr>
                </a:tc>
                <a:tc>
                  <a:txBody>
                    <a:bodyPr/>
                    <a:lstStyle/>
                    <a:p>
                      <a:pPr indent="0" marL="0">
                        <a:buNone/>
                      </a:pPr>
                      <a:r>
                        <a:rPr lang="en-US" sz="950" dirty="0">
                          <a:solidFill>
                            <a:srgbClr val="1F2937"/>
                          </a:solidFill>
                          <a:latin typeface="Calibri" pitchFamily="34" charset="0"/>
                          <a:ea typeface="Calibri" pitchFamily="34" charset="-122"/>
                          <a:cs typeface="Calibri" pitchFamily="34" charset="-120"/>
                        </a:rPr>
                        <a:t>Create a test invite link, join with a test badge</a:t>
                      </a:r>
                      <a:endParaRPr lang="en-US" sz="950" dirty="0">
                        <a:latin typeface="Calibri" charset="0"/>
                        <a:ea typeface="Calibri" charset="0"/>
                        <a:cs typeface="Calibri" charset="0"/>
                      </a:endParaRPr>
                    </a:p>
                  </a:txBody>
                  <a:tcPr marL="45720" marR="45720" marT="45720" marB="45720" anchor="ctr">
                    <a:lnL w="6350" cap="flat" cmpd="sng" algn="ctr">
                      <a:solidFill>
                        <a:srgbClr val="D6DAE3"/>
                      </a:solidFill>
                      <a:prstDash val="solid"/>
                      <a:round/>
                      <a:headEnd type="none" w="med" len="med"/>
                      <a:tailEnd type="none" w="med" len="med"/>
                    </a:lnL>
                    <a:lnR w="6350" cap="flat" cmpd="sng" algn="ctr">
                      <a:solidFill>
                        <a:srgbClr val="D6DAE3"/>
                      </a:solidFill>
                      <a:prstDash val="solid"/>
                      <a:round/>
                      <a:headEnd type="none" w="med" len="med"/>
                      <a:tailEnd type="none" w="med" len="med"/>
                    </a:lnR>
                    <a:lnT w="6350" cap="flat" cmpd="sng" algn="ctr">
                      <a:solidFill>
                        <a:srgbClr val="D6DAE3"/>
                      </a:solidFill>
                      <a:prstDash val="solid"/>
                      <a:round/>
                      <a:headEnd type="none" w="med" len="med"/>
                      <a:tailEnd type="none" w="med" len="med"/>
                    </a:lnT>
                    <a:lnB w="6350" cap="flat" cmpd="sng" algn="ctr">
                      <a:solidFill>
                        <a:srgbClr val="D6DAE3"/>
                      </a:solidFill>
                      <a:prstDash val="solid"/>
                      <a:round/>
                      <a:headEnd type="none" w="med" len="med"/>
                      <a:tailEnd type="none" w="med" len="med"/>
                    </a:lnB>
                  </a:tcPr>
                </a:tc>
                <a:tc>
                  <a:txBody>
                    <a:bodyPr/>
                    <a:lstStyle/>
                    <a:p>
                      <a:pPr indent="0" marL="0">
                        <a:buNone/>
                      </a:pPr>
                      <a:r>
                        <a:rPr lang="en-US" sz="950" dirty="0">
                          <a:solidFill>
                            <a:srgbClr val="1F2937"/>
                          </a:solidFill>
                          <a:latin typeface="Calibri" pitchFamily="34" charset="0"/>
                          <a:ea typeface="Calibri" pitchFamily="34" charset="-122"/>
                          <a:cs typeface="Calibri" pitchFamily="34" charset="-120"/>
                        </a:rPr>
                        <a:t>"Mark a license requested, find it on the poster"</a:t>
                      </a:r>
                      <a:endParaRPr lang="en-US" sz="950" dirty="0">
                        <a:latin typeface="Calibri" charset="0"/>
                        <a:ea typeface="Calibri" charset="0"/>
                        <a:cs typeface="Calibri" charset="0"/>
                      </a:endParaRPr>
                    </a:p>
                  </a:txBody>
                  <a:tcPr marL="45720" marR="45720" marT="45720" marB="45720" anchor="ctr">
                    <a:lnL w="6350" cap="flat" cmpd="sng" algn="ctr">
                      <a:solidFill>
                        <a:srgbClr val="D6DAE3"/>
                      </a:solidFill>
                      <a:prstDash val="solid"/>
                      <a:round/>
                      <a:headEnd type="none" w="med" len="med"/>
                      <a:tailEnd type="none" w="med" len="med"/>
                    </a:lnL>
                    <a:lnR w="6350" cap="flat" cmpd="sng" algn="ctr">
                      <a:solidFill>
                        <a:srgbClr val="D6DAE3"/>
                      </a:solidFill>
                      <a:prstDash val="solid"/>
                      <a:round/>
                      <a:headEnd type="none" w="med" len="med"/>
                      <a:tailEnd type="none" w="med" len="med"/>
                    </a:lnR>
                    <a:lnT w="6350" cap="flat" cmpd="sng" algn="ctr">
                      <a:solidFill>
                        <a:srgbClr val="D6DAE3"/>
                      </a:solidFill>
                      <a:prstDash val="solid"/>
                      <a:round/>
                      <a:headEnd type="none" w="med" len="med"/>
                      <a:tailEnd type="none" w="med" len="med"/>
                    </a:lnT>
                    <a:lnB w="6350" cap="flat" cmpd="sng" algn="ctr">
                      <a:solidFill>
                        <a:srgbClr val="D6DAE3"/>
                      </a:solidFill>
                      <a:prstDash val="solid"/>
                      <a:round/>
                      <a:headEnd type="none" w="med" len="med"/>
                      <a:tailEnd type="none" w="med" len="med"/>
                    </a:lnB>
                  </a:tcPr>
                </a:tc>
              </a:tr>
            </a:tbl>
          </a:graphicData>
        </a:graphic>
      </p:graphicFrame>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bg>
      <p:bgPr>
        <a:solidFill>
          <a:srgbClr val="0F1F3D"/>
        </a:solidFill>
      </p:bgPr>
    </p:bg>
    <p:spTree>
      <p:nvGrpSpPr>
        <p:cNvPr id="1" name=""/>
        <p:cNvGrpSpPr/>
        <p:nvPr/>
      </p:nvGrpSpPr>
      <p:grpSpPr>
        <a:xfrm>
          <a:off x="0" y="0"/>
          <a:ext cx="0" cy="0"/>
          <a:chOff x="0" y="0"/>
          <a:chExt cx="0" cy="0"/>
        </a:xfrm>
      </p:grpSpPr>
      <p:sp>
        <p:nvSpPr>
          <p:cNvPr id="2" name="Text 0"/>
          <p:cNvSpPr/>
          <p:nvPr/>
        </p:nvSpPr>
        <p:spPr>
          <a:xfrm>
            <a:off x="640080" y="1463040"/>
            <a:ext cx="7863840" cy="822960"/>
          </a:xfrm>
          <a:prstGeom prst="rect">
            <a:avLst/>
          </a:prstGeom>
          <a:noFill/>
          <a:ln/>
        </p:spPr>
        <p:txBody>
          <a:bodyPr wrap="square" lIns="0" tIns="0" rIns="0" bIns="0" rtlCol="0" anchor="ctr"/>
          <a:lstStyle/>
          <a:p>
            <a:pPr indent="0" marL="0">
              <a:buNone/>
            </a:pPr>
            <a:r>
              <a:rPr lang="en-US" sz="3800" b="1" dirty="0">
                <a:solidFill>
                  <a:srgbClr val="FFFFFF"/>
                </a:solidFill>
                <a:latin typeface="Arial" pitchFamily="34" charset="0"/>
                <a:ea typeface="Arial" pitchFamily="34" charset="-122"/>
                <a:cs typeface="Arial" pitchFamily="34" charset="-120"/>
              </a:rPr>
              <a:t>Inspection, done together.</a:t>
            </a:r>
            <a:endParaRPr lang="en-US" sz="3800" dirty="0"/>
          </a:p>
        </p:txBody>
      </p:sp>
      <p:sp>
        <p:nvSpPr>
          <p:cNvPr id="3" name="Text 1"/>
          <p:cNvSpPr/>
          <p:nvPr/>
        </p:nvSpPr>
        <p:spPr>
          <a:xfrm>
            <a:off x="640080" y="2286000"/>
            <a:ext cx="7863840" cy="548640"/>
          </a:xfrm>
          <a:prstGeom prst="rect">
            <a:avLst/>
          </a:prstGeom>
          <a:noFill/>
          <a:ln/>
        </p:spPr>
        <p:txBody>
          <a:bodyPr wrap="square" lIns="0" tIns="0" rIns="0" bIns="0" rtlCol="0" anchor="ctr"/>
          <a:lstStyle/>
          <a:p>
            <a:pPr indent="0" marL="0">
              <a:buNone/>
            </a:pPr>
            <a:r>
              <a:rPr lang="en-US" sz="2200" dirty="0">
                <a:solidFill>
                  <a:srgbClr val="FFD166"/>
                </a:solidFill>
                <a:latin typeface="Calibri" pitchFamily="34" charset="0"/>
                <a:ea typeface="Calibri" pitchFamily="34" charset="-122"/>
                <a:cs typeface="Calibri" pitchFamily="34" charset="-120"/>
              </a:rPr>
              <a:t>Inspección, en equipo.</a:t>
            </a:r>
            <a:endParaRPr lang="en-US" sz="2200" dirty="0"/>
          </a:p>
        </p:txBody>
      </p:sp>
      <p:sp>
        <p:nvSpPr>
          <p:cNvPr id="4" name="Text 2"/>
          <p:cNvSpPr/>
          <p:nvPr/>
        </p:nvSpPr>
        <p:spPr>
          <a:xfrm>
            <a:off x="640080" y="3931920"/>
            <a:ext cx="7863840" cy="365760"/>
          </a:xfrm>
          <a:prstGeom prst="rect">
            <a:avLst/>
          </a:prstGeom>
          <a:noFill/>
          <a:ln/>
        </p:spPr>
        <p:txBody>
          <a:bodyPr wrap="square" lIns="0" tIns="0" rIns="0" bIns="0" rtlCol="0" anchor="ctr"/>
          <a:lstStyle/>
          <a:p>
            <a:pPr indent="0" marL="0">
              <a:buNone/>
            </a:pPr>
            <a:r>
              <a:rPr lang="en-US" sz="1200" dirty="0">
                <a:solidFill>
                  <a:srgbClr val="9FC0FF"/>
                </a:solidFill>
                <a:latin typeface="Calibri" pitchFamily="34" charset="0"/>
                <a:ea typeface="Calibri" pitchFamily="34" charset="-122"/>
                <a:cs typeface="Calibri" pitchFamily="34" charset="-120"/>
              </a:rPr>
              <a:t>Handbook: docs/training/system-features-by-department.md · Scripts: sales-video-scripts.md</a:t>
            </a:r>
            <a:endParaRPr lang="en-US" sz="12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43</Slides>
  <Notes>43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43</vt:i4>
      </vt:variant>
    </vt:vector>
  </HeadingPairs>
  <TitlesOfParts>
    <vt:vector size="46"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SDX Inspect — training by department</dc:title>
  <dc:subject>PptxGenJS Presentation</dc:subject>
  <dc:creator>PptxGenJS</dc:creator>
  <cp:lastModifiedBy>PptxGenJS</cp:lastModifiedBy>
  <cp:revision>1</cp:revision>
  <dcterms:created xsi:type="dcterms:W3CDTF">2026-09-22T03:29:24Z</dcterms:created>
  <dcterms:modified xsi:type="dcterms:W3CDTF">2026-09-22T03:29:24Z</dcterms:modified>
</cp:coreProperties>
</file>